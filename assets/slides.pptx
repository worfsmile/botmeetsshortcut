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18" userDrawn="1">
          <p15:clr>
            <a:srgbClr val="747775"/>
          </p15:clr>
        </p15:guide>
        <p15:guide id="2" pos="2919"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18"/>
        <p:guide pos="2919"/>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sz="1200">
                <a:solidFill>
                  <a:srgbClr val="333333"/>
                </a:solidFill>
                <a:highlight>
                  <a:srgbClr val="FFFFFF"/>
                </a:highlight>
              </a:rPr>
              <a:t>Good afternoon, everyone!</a:t>
            </a:r>
            <a:endParaRPr sz="1200">
              <a:solidFill>
                <a:srgbClr val="333333"/>
              </a:solidFill>
              <a:highlight>
                <a:srgbClr val="FFFFFF"/>
              </a:highlight>
            </a:endParaRPr>
          </a:p>
          <a:p>
            <a:pPr marL="0" lvl="0" indent="0" algn="l" rtl="0">
              <a:spcBef>
                <a:spcPts val="0"/>
              </a:spcBef>
              <a:spcAft>
                <a:spcPts val="0"/>
              </a:spcAft>
              <a:buNone/>
            </a:pPr>
            <a:r>
              <a:rPr lang="zh-CN" sz="1200">
                <a:solidFill>
                  <a:srgbClr val="333333"/>
                </a:solidFill>
                <a:highlight>
                  <a:srgbClr val="FFFFFF"/>
                </a:highlight>
              </a:rPr>
              <a:t>It’s a great pleasure to be here today and have the opportunity to share our work </a:t>
            </a:r>
            <a:endParaRPr lang="zh-CN" sz="1200">
              <a:solidFill>
                <a:srgbClr val="333333"/>
              </a:solidFill>
              <a:highlight>
                <a:srgbClr val="FFFFFF"/>
              </a:highlight>
            </a:endParaRPr>
          </a:p>
          <a:p>
            <a:pPr marL="0" lvl="0" indent="0" algn="l" rtl="0">
              <a:spcBef>
                <a:spcPts val="0"/>
              </a:spcBef>
              <a:spcAft>
                <a:spcPts val="0"/>
              </a:spcAft>
              <a:buNone/>
            </a:pPr>
            <a:r>
              <a:rPr lang="zh-CN" sz="1200">
                <a:solidFill>
                  <a:srgbClr val="333333"/>
                </a:solidFill>
                <a:highlight>
                  <a:srgbClr val="FFFFFF"/>
                </a:highlight>
              </a:rPr>
              <a:t>"Bot Meets Shortcut: How Can LLMs Aid in Handling Unknown Invariance OOD Scenarios." </a:t>
            </a:r>
            <a:endParaRPr sz="1200">
              <a:solidFill>
                <a:srgbClr val="333333"/>
              </a:solidFill>
              <a:highlight>
                <a:srgbClr val="FFFFFF"/>
              </a:highlight>
            </a:endParaRPr>
          </a:p>
          <a:p>
            <a:pPr marL="0" lvl="0" indent="0" algn="l" rtl="0">
              <a:spcBef>
                <a:spcPts val="0"/>
              </a:spcBef>
              <a:spcAft>
                <a:spcPts val="0"/>
              </a:spcAft>
              <a:buNone/>
            </a:pPr>
            <a:r>
              <a:rPr lang="zh-CN" sz="1200">
                <a:solidFill>
                  <a:srgbClr val="333333"/>
                </a:solidFill>
                <a:highlight>
                  <a:srgbClr val="FFFFFF"/>
                </a:highlight>
              </a:rPr>
              <a:t>Our team comes from Xi'an Jiaotong University and Beijing Institute of Technology.</a:t>
            </a:r>
            <a:endParaRPr sz="1200">
              <a:solidFill>
                <a:srgbClr val="333333"/>
              </a:solidFill>
              <a:highlight>
                <a:srgbClr val="FFFFFF"/>
              </a:highlight>
            </a:endParaRPr>
          </a:p>
          <a:p>
            <a:pPr marL="0" lvl="0" indent="0" algn="l" rtl="0">
              <a:spcBef>
                <a:spcPts val="0"/>
              </a:spcBef>
              <a:spcAft>
                <a:spcPts val="0"/>
              </a:spcAft>
              <a:buNone/>
            </a:pPr>
            <a:r>
              <a:rPr lang="zh-CN" sz="1200">
                <a:solidFill>
                  <a:srgbClr val="333333"/>
                </a:solidFill>
                <a:highlight>
                  <a:srgbClr val="FFFFFF"/>
                </a:highlight>
              </a:rPr>
              <a:t>I am Zheng Shiyan, and I will be presenting our work today.</a:t>
            </a:r>
            <a:endParaRPr lang="zh-CN" sz="1200">
              <a:solidFill>
                <a:srgbClr val="333333"/>
              </a:solidFill>
              <a:highlight>
                <a:srgbClr val="FFFFFF"/>
              </a:highligh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73"/>
        <p:cNvGrpSpPr/>
        <p:nvPr/>
      </p:nvGrpSpPr>
      <p:grpSpPr>
        <a:xfrm>
          <a:off x="0" y="0"/>
          <a:ext cx="0" cy="0"/>
          <a:chOff x="0" y="0"/>
          <a:chExt cx="0" cy="0"/>
        </a:xfrm>
      </p:grpSpPr>
      <p:sp>
        <p:nvSpPr>
          <p:cNvPr id="74" name="Google Shape;74;g3b3a8f46d61_0_5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b3a8f46d61_0_5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zh-CN" sz="1200">
                <a:solidFill>
                  <a:srgbClr val="333333"/>
                </a:solidFill>
                <a:highlight>
                  <a:srgbClr val="FFFFFF"/>
                </a:highlight>
                <a:sym typeface="+mn-ea"/>
              </a:rPr>
              <a:t>Today, with this widespread presence of social networks, </a:t>
            </a:r>
            <a:endParaRPr lang="zh-CN" sz="1200">
              <a:solidFill>
                <a:srgbClr val="333333"/>
              </a:solidFill>
              <a:highlight>
                <a:srgbClr val="FFFFFF"/>
              </a:highlight>
            </a:endParaRPr>
          </a:p>
          <a:p>
            <a:pPr marL="0" lvl="0" indent="0" algn="l" rtl="0">
              <a:spcBef>
                <a:spcPts val="0"/>
              </a:spcBef>
              <a:spcAft>
                <a:spcPts val="0"/>
              </a:spcAft>
              <a:buClr>
                <a:schemeClr val="dk1"/>
              </a:buClr>
              <a:buSzPts val="1100"/>
              <a:buFont typeface="Arial" panose="020B0604020202020204"/>
              <a:buNone/>
            </a:pPr>
            <a:r>
              <a:rPr lang="zh-CN" sz="1200">
                <a:solidFill>
                  <a:srgbClr val="333333"/>
                </a:solidFill>
                <a:highlight>
                  <a:srgbClr val="FFFFFF"/>
                </a:highlight>
              </a:rPr>
              <a:t>The appearance of social bots on many platforms has drawn strong attention from the academic community, </a:t>
            </a:r>
            <a:endParaRPr sz="1200">
              <a:solidFill>
                <a:srgbClr val="333333"/>
              </a:solidFill>
              <a:highlight>
                <a:srgbClr val="FFFFFF"/>
              </a:highlight>
            </a:endParaRPr>
          </a:p>
          <a:p>
            <a:pPr marL="0" lvl="0" indent="0" algn="l" rtl="0">
              <a:spcBef>
                <a:spcPts val="0"/>
              </a:spcBef>
              <a:spcAft>
                <a:spcPts val="0"/>
              </a:spcAft>
              <a:buClr>
                <a:schemeClr val="dk1"/>
              </a:buClr>
              <a:buSzPts val="1100"/>
              <a:buFont typeface="Arial" panose="020B0604020202020204"/>
              <a:buNone/>
            </a:pPr>
            <a:r>
              <a:rPr lang="zh-CN" sz="1200">
                <a:solidFill>
                  <a:srgbClr val="333333"/>
                </a:solidFill>
                <a:highlight>
                  <a:srgbClr val="FFFFFF"/>
                </a:highlight>
              </a:rPr>
              <a:t>resulting in rapid progress in this field and the adoption of many deep learning approaches.</a:t>
            </a:r>
            <a:endParaRPr lang="zh-CN" sz="1200">
              <a:solidFill>
                <a:srgbClr val="333333"/>
              </a:solidFill>
              <a:highlight>
                <a:srgbClr val="FFFFFF"/>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 name="Shape 86"/>
        <p:cNvGrpSpPr/>
        <p:nvPr/>
      </p:nvGrpSpPr>
      <p:grpSpPr>
        <a:xfrm>
          <a:off x="0" y="0"/>
          <a:ext cx="0" cy="0"/>
          <a:chOff x="0" y="0"/>
          <a:chExt cx="0" cy="0"/>
        </a:xfrm>
      </p:grpSpPr>
      <p:sp>
        <p:nvSpPr>
          <p:cNvPr id="87" name="Google Shape;87;g3b2e702bf0b_0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b2e702bf0b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sz="1200">
                <a:solidFill>
                  <a:srgbClr val="333333"/>
                </a:solidFill>
                <a:highlight>
                  <a:srgbClr val="FFFFFF"/>
                </a:highlight>
              </a:rPr>
              <a:t>However, as we all know, </a:t>
            </a:r>
            <a:endParaRPr sz="1200">
              <a:solidFill>
                <a:srgbClr val="333333"/>
              </a:solidFill>
              <a:highlight>
                <a:srgbClr val="FFFFFF"/>
              </a:highlight>
            </a:endParaRPr>
          </a:p>
          <a:p>
            <a:pPr marL="0" lvl="0" indent="0" algn="l" rtl="0">
              <a:spcBef>
                <a:spcPts val="0"/>
              </a:spcBef>
              <a:spcAft>
                <a:spcPts val="0"/>
              </a:spcAft>
              <a:buNone/>
            </a:pPr>
            <a:r>
              <a:rPr lang="zh-CN" sz="1200">
                <a:solidFill>
                  <a:srgbClr val="333333"/>
                </a:solidFill>
                <a:highlight>
                  <a:srgbClr val="FFFFFF"/>
                </a:highlight>
              </a:rPr>
              <a:t>deep learning algorithms remain a bit of a black box. </a:t>
            </a:r>
            <a:endParaRPr sz="1200">
              <a:solidFill>
                <a:srgbClr val="333333"/>
              </a:solidFill>
              <a:highlight>
                <a:srgbClr val="FFFFFF"/>
              </a:highlight>
            </a:endParaRPr>
          </a:p>
          <a:p>
            <a:pPr marL="0" lvl="0" indent="0" algn="l" rtl="0">
              <a:spcBef>
                <a:spcPts val="0"/>
              </a:spcBef>
              <a:spcAft>
                <a:spcPts val="0"/>
              </a:spcAft>
              <a:buNone/>
            </a:pPr>
            <a:r>
              <a:rPr lang="zh-CN" sz="1200">
                <a:solidFill>
                  <a:srgbClr val="333333"/>
                </a:solidFill>
                <a:highlight>
                  <a:srgbClr val="FFFFFF"/>
                </a:highlight>
              </a:rPr>
              <a:t>We still don</a:t>
            </a:r>
            <a:r>
              <a:rPr lang="en-US" altLang="zh-CN" sz="1200">
                <a:solidFill>
                  <a:srgbClr val="333333"/>
                </a:solidFill>
                <a:highlight>
                  <a:srgbClr val="FFFFFF"/>
                </a:highlight>
              </a:rPr>
              <a:t>’</a:t>
            </a:r>
            <a:r>
              <a:rPr lang="zh-CN" sz="1200">
                <a:solidFill>
                  <a:srgbClr val="333333"/>
                </a:solidFill>
                <a:highlight>
                  <a:srgbClr val="FFFFFF"/>
                </a:highlight>
              </a:rPr>
              <a:t>t fully understand their capabilities or where their boundaries lie. </a:t>
            </a:r>
            <a:endParaRPr lang="zh-CN" sz="1200">
              <a:solidFill>
                <a:srgbClr val="333333"/>
              </a:solidFill>
              <a:highlight>
                <a:srgbClr val="FFFFFF"/>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3" name="Shape 93"/>
        <p:cNvGrpSpPr/>
        <p:nvPr/>
      </p:nvGrpSpPr>
      <p:grpSpPr>
        <a:xfrm>
          <a:off x="0" y="0"/>
          <a:ext cx="0" cy="0"/>
          <a:chOff x="0" y="0"/>
          <a:chExt cx="0" cy="0"/>
        </a:xfrm>
      </p:grpSpPr>
      <p:sp>
        <p:nvSpPr>
          <p:cNvPr id="94" name="Google Shape;94;g3b3a8f46d61_0_7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b3a8f46d61_0_7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sz="1200">
                <a:solidFill>
                  <a:srgbClr val="333333"/>
                </a:solidFill>
                <a:highlight>
                  <a:srgbClr val="FFFFFF"/>
                </a:highlight>
              </a:rPr>
              <a:t>One well known problem is shortcut learning, </a:t>
            </a:r>
            <a:endParaRPr sz="1200">
              <a:solidFill>
                <a:srgbClr val="333333"/>
              </a:solidFill>
              <a:highlight>
                <a:srgbClr val="FFFFFF"/>
              </a:highlight>
            </a:endParaRPr>
          </a:p>
          <a:p>
            <a:pPr marL="0" lvl="0" indent="0" algn="l" rtl="0">
              <a:spcBef>
                <a:spcPts val="0"/>
              </a:spcBef>
              <a:spcAft>
                <a:spcPts val="0"/>
              </a:spcAft>
              <a:buNone/>
            </a:pPr>
            <a:r>
              <a:rPr lang="zh-CN" sz="1200">
                <a:solidFill>
                  <a:srgbClr val="333333"/>
                </a:solidFill>
                <a:highlight>
                  <a:srgbClr val="FFFFFF"/>
                </a:highlight>
              </a:rPr>
              <a:t>for example, in image recognition, position is learned instead of shape.</a:t>
            </a:r>
            <a:endParaRPr lang="zh-CN" sz="1200">
              <a:solidFill>
                <a:srgbClr val="333333"/>
              </a:solidFill>
              <a:highlight>
                <a:srgbClr val="FFFFFF"/>
              </a:highlight>
            </a:endParaRPr>
          </a:p>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g3b3a8f46d61_0_1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b3a8f46d61_0_1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None/>
            </a:pPr>
            <a:r>
              <a:rPr lang="en-US" altLang="zh-CN"/>
              <a:t>Although deep learning has led to strong performance on social bot </a:t>
            </a:r>
            <a:r>
              <a:rPr lang="en-US" altLang="zh-CN"/>
              <a:t>detection benchmark datasets</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 name="Shape 111"/>
        <p:cNvGrpSpPr/>
        <p:nvPr/>
      </p:nvGrpSpPr>
      <p:grpSpPr>
        <a:xfrm>
          <a:off x="0" y="0"/>
          <a:ext cx="0" cy="0"/>
          <a:chOff x="0" y="0"/>
          <a:chExt cx="0" cy="0"/>
        </a:xfrm>
      </p:grpSpPr>
      <p:sp>
        <p:nvSpPr>
          <p:cNvPr id="112" name="Google Shape;112;g3b2e702bf0b_0_1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b2e702bf0b_0_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Clr>
                <a:schemeClr val="dk1"/>
              </a:buClr>
              <a:buSzPts val="1100"/>
              <a:buFont typeface="Arial" panose="020B0604020202020204"/>
              <a:buNone/>
            </a:pPr>
            <a:r>
              <a:rPr lang="en-US" altLang="zh-CN" sz="1200">
                <a:solidFill>
                  <a:srgbClr val="333333"/>
                </a:solidFill>
              </a:rPr>
              <a:t>social bot detection still faces significant challenges, </a:t>
            </a:r>
            <a:r>
              <a:rPr lang="en-US" altLang="zh-CN" sz="1200">
                <a:solidFill>
                  <a:srgbClr val="333333"/>
                </a:solidFill>
                <a:ea typeface="宋体" panose="02010600030101010101" pitchFamily="2" charset="-122"/>
              </a:rPr>
              <a:t>such as the difficulty of obtaining reliable ground-truth labels.</a:t>
            </a:r>
            <a:endParaRPr lang="en-US" altLang="zh-CN" sz="1200">
              <a:solidFill>
                <a:srgbClr val="333333"/>
              </a:solidFill>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9" name="Shape 119"/>
        <p:cNvGrpSpPr/>
        <p:nvPr/>
      </p:nvGrpSpPr>
      <p:grpSpPr>
        <a:xfrm>
          <a:off x="0" y="0"/>
          <a:ext cx="0" cy="0"/>
          <a:chOff x="0" y="0"/>
          <a:chExt cx="0" cy="0"/>
        </a:xfrm>
      </p:grpSpPr>
      <p:sp>
        <p:nvSpPr>
          <p:cNvPr id="120" name="Google Shape;120;g3b3a8f46d61_0_8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3a8f46d61_0_8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None/>
            </a:pPr>
            <a:r>
              <a:rPr lang="en-US" altLang="zh-CN" sz="1200">
                <a:solidFill>
                  <a:srgbClr val="333333"/>
                </a:solidFill>
              </a:rPr>
              <a:t>And social bots keep evolving to evade detection, motivating more challenging scenarios.</a:t>
            </a:r>
            <a:endParaRPr lang="en-US" altLang="zh-CN" sz="1200">
              <a:solidFill>
                <a:srgbClr val="333333"/>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 name="Shape 129"/>
        <p:cNvGrpSpPr/>
        <p:nvPr/>
      </p:nvGrpSpPr>
      <p:grpSpPr>
        <a:xfrm>
          <a:off x="0" y="0"/>
          <a:ext cx="0" cy="0"/>
          <a:chOff x="0" y="0"/>
          <a:chExt cx="0" cy="0"/>
        </a:xfrm>
      </p:grpSpPr>
      <p:sp>
        <p:nvSpPr>
          <p:cNvPr id="130" name="Google Shape;130;g3b3a8f46d61_0_13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b3a8f46d61_0_1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Clr>
                <a:schemeClr val="dk1"/>
              </a:buClr>
              <a:buSzPts val="1100"/>
              <a:buFont typeface="Arial" panose="020B0604020202020204"/>
              <a:buNone/>
            </a:pPr>
            <a:r>
              <a:rPr lang="en-US" altLang="zh-CN" sz="1200">
                <a:solidFill>
                  <a:srgbClr val="333333"/>
                </a:solidFill>
                <a:highlight>
                  <a:srgbClr val="FFFFFF"/>
                </a:highlight>
              </a:rPr>
              <a:t>Motivated by these challenges, we study the complexity of social bots and explore shortcut features </a:t>
            </a:r>
            <a:r>
              <a:rPr lang="zh-CN" sz="1200">
                <a:solidFill>
                  <a:srgbClr val="333333"/>
                </a:solidFill>
                <a:highlight>
                  <a:srgbClr val="FFFFFF"/>
                </a:highlight>
                <a:sym typeface="+mn-ea"/>
              </a:rPr>
              <a:t>that could impact social bot detection. </a:t>
            </a:r>
            <a:endParaRPr lang="en-US" altLang="zh-CN" sz="1200">
              <a:solidFill>
                <a:srgbClr val="333333"/>
              </a:solidFill>
              <a:highlight>
                <a:srgbClr val="FFFFFF"/>
              </a:high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6" name="Shape 136"/>
        <p:cNvGrpSpPr/>
        <p:nvPr/>
      </p:nvGrpSpPr>
      <p:grpSpPr>
        <a:xfrm>
          <a:off x="0" y="0"/>
          <a:ext cx="0" cy="0"/>
          <a:chOff x="0" y="0"/>
          <a:chExt cx="0" cy="0"/>
        </a:xfrm>
      </p:grpSpPr>
      <p:sp>
        <p:nvSpPr>
          <p:cNvPr id="137" name="Google Shape;137;g3a841257f82_0_2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841257f82_0_2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Clr>
                <a:schemeClr val="dk1"/>
              </a:buClr>
              <a:buSzPts val="1100"/>
              <a:buFont typeface="Arial" panose="020B0604020202020204"/>
              <a:buNone/>
            </a:pPr>
            <a:r>
              <a:rPr lang="en-US" altLang="zh-CN" sz="1200">
                <a:solidFill>
                  <a:srgbClr val="333333"/>
                </a:solidFill>
                <a:highlight>
                  <a:srgbClr val="FFFFFF"/>
                </a:highlight>
              </a:rPr>
              <a:t>We investigate whether simple perturbations in inherent textual features </a:t>
            </a:r>
            <a:endParaRPr lang="en-US" altLang="zh-CN" sz="1200">
              <a:solidFill>
                <a:srgbClr val="333333"/>
              </a:solidFill>
              <a:highlight>
                <a:srgbClr val="FFFFFF"/>
              </a:highlight>
            </a:endParaRPr>
          </a:p>
          <a:p>
            <a:pPr marL="0" lvl="0" indent="0" algn="l" rtl="0">
              <a:lnSpc>
                <a:spcPct val="115000"/>
              </a:lnSpc>
              <a:spcBef>
                <a:spcPts val="1000"/>
              </a:spcBef>
              <a:spcAft>
                <a:spcPts val="0"/>
              </a:spcAft>
              <a:buClr>
                <a:schemeClr val="dk1"/>
              </a:buClr>
              <a:buSzPts val="1100"/>
              <a:buFont typeface="Arial" panose="020B0604020202020204"/>
              <a:buNone/>
            </a:pPr>
            <a:r>
              <a:rPr lang="en-US" altLang="zh-CN" sz="1200">
                <a:solidFill>
                  <a:srgbClr val="333333"/>
                </a:solidFill>
                <a:highlight>
                  <a:srgbClr val="FFFFFF"/>
                </a:highlight>
              </a:rPr>
              <a:t>are sufficient to trigger shortcut learning in social bot detection models.</a:t>
            </a:r>
            <a:endParaRPr lang="en-US" altLang="zh-CN" sz="1200">
              <a:solidFill>
                <a:srgbClr val="333333"/>
              </a:solidFill>
              <a:highlight>
                <a:srgbClr val="FFFFFF"/>
              </a:highlight>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g3b3a8f46d61_0_12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b3a8f46d61_0_12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Clr>
                <a:schemeClr val="dk1"/>
              </a:buClr>
              <a:buSzPts val="1100"/>
              <a:buFont typeface="Arial" panose="020B0604020202020204"/>
              <a:buNone/>
            </a:pPr>
            <a:r>
              <a:rPr lang="en-US" altLang="zh-CN" sz="1200">
                <a:solidFill>
                  <a:srgbClr val="333333"/>
                </a:solidFill>
                <a:highlight>
                  <a:srgbClr val="FFFFFF"/>
                </a:highlight>
              </a:rPr>
              <a:t>Based on this, we further propose mitigation strategies at both the data and model levels, </a:t>
            </a:r>
            <a:endParaRPr lang="en-US" altLang="zh-CN" sz="1200">
              <a:solidFill>
                <a:srgbClr val="333333"/>
              </a:solidFill>
              <a:highlight>
                <a:srgbClr val="FFFFFF"/>
              </a:highlight>
            </a:endParaRPr>
          </a:p>
          <a:p>
            <a:pPr marL="0" lvl="0" indent="0" algn="l" rtl="0">
              <a:lnSpc>
                <a:spcPct val="115000"/>
              </a:lnSpc>
              <a:spcBef>
                <a:spcPts val="1000"/>
              </a:spcBef>
              <a:spcAft>
                <a:spcPts val="0"/>
              </a:spcAft>
              <a:buClr>
                <a:schemeClr val="dk1"/>
              </a:buClr>
              <a:buSzPts val="1100"/>
              <a:buFont typeface="Arial" panose="020B0604020202020204"/>
              <a:buNone/>
            </a:pPr>
            <a:r>
              <a:rPr lang="en-US" altLang="zh-CN" sz="1200">
                <a:solidFill>
                  <a:srgbClr val="333333"/>
                </a:solidFill>
                <a:highlight>
                  <a:srgbClr val="FFFFFF"/>
                </a:highlight>
              </a:rPr>
              <a:t>leveraging large language models to improve robustness.</a:t>
            </a:r>
            <a:endParaRPr lang="en-US" altLang="zh-CN" sz="1200">
              <a:solidFill>
                <a:srgbClr val="333333"/>
              </a:solidFill>
              <a:highlight>
                <a:srgbClr val="FFFFFF"/>
              </a:highlight>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g3b3a8f46d61_0_1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b3a8f46d61_0_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t>So, to study model behavior under shortcut features, </a:t>
            </a:r>
            <a:endParaRPr lang="zh-CN"/>
          </a:p>
          <a:p>
            <a:pPr marL="0" lvl="0" indent="0" algn="l" rtl="0">
              <a:spcBef>
                <a:spcPts val="0"/>
              </a:spcBef>
              <a:spcAft>
                <a:spcPts val="0"/>
              </a:spcAft>
              <a:buNone/>
            </a:pPr>
            <a:r>
              <a:rPr lang="zh-CN"/>
              <a:t>we construct controlled scenarios. </a:t>
            </a:r>
            <a:endParaRPr lang="zh-CN"/>
          </a:p>
          <a:p>
            <a:pPr marL="0" lvl="0" indent="0" algn="l" rtl="0">
              <a:spcBef>
                <a:spcPts val="0"/>
              </a:spcBef>
              <a:spcAft>
                <a:spcPts val="0"/>
              </a:spcAft>
              <a:buNone/>
            </a:pPr>
            <a:r>
              <a:rPr lang="zh-CN"/>
              <a:t>We focus on text, since it is the primary medium of social interaction, </a:t>
            </a:r>
            <a:endParaRPr lang="zh-CN"/>
          </a:p>
          <a:p>
            <a:pPr marL="0" lvl="0" indent="0" algn="l" rtl="0">
              <a:spcBef>
                <a:spcPts val="0"/>
              </a:spcBef>
              <a:spcAft>
                <a:spcPts val="0"/>
              </a:spcAft>
              <a:buNone/>
            </a:pPr>
            <a:r>
              <a:rPr lang="zh-CN"/>
              <a:t>easy for bots to manipulate, </a:t>
            </a:r>
            <a:endParaRPr lang="zh-CN"/>
          </a:p>
          <a:p>
            <a:pPr marL="0" lvl="0" indent="0" algn="l" rtl="0">
              <a:spcBef>
                <a:spcPts val="0"/>
              </a:spcBef>
              <a:spcAft>
                <a:spcPts val="0"/>
              </a:spcAft>
              <a:buNone/>
            </a:pPr>
            <a:r>
              <a:rPr lang="zh-CN"/>
              <a:t>straightforward to decompose into features such as sentiment</a:t>
            </a:r>
            <a:r>
              <a:rPr lang="en-US" altLang="zh-CN"/>
              <a:t>,</a:t>
            </a:r>
            <a:r>
              <a:rPr lang="zh-CN"/>
              <a:t> topics</a:t>
            </a:r>
            <a:r>
              <a:rPr lang="en-US" altLang="zh-CN"/>
              <a:t> and so on</a:t>
            </a:r>
            <a:r>
              <a:rPr lang="zh-CN"/>
              <a:t>.</a:t>
            </a:r>
            <a:endParaRPr 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160"/>
        <p:cNvGrpSpPr/>
        <p:nvPr/>
      </p:nvGrpSpPr>
      <p:grpSpPr>
        <a:xfrm>
          <a:off x="0" y="0"/>
          <a:ext cx="0" cy="0"/>
          <a:chOff x="0" y="0"/>
          <a:chExt cx="0" cy="0"/>
        </a:xfrm>
      </p:grpSpPr>
      <p:sp>
        <p:nvSpPr>
          <p:cNvPr id="161" name="Google Shape;161;g3b2e702bf0b_0_9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b2e702bf0b_0_9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sz="1200">
                <a:solidFill>
                  <a:srgbClr val="333333"/>
                </a:solidFill>
              </a:rPr>
              <a:t>We identify candidate shortcut features and</a:t>
            </a:r>
            <a:r>
              <a:rPr lang="en-US" altLang="zh-CN" sz="1200">
                <a:solidFill>
                  <a:srgbClr val="333333"/>
                </a:solidFill>
              </a:rPr>
              <a:t> d</a:t>
            </a:r>
            <a:r>
              <a:rPr lang="zh-CN" sz="1200">
                <a:solidFill>
                  <a:srgbClr val="333333"/>
                </a:solidFill>
              </a:rPr>
              <a:t>uring training, we artificially correlate a feature with the bot or human label, </a:t>
            </a:r>
            <a:endParaRPr sz="1200">
              <a:solidFill>
                <a:srgbClr val="333333"/>
              </a:solidFill>
            </a:endParaRPr>
          </a:p>
          <a:p>
            <a:pPr marL="0" lvl="0" indent="0" algn="l" rtl="0">
              <a:spcBef>
                <a:spcPts val="0"/>
              </a:spcBef>
              <a:spcAft>
                <a:spcPts val="0"/>
              </a:spcAft>
              <a:buNone/>
            </a:pPr>
            <a:r>
              <a:rPr lang="zh-CN" sz="1200">
                <a:solidFill>
                  <a:srgbClr val="333333"/>
                </a:solidFill>
              </a:rPr>
              <a:t>and during testing, we remove this correlation to evaluate whether the model relies on shortcuts.</a:t>
            </a:r>
            <a:endParaRPr sz="1200">
              <a:solidFill>
                <a:srgbClr val="333333"/>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7" name="Shape 167"/>
        <p:cNvGrpSpPr/>
        <p:nvPr/>
      </p:nvGrpSpPr>
      <p:grpSpPr>
        <a:xfrm>
          <a:off x="0" y="0"/>
          <a:ext cx="0" cy="0"/>
          <a:chOff x="0" y="0"/>
          <a:chExt cx="0" cy="0"/>
        </a:xfrm>
      </p:grpSpPr>
      <p:sp>
        <p:nvSpPr>
          <p:cNvPr id="168" name="Google Shape;168;g3b3a8f46d61_0_21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b3a8f46d61_0_2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sz="1200">
                <a:solidFill>
                  <a:srgbClr val="333333"/>
                </a:solidFill>
              </a:rPr>
              <a:t>For example, we train the model with </a:t>
            </a:r>
            <a:r>
              <a:rPr lang="zh-CN" sz="1200" i="1">
                <a:solidFill>
                  <a:srgbClr val="333333"/>
                </a:solidFill>
              </a:rPr>
              <a:t>happy bots and angry humans</a:t>
            </a:r>
            <a:r>
              <a:rPr lang="zh-CN" sz="1200">
                <a:solidFill>
                  <a:srgbClr val="333333"/>
                </a:solidFill>
              </a:rPr>
              <a:t>, and evaluate it on </a:t>
            </a:r>
            <a:r>
              <a:rPr lang="zh-CN" sz="1200" i="1">
                <a:solidFill>
                  <a:srgbClr val="333333"/>
                </a:solidFill>
              </a:rPr>
              <a:t>angry bots and happy humans</a:t>
            </a:r>
            <a:r>
              <a:rPr lang="zh-CN" sz="1200">
                <a:solidFill>
                  <a:srgbClr val="333333"/>
                </a:solidFill>
              </a:rPr>
              <a:t>.</a:t>
            </a:r>
            <a:endParaRPr sz="1200">
              <a:solidFill>
                <a:srgbClr val="333333"/>
              </a:solidFill>
            </a:endParaRPr>
          </a:p>
          <a:p>
            <a:pPr marL="0" lvl="0" indent="0" algn="l" rtl="0">
              <a:lnSpc>
                <a:spcPct val="115000"/>
              </a:lnSpc>
              <a:spcBef>
                <a:spcPts val="1000"/>
              </a:spcBef>
              <a:spcAft>
                <a:spcPts val="0"/>
              </a:spcAft>
              <a:buNone/>
            </a:pPr>
            <a:r>
              <a:rPr lang="zh-CN" sz="1200">
                <a:solidFill>
                  <a:srgbClr val="333333"/>
                </a:solidFill>
              </a:rPr>
              <a:t>If the model is vulnerable to sentiment-based shortcuts</a:t>
            </a:r>
            <a:r>
              <a:rPr lang="zh-CN" sz="1200">
                <a:solidFill>
                  <a:srgbClr val="333333"/>
                </a:solidFill>
              </a:rPr>
              <a:t>, its performance will degrade significantly.</a:t>
            </a:r>
            <a:endParaRPr sz="1200">
              <a:solidFill>
                <a:srgbClr val="333333"/>
              </a:solidFill>
            </a:endParaRPr>
          </a:p>
          <a:p>
            <a:pPr marL="0" lvl="0" indent="0" algn="l" rtl="0">
              <a:spcBef>
                <a:spcPts val="1000"/>
              </a:spcBef>
              <a:spcAft>
                <a:spcPts val="0"/>
              </a:spcAft>
              <a:buNone/>
            </a:pPr>
            <a:endParaRPr sz="1200">
              <a:solidFill>
                <a:srgbClr val="333333"/>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4" name="Shape 174"/>
        <p:cNvGrpSpPr/>
        <p:nvPr/>
      </p:nvGrpSpPr>
      <p:grpSpPr>
        <a:xfrm>
          <a:off x="0" y="0"/>
          <a:ext cx="0" cy="0"/>
          <a:chOff x="0" y="0"/>
          <a:chExt cx="0" cy="0"/>
        </a:xfrm>
      </p:grpSpPr>
      <p:sp>
        <p:nvSpPr>
          <p:cNvPr id="175" name="Google Shape;175;g3b3a8f46d61_0_14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b3a8f46d61_0_1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None/>
            </a:pPr>
            <a:r>
              <a:rPr lang="zh-CN" sz="1200">
                <a:solidFill>
                  <a:srgbClr val="333333"/>
                </a:solidFill>
              </a:rPr>
              <a:t>Textual characteristics of social bots are abstract and complex, making it difficult to directly define a “bot-specific” pattern from raw text.</a:t>
            </a:r>
            <a:endParaRPr sz="1200">
              <a:solidFill>
                <a:srgbClr val="333333"/>
              </a:solidFill>
            </a:endParaRPr>
          </a:p>
          <a:p>
            <a:pPr marL="0" lvl="0" indent="0" algn="l" rtl="0">
              <a:spcBef>
                <a:spcPts val="1000"/>
              </a:spcBef>
              <a:spcAft>
                <a:spcPts val="0"/>
              </a:spcAft>
              <a:buNone/>
            </a:pPr>
            <a:r>
              <a:rPr lang="en-US" altLang="zh-CN" sz="1200">
                <a:solidFill>
                  <a:srgbClr val="333333"/>
                </a:solidFill>
              </a:rPr>
              <a:t>W</a:t>
            </a:r>
            <a:r>
              <a:rPr lang="zh-CN" sz="1200">
                <a:solidFill>
                  <a:srgbClr val="333333"/>
                </a:solidFill>
              </a:rPr>
              <a:t>e focus on inherent textual features that can act as shortcuts, which are not intended to be used as the actual decision </a:t>
            </a:r>
            <a:r>
              <a:rPr lang="en-US" altLang="zh-CN" sz="1200">
                <a:solidFill>
                  <a:srgbClr val="333333"/>
                </a:solidFill>
              </a:rPr>
              <a:t>cues</a:t>
            </a:r>
            <a:r>
              <a:rPr lang="zh-CN" sz="1200">
                <a:solidFill>
                  <a:srgbClr val="333333"/>
                </a:solidFill>
              </a:rPr>
              <a:t>.</a:t>
            </a:r>
            <a:endParaRPr sz="1200">
              <a:solidFill>
                <a:srgbClr val="333333"/>
              </a:solidFill>
            </a:endParaRPr>
          </a:p>
          <a:p>
            <a:pPr marL="0" lvl="0" indent="0" algn="l" rtl="0">
              <a:lnSpc>
                <a:spcPct val="115000"/>
              </a:lnSpc>
              <a:spcBef>
                <a:spcPts val="1000"/>
              </a:spcBef>
              <a:spcAft>
                <a:spcPts val="1000"/>
              </a:spcAft>
              <a:buNone/>
            </a:pPr>
            <a:r>
              <a:rPr lang="zh-CN" sz="1200">
                <a:solidFill>
                  <a:srgbClr val="333333"/>
                </a:solidFill>
              </a:rPr>
              <a:t>we consider sentiment, topic, human values, and emotion. </a:t>
            </a:r>
            <a:endParaRPr lang="zh-CN" sz="1200">
              <a:solidFill>
                <a:srgbClr val="333333"/>
              </a:solidFill>
            </a:endParaRPr>
          </a:p>
          <a:p>
            <a:pPr marL="0" lvl="0" indent="0" algn="l" rtl="0">
              <a:lnSpc>
                <a:spcPct val="115000"/>
              </a:lnSpc>
              <a:spcBef>
                <a:spcPts val="1000"/>
              </a:spcBef>
              <a:spcAft>
                <a:spcPts val="1000"/>
              </a:spcAft>
              <a:buNone/>
            </a:pPr>
            <a:r>
              <a:rPr lang="zh-CN" sz="1200">
                <a:solidFill>
                  <a:srgbClr val="333333"/>
                </a:solidFill>
              </a:rPr>
              <a:t>These dimensions are interpretable, and </a:t>
            </a:r>
            <a:r>
              <a:rPr lang="zh-CN" sz="1200">
                <a:solidFill>
                  <a:srgbClr val="333333"/>
                </a:solidFill>
              </a:rPr>
              <a:t>easily correlated with labels in datasets</a:t>
            </a:r>
            <a:r>
              <a:rPr lang="en-US" altLang="zh-CN" sz="1200">
                <a:solidFill>
                  <a:srgbClr val="333333"/>
                </a:solidFill>
              </a:rPr>
              <a:t>.</a:t>
            </a:r>
            <a:endParaRPr lang="en-US" altLang="zh-CN" sz="1200">
              <a:solidFill>
                <a:srgbClr val="333333"/>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9" name="Shape 189"/>
        <p:cNvGrpSpPr/>
        <p:nvPr/>
      </p:nvGrpSpPr>
      <p:grpSpPr>
        <a:xfrm>
          <a:off x="0" y="0"/>
          <a:ext cx="0" cy="0"/>
          <a:chOff x="0" y="0"/>
          <a:chExt cx="0" cy="0"/>
        </a:xfrm>
      </p:grpSpPr>
      <p:sp>
        <p:nvSpPr>
          <p:cNvPr id="190" name="Google Shape;190;g3b2e702bf0b_0_12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b2e702bf0b_0_12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t>Using specialized feature analysis models, we construct shortcut scenarios from real-world data</a:t>
            </a:r>
            <a:r>
              <a:rPr lang="en-US" altLang="zh-CN"/>
              <a:t>sets</a:t>
            </a:r>
            <a:r>
              <a:rPr lang="zh-CN"/>
              <a:t>. </a:t>
            </a:r>
            <a:endParaRPr lang="zh-CN"/>
          </a:p>
          <a:p>
            <a:pPr marL="0" lvl="0" indent="0" algn="l" rtl="0">
              <a:spcBef>
                <a:spcPts val="0"/>
              </a:spcBef>
              <a:spcAft>
                <a:spcPts val="0"/>
              </a:spcAft>
              <a:buNone/>
            </a:pPr>
            <a:r>
              <a:rPr lang="zh-CN"/>
              <a:t>The shortcut setting introduces spurious feature</a:t>
            </a:r>
            <a:r>
              <a:rPr lang="en-US" altLang="zh-CN"/>
              <a:t> </a:t>
            </a:r>
            <a:r>
              <a:rPr lang="zh-CN"/>
              <a:t>label correlations, while the standard setting remains balanced.</a:t>
            </a:r>
            <a:endParaRPr 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g3a841257f82_0_2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a841257f82_0_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panose="020B0604020202020204"/>
              <a:buNone/>
            </a:pPr>
            <a:r>
              <a:rPr lang="en-US" altLang="zh-CN" sz="1200">
                <a:solidFill>
                  <a:srgbClr val="333333"/>
                </a:solidFill>
                <a:highlight>
                  <a:srgbClr val="FFFFFF"/>
                </a:highlight>
              </a:rPr>
              <a:t>Then w</a:t>
            </a:r>
            <a:r>
              <a:rPr lang="zh-CN" sz="1200">
                <a:solidFill>
                  <a:srgbClr val="333333"/>
                </a:solidFill>
                <a:highlight>
                  <a:srgbClr val="FFFFFF"/>
                </a:highlight>
              </a:rPr>
              <a:t>e evaluate two representative models: </a:t>
            </a:r>
            <a:endParaRPr sz="1200">
              <a:solidFill>
                <a:srgbClr val="333333"/>
              </a:solidFill>
              <a:highlight>
                <a:srgbClr val="FFFFFF"/>
              </a:highlight>
            </a:endParaRPr>
          </a:p>
          <a:p>
            <a:pPr marL="0" lvl="0" indent="0" algn="l" rtl="0">
              <a:spcBef>
                <a:spcPts val="0"/>
              </a:spcBef>
              <a:spcAft>
                <a:spcPts val="0"/>
              </a:spcAft>
              <a:buClr>
                <a:schemeClr val="dk1"/>
              </a:buClr>
              <a:buSzPts val="1100"/>
              <a:buFont typeface="Arial" panose="020B0604020202020204"/>
              <a:buNone/>
            </a:pPr>
            <a:r>
              <a:rPr lang="en-US" altLang="zh-CN" sz="1200">
                <a:solidFill>
                  <a:srgbClr val="333333"/>
                </a:solidFill>
                <a:highlight>
                  <a:srgbClr val="FFFFFF"/>
                </a:highlight>
              </a:rPr>
              <a:t>t</a:t>
            </a:r>
            <a:r>
              <a:rPr lang="zh-CN" sz="1200">
                <a:solidFill>
                  <a:srgbClr val="333333"/>
                </a:solidFill>
                <a:highlight>
                  <a:srgbClr val="FFFFFF"/>
                </a:highlight>
              </a:rPr>
              <a:t>ext-based model using RoBERTa with an classifier, </a:t>
            </a:r>
            <a:endParaRPr sz="1200">
              <a:solidFill>
                <a:srgbClr val="333333"/>
              </a:solidFill>
              <a:highlight>
                <a:srgbClr val="FFFFFF"/>
              </a:highlight>
            </a:endParaRPr>
          </a:p>
          <a:p>
            <a:pPr marL="0" lvl="0" indent="0" algn="l" rtl="0">
              <a:spcBef>
                <a:spcPts val="0"/>
              </a:spcBef>
              <a:spcAft>
                <a:spcPts val="0"/>
              </a:spcAft>
              <a:buClr>
                <a:schemeClr val="dk1"/>
              </a:buClr>
              <a:buSzPts val="1100"/>
              <a:buFont typeface="Arial" panose="020B0604020202020204"/>
              <a:buNone/>
            </a:pPr>
            <a:r>
              <a:rPr lang="zh-CN" sz="1200">
                <a:solidFill>
                  <a:srgbClr val="333333"/>
                </a:solidFill>
                <a:highlight>
                  <a:srgbClr val="FFFFFF"/>
                </a:highlight>
              </a:rPr>
              <a:t>graph-based model, BotRGCN, which leverages social network structure.</a:t>
            </a:r>
            <a:endParaRPr sz="1200">
              <a:solidFill>
                <a:srgbClr val="333333"/>
              </a:solidFill>
              <a:highlight>
                <a:srgbClr val="FFFFFF"/>
              </a:highlight>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3" name="Shape 213"/>
        <p:cNvGrpSpPr/>
        <p:nvPr/>
      </p:nvGrpSpPr>
      <p:grpSpPr>
        <a:xfrm>
          <a:off x="0" y="0"/>
          <a:ext cx="0" cy="0"/>
          <a:chOff x="0" y="0"/>
          <a:chExt cx="0" cy="0"/>
        </a:xfrm>
      </p:grpSpPr>
      <p:sp>
        <p:nvSpPr>
          <p:cNvPr id="214" name="Google Shape;214;g3a841257f82_0_2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a841257f82_0_2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a:solidFill>
                  <a:srgbClr val="333333"/>
                </a:solidFill>
                <a:highlight>
                  <a:srgbClr val="FFFFFF"/>
                </a:highlight>
              </a:rPr>
              <a:t>We evaluate our models on several widely used social bot detection benchmarks. </a:t>
            </a:r>
            <a:endParaRPr lang="en-US" altLang="zh-CN" sz="1200">
              <a:solidFill>
                <a:srgbClr val="333333"/>
              </a:solidFill>
              <a:highlight>
                <a:srgbClr val="FFFFFF"/>
              </a:highlight>
            </a:endParaRPr>
          </a:p>
          <a:p>
            <a:pPr marL="0" lvl="0" indent="0" algn="l" rtl="0">
              <a:spcBef>
                <a:spcPts val="0"/>
              </a:spcBef>
              <a:spcAft>
                <a:spcPts val="0"/>
              </a:spcAft>
              <a:buNone/>
            </a:pPr>
            <a:r>
              <a:rPr lang="en-US" altLang="zh-CN" sz="1200">
                <a:solidFill>
                  <a:srgbClr val="333333"/>
                </a:solidFill>
                <a:highlight>
                  <a:srgbClr val="FFFFFF"/>
                </a:highlight>
              </a:rPr>
              <a:t>The results show that all methods are affected by shortcut learning.</a:t>
            </a:r>
            <a:endParaRPr lang="en-US" altLang="zh-CN" sz="1200">
              <a:solidFill>
                <a:srgbClr val="333333"/>
              </a:solidFill>
              <a:highlight>
                <a:srgbClr val="FFFFFF"/>
              </a:highlight>
            </a:endParaRPr>
          </a:p>
          <a:p>
            <a:pPr marL="0" lvl="0" indent="0" algn="l" rtl="0">
              <a:spcBef>
                <a:spcPts val="0"/>
              </a:spcBef>
              <a:spcAft>
                <a:spcPts val="0"/>
              </a:spcAft>
              <a:buNone/>
            </a:pPr>
            <a:r>
              <a:rPr lang="en-US" altLang="zh-CN" sz="1200">
                <a:solidFill>
                  <a:srgbClr val="333333"/>
                </a:solidFill>
                <a:highlight>
                  <a:srgbClr val="FFFFFF"/>
                </a:highlight>
              </a:rPr>
              <a:t>For text-based models, shortcut testing leads to an average accuracy drop of 50%, </a:t>
            </a:r>
            <a:endParaRPr lang="en-US" altLang="zh-CN" sz="1200">
              <a:solidFill>
                <a:srgbClr val="333333"/>
              </a:solidFill>
              <a:highlight>
                <a:srgbClr val="FFFFFF"/>
              </a:highlight>
            </a:endParaRPr>
          </a:p>
          <a:p>
            <a:pPr marL="0" lvl="0" indent="0" algn="l" rtl="0">
              <a:spcBef>
                <a:spcPts val="0"/>
              </a:spcBef>
              <a:spcAft>
                <a:spcPts val="0"/>
              </a:spcAft>
              <a:buNone/>
            </a:pPr>
            <a:r>
              <a:rPr lang="en-US" altLang="zh-CN" sz="1200">
                <a:solidFill>
                  <a:srgbClr val="333333"/>
                </a:solidFill>
                <a:highlight>
                  <a:srgbClr val="FFFFFF"/>
                </a:highlight>
              </a:rPr>
              <a:t>with extreme cases reaching over 90%, demonstrating strong vulnerability to shortcut features.</a:t>
            </a:r>
            <a:endParaRPr lang="en-US" altLang="zh-CN" sz="1200">
              <a:solidFill>
                <a:srgbClr val="333333"/>
              </a:solidFill>
              <a:highlight>
                <a:srgbClr val="FFFFFF"/>
              </a:highlight>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9" name="Shape 219"/>
        <p:cNvGrpSpPr/>
        <p:nvPr/>
      </p:nvGrpSpPr>
      <p:grpSpPr>
        <a:xfrm>
          <a:off x="0" y="0"/>
          <a:ext cx="0" cy="0"/>
          <a:chOff x="0" y="0"/>
          <a:chExt cx="0" cy="0"/>
        </a:xfrm>
      </p:grpSpPr>
      <p:sp>
        <p:nvSpPr>
          <p:cNvPr id="220" name="Google Shape;220;g3a841257f82_0_13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a841257f82_0_13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a:t>And w</a:t>
            </a:r>
            <a:r>
              <a:rPr lang="zh-CN"/>
              <a:t>e observe a similar performance degradation on BotRGCN under the shortcut setting.</a:t>
            </a:r>
            <a:endParaRPr 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5" name="Shape 225"/>
        <p:cNvGrpSpPr/>
        <p:nvPr/>
      </p:nvGrpSpPr>
      <p:grpSpPr>
        <a:xfrm>
          <a:off x="0" y="0"/>
          <a:ext cx="0" cy="0"/>
          <a:chOff x="0" y="0"/>
          <a:chExt cx="0" cy="0"/>
        </a:xfrm>
      </p:grpSpPr>
      <p:sp>
        <p:nvSpPr>
          <p:cNvPr id="226" name="Google Shape;226;g3a841257f82_0_14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a841257f82_0_14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solidFill>
                  <a:schemeClr val="dk1"/>
                </a:solidFill>
              </a:rPr>
              <a:t>These results highlight that existing model architectures </a:t>
            </a:r>
            <a:endParaRPr lang="zh-CN">
              <a:solidFill>
                <a:schemeClr val="dk1"/>
              </a:solidFill>
            </a:endParaRPr>
          </a:p>
          <a:p>
            <a:pPr marL="0" lvl="0" indent="0" algn="l" rtl="0">
              <a:spcBef>
                <a:spcPts val="0"/>
              </a:spcBef>
              <a:spcAft>
                <a:spcPts val="0"/>
              </a:spcAft>
              <a:buNone/>
            </a:pPr>
            <a:r>
              <a:rPr lang="zh-CN">
                <a:solidFill>
                  <a:schemeClr val="dk1"/>
                </a:solidFill>
              </a:rPr>
              <a:t>experience significant performance degradation due to shortcut learning and spurious correlations.</a:t>
            </a:r>
            <a:endParaRPr lang="zh-CN">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2" name="Shape 232"/>
        <p:cNvGrpSpPr/>
        <p:nvPr/>
      </p:nvGrpSpPr>
      <p:grpSpPr>
        <a:xfrm>
          <a:off x="0" y="0"/>
          <a:ext cx="0" cy="0"/>
          <a:chOff x="0" y="0"/>
          <a:chExt cx="0" cy="0"/>
        </a:xfrm>
      </p:grpSpPr>
      <p:sp>
        <p:nvSpPr>
          <p:cNvPr id="233" name="Google Shape;233;g3a841257f82_0_11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a841257f82_0_1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sz="1200">
                <a:solidFill>
                  <a:srgbClr val="333333"/>
                </a:solidFill>
              </a:rPr>
              <a:t>After identifying the problem, we move on to mitigation.</a:t>
            </a:r>
            <a:endParaRPr sz="1200">
              <a:solidFill>
                <a:srgbClr val="333333"/>
              </a:solidFill>
            </a:endParaRPr>
          </a:p>
          <a:p>
            <a:pPr marL="0" lvl="0" indent="0" algn="l" rtl="0">
              <a:lnSpc>
                <a:spcPct val="115000"/>
              </a:lnSpc>
              <a:spcBef>
                <a:spcPts val="1000"/>
              </a:spcBef>
              <a:spcAft>
                <a:spcPts val="1000"/>
              </a:spcAft>
              <a:buNone/>
            </a:pPr>
            <a:r>
              <a:rPr lang="zh-CN" sz="1200">
                <a:solidFill>
                  <a:srgbClr val="333333"/>
                </a:solidFill>
              </a:rPr>
              <a:t>Inspired by recent work showing that LLMs are effective in social </a:t>
            </a:r>
            <a:r>
              <a:rPr lang="en-US" altLang="zh-CN" sz="1200">
                <a:solidFill>
                  <a:srgbClr val="333333"/>
                </a:solidFill>
              </a:rPr>
              <a:t>net analyze</a:t>
            </a:r>
            <a:r>
              <a:rPr lang="zh-CN" sz="1200">
                <a:solidFill>
                  <a:srgbClr val="333333"/>
                </a:solidFill>
              </a:rPr>
              <a:t>, </a:t>
            </a:r>
            <a:endParaRPr lang="zh-CN" sz="1200">
              <a:solidFill>
                <a:srgbClr val="333333"/>
              </a:solidFill>
            </a:endParaRPr>
          </a:p>
          <a:p>
            <a:pPr marL="0" lvl="0" indent="0" algn="l" rtl="0">
              <a:lnSpc>
                <a:spcPct val="115000"/>
              </a:lnSpc>
              <a:spcBef>
                <a:spcPts val="1000"/>
              </a:spcBef>
              <a:spcAft>
                <a:spcPts val="1000"/>
              </a:spcAft>
              <a:buNone/>
            </a:pPr>
            <a:r>
              <a:rPr lang="zh-CN" sz="1200">
                <a:solidFill>
                  <a:srgbClr val="333333"/>
                </a:solidFill>
              </a:rPr>
              <a:t>we propose a mitigation strategy based on</a:t>
            </a:r>
            <a:r>
              <a:rPr lang="en-US" altLang="zh-CN" sz="1200">
                <a:solidFill>
                  <a:srgbClr val="333333"/>
                </a:solidFill>
              </a:rPr>
              <a:t> LLMs</a:t>
            </a:r>
            <a:r>
              <a:rPr lang="zh-CN" sz="1200">
                <a:solidFill>
                  <a:srgbClr val="333333"/>
                </a:solidFill>
              </a:rPr>
              <a:t> counterfactual data augmentation.</a:t>
            </a:r>
            <a:endParaRPr lang="zh-CN" sz="1200">
              <a:solidFill>
                <a:srgbClr val="333333"/>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2" name="Shape 242"/>
        <p:cNvGrpSpPr/>
        <p:nvPr/>
      </p:nvGrpSpPr>
      <p:grpSpPr>
        <a:xfrm>
          <a:off x="0" y="0"/>
          <a:ext cx="0" cy="0"/>
          <a:chOff x="0" y="0"/>
          <a:chExt cx="0" cy="0"/>
        </a:xfrm>
      </p:grpSpPr>
      <p:sp>
        <p:nvSpPr>
          <p:cNvPr id="243" name="Google Shape;243;g3a841257f82_0_3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a841257f82_0_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sz="1200">
                <a:solidFill>
                  <a:srgbClr val="333333"/>
                </a:solidFill>
              </a:rPr>
              <a:t>Our overall strategy can be summarized in two </a:t>
            </a:r>
            <a:r>
              <a:rPr lang="en-US" altLang="zh-CN" sz="1200">
                <a:solidFill>
                  <a:srgbClr val="333333"/>
                </a:solidFill>
              </a:rPr>
              <a:t>aspects</a:t>
            </a:r>
            <a:r>
              <a:rPr lang="zh-CN" sz="1200">
                <a:solidFill>
                  <a:srgbClr val="333333"/>
                </a:solidFill>
              </a:rPr>
              <a:t>.</a:t>
            </a:r>
            <a:endParaRPr sz="1200">
              <a:solidFill>
                <a:srgbClr val="333333"/>
              </a:solidFill>
            </a:endParaRPr>
          </a:p>
          <a:p>
            <a:pPr marL="0" lvl="0" indent="0" algn="l" rtl="0">
              <a:lnSpc>
                <a:spcPct val="115000"/>
              </a:lnSpc>
              <a:spcBef>
                <a:spcPts val="1000"/>
              </a:spcBef>
              <a:spcAft>
                <a:spcPts val="0"/>
              </a:spcAft>
              <a:buClr>
                <a:schemeClr val="dk1"/>
              </a:buClr>
              <a:buSzPts val="1100"/>
              <a:buFont typeface="Arial" panose="020B0604020202020204"/>
              <a:buNone/>
            </a:pPr>
            <a:r>
              <a:rPr lang="zh-CN" sz="1200">
                <a:solidFill>
                  <a:srgbClr val="333333"/>
                </a:solidFill>
              </a:rPr>
              <a:t>First, we perform </a:t>
            </a:r>
            <a:r>
              <a:rPr lang="en-US" altLang="zh-CN" sz="1200">
                <a:solidFill>
                  <a:srgbClr val="333333"/>
                </a:solidFill>
              </a:rPr>
              <a:t>CDA</a:t>
            </a:r>
            <a:r>
              <a:rPr lang="zh-CN" sz="1200">
                <a:solidFill>
                  <a:srgbClr val="333333"/>
                </a:solidFill>
              </a:rPr>
              <a:t> on the training set by rewriting texts to reverse or neutralize specific biased features, </a:t>
            </a:r>
            <a:endParaRPr lang="zh-CN" sz="1200">
              <a:solidFill>
                <a:srgbClr val="333333"/>
              </a:solidFill>
            </a:endParaRPr>
          </a:p>
          <a:p>
            <a:pPr marL="0" lvl="0" indent="0" algn="l" rtl="0">
              <a:lnSpc>
                <a:spcPct val="115000"/>
              </a:lnSpc>
              <a:spcBef>
                <a:spcPts val="1000"/>
              </a:spcBef>
              <a:spcAft>
                <a:spcPts val="0"/>
              </a:spcAft>
              <a:buClr>
                <a:schemeClr val="dk1"/>
              </a:buClr>
              <a:buSzPts val="1100"/>
              <a:buFont typeface="Arial" panose="020B0604020202020204"/>
              <a:buNone/>
            </a:pPr>
            <a:r>
              <a:rPr lang="zh-CN" sz="1200">
                <a:solidFill>
                  <a:srgbClr val="333333"/>
                </a:solidFill>
              </a:rPr>
              <a:t>while keeping the original semantics and </a:t>
            </a:r>
            <a:r>
              <a:rPr lang="en-US" altLang="zh-CN" sz="1200">
                <a:solidFill>
                  <a:srgbClr val="333333"/>
                </a:solidFill>
              </a:rPr>
              <a:t>causal-</a:t>
            </a:r>
            <a:r>
              <a:rPr lang="zh-CN" sz="1200">
                <a:solidFill>
                  <a:srgbClr val="333333"/>
                </a:solidFill>
              </a:rPr>
              <a:t>label-related cues unchanged.</a:t>
            </a:r>
            <a:endParaRPr sz="1200">
              <a:solidFill>
                <a:srgbClr val="333333"/>
              </a:solidFill>
            </a:endParaRPr>
          </a:p>
          <a:p>
            <a:pPr marL="0" lvl="0" indent="0" algn="l" rtl="0">
              <a:lnSpc>
                <a:spcPct val="115000"/>
              </a:lnSpc>
              <a:spcBef>
                <a:spcPts val="1000"/>
              </a:spcBef>
              <a:spcAft>
                <a:spcPts val="0"/>
              </a:spcAft>
              <a:buClr>
                <a:schemeClr val="dk1"/>
              </a:buClr>
              <a:buSzPts val="1100"/>
              <a:buFont typeface="Arial" panose="020B0604020202020204"/>
              <a:buNone/>
            </a:pPr>
            <a:r>
              <a:rPr lang="zh-CN" sz="1200">
                <a:solidFill>
                  <a:srgbClr val="333333"/>
                </a:solidFill>
              </a:rPr>
              <a:t>Second, we weaken shortcut-induced correlations across three levels: the text level, the dataset level, and the model level.</a:t>
            </a:r>
            <a:endParaRPr sz="1200">
              <a:solidFill>
                <a:srgbClr val="333333"/>
              </a:solidFill>
            </a:endParaRPr>
          </a:p>
          <a:p>
            <a:pPr marL="0" lvl="0" indent="0" algn="l" rtl="0">
              <a:spcBef>
                <a:spcPts val="100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9" name="Shape 249"/>
        <p:cNvGrpSpPr/>
        <p:nvPr/>
      </p:nvGrpSpPr>
      <p:grpSpPr>
        <a:xfrm>
          <a:off x="0" y="0"/>
          <a:ext cx="0" cy="0"/>
          <a:chOff x="0" y="0"/>
          <a:chExt cx="0" cy="0"/>
        </a:xfrm>
      </p:grpSpPr>
      <p:sp>
        <p:nvSpPr>
          <p:cNvPr id="250" name="Google Shape;250;g3a841257f82_0_10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a841257f82_0_10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a:solidFill>
                  <a:srgbClr val="333333"/>
                </a:solidFill>
              </a:rPr>
              <a:t>We mitigate shortcut learning using LLM-based counterfactual rewriting at two levels.</a:t>
            </a:r>
            <a:endParaRPr lang="en-US" altLang="zh-CN" sz="1200">
              <a:solidFill>
                <a:srgbClr val="333333"/>
              </a:solidFill>
            </a:endParaRPr>
          </a:p>
          <a:p>
            <a:pPr marL="0" lvl="0" indent="0" algn="l" rtl="0">
              <a:spcBef>
                <a:spcPts val="0"/>
              </a:spcBef>
              <a:spcAft>
                <a:spcPts val="0"/>
              </a:spcAft>
              <a:buNone/>
            </a:pPr>
            <a:r>
              <a:rPr lang="en-US" altLang="zh-CN" sz="1200">
                <a:solidFill>
                  <a:srgbClr val="333333"/>
                </a:solidFill>
              </a:rPr>
              <a:t>At the text level, we mix original and rewritten posts within each user to balance shortcut features.</a:t>
            </a:r>
            <a:endParaRPr lang="en-US" altLang="zh-CN" sz="1200">
              <a:solidFill>
                <a:srgbClr val="333333"/>
              </a:solidFill>
            </a:endParaRPr>
          </a:p>
          <a:p>
            <a:pPr marL="0" lvl="0" indent="0" algn="l" rtl="0">
              <a:spcBef>
                <a:spcPts val="0"/>
              </a:spcBef>
              <a:spcAft>
                <a:spcPts val="0"/>
              </a:spcAft>
              <a:buNone/>
            </a:pPr>
            <a:r>
              <a:rPr lang="en-US" altLang="zh-CN" sz="1200">
                <a:solidFill>
                  <a:srgbClr val="333333"/>
                </a:solidFill>
              </a:rPr>
              <a:t>At the dataset level, we mix users with different shortcut-feature distributions to break shortcut–label correlations.</a:t>
            </a:r>
            <a:endParaRPr lang="en-US" altLang="zh-CN" sz="1200">
              <a:solidFill>
                <a:srgbClr val="333333"/>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6" name="Shape 256"/>
        <p:cNvGrpSpPr/>
        <p:nvPr/>
      </p:nvGrpSpPr>
      <p:grpSpPr>
        <a:xfrm>
          <a:off x="0" y="0"/>
          <a:ext cx="0" cy="0"/>
          <a:chOff x="0" y="0"/>
          <a:chExt cx="0" cy="0"/>
        </a:xfrm>
      </p:grpSpPr>
      <p:sp>
        <p:nvSpPr>
          <p:cNvPr id="257" name="Google Shape;257;g3a841257f82_0_16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a841257f82_0_16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sz="1200">
                <a:solidFill>
                  <a:srgbClr val="333333"/>
                </a:solidFill>
              </a:rPr>
              <a:t>Finally, at the model level, we fine-tune </a:t>
            </a:r>
            <a:r>
              <a:rPr lang="en-US" altLang="zh-CN" sz="1200">
                <a:solidFill>
                  <a:srgbClr val="333333"/>
                </a:solidFill>
              </a:rPr>
              <a:t>text-feature extractor</a:t>
            </a:r>
            <a:r>
              <a:rPr lang="zh-CN" sz="1200">
                <a:solidFill>
                  <a:srgbClr val="333333"/>
                </a:solidFill>
              </a:rPr>
              <a:t> using contrastive learning with counterfactual text pairs.</a:t>
            </a:r>
            <a:endParaRPr sz="1200">
              <a:solidFill>
                <a:srgbClr val="333333"/>
              </a:solidFill>
            </a:endParaRPr>
          </a:p>
          <a:p>
            <a:pPr marL="0" lvl="0" indent="0" algn="l" rtl="0">
              <a:lnSpc>
                <a:spcPct val="115000"/>
              </a:lnSpc>
              <a:spcBef>
                <a:spcPts val="1000"/>
              </a:spcBef>
              <a:spcAft>
                <a:spcPts val="0"/>
              </a:spcAft>
              <a:buClr>
                <a:schemeClr val="dk1"/>
              </a:buClr>
              <a:buSzPts val="1100"/>
              <a:buFont typeface="Arial" panose="020B0604020202020204"/>
              <a:buNone/>
            </a:pPr>
            <a:r>
              <a:rPr lang="zh-CN" sz="1200">
                <a:solidFill>
                  <a:srgbClr val="333333"/>
                </a:solidFill>
              </a:rPr>
              <a:t>This allows us to preserve semantic consistency, while explicitly suppressing shortcut features in the embedding space through mutual information constraints.</a:t>
            </a:r>
            <a:endParaRPr sz="1200">
              <a:solidFill>
                <a:srgbClr val="333333"/>
              </a:solidFill>
            </a:endParaRPr>
          </a:p>
          <a:p>
            <a:pPr marL="0" lvl="0" indent="0" algn="l" rtl="0">
              <a:lnSpc>
                <a:spcPct val="115000"/>
              </a:lnSpc>
              <a:spcBef>
                <a:spcPts val="1000"/>
              </a:spcBef>
              <a:spcAft>
                <a:spcPts val="0"/>
              </a:spcAft>
              <a:buClr>
                <a:schemeClr val="dk1"/>
              </a:buClr>
              <a:buSzPts val="1100"/>
              <a:buFont typeface="Arial" panose="020B0604020202020204"/>
              <a:buNone/>
            </a:pPr>
            <a:r>
              <a:rPr lang="zh-CN" sz="1200">
                <a:solidFill>
                  <a:srgbClr val="333333"/>
                </a:solidFill>
              </a:rPr>
              <a:t>As a result, the model is encouraged to focus more on causally relevant signals.</a:t>
            </a:r>
            <a:endParaRPr sz="1200">
              <a:solidFill>
                <a:srgbClr val="333333"/>
              </a:solidFill>
            </a:endParaRPr>
          </a:p>
          <a:p>
            <a:pPr marL="0" lvl="0" indent="0" algn="l" rtl="0">
              <a:spcBef>
                <a:spcPts val="1000"/>
              </a:spcBef>
              <a:spcAft>
                <a:spcPts val="0"/>
              </a:spcAft>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g3b3a8f46d61_0_22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b3a8f46d61_0_2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a:solidFill>
                  <a:srgbClr val="333333"/>
                </a:solidFill>
                <a:highlight>
                  <a:srgbClr val="FFFFFF"/>
                </a:highlight>
              </a:rPr>
              <a:t>Here, we evaluate the effectiveness of our mitigation strategy.</a:t>
            </a:r>
            <a:endParaRPr lang="en-US" altLang="zh-CN" sz="1200">
              <a:solidFill>
                <a:srgbClr val="333333"/>
              </a:solidFill>
              <a:highlight>
                <a:srgbClr val="FFFFFF"/>
              </a:highlight>
            </a:endParaRPr>
          </a:p>
          <a:p>
            <a:pPr marL="0" lvl="0" indent="0" algn="l" rtl="0">
              <a:spcBef>
                <a:spcPts val="0"/>
              </a:spcBef>
              <a:spcAft>
                <a:spcPts val="0"/>
              </a:spcAft>
              <a:buNone/>
            </a:pPr>
            <a:r>
              <a:rPr lang="en-US" altLang="zh-CN" sz="1200">
                <a:solidFill>
                  <a:srgbClr val="333333"/>
                </a:solidFill>
                <a:highlight>
                  <a:srgbClr val="FFFFFF"/>
                </a:highlight>
              </a:rPr>
              <a:t>Compared to the original baseline and existing debiasing methods, </a:t>
            </a:r>
            <a:endParaRPr lang="en-US" altLang="zh-CN" sz="1200">
              <a:solidFill>
                <a:srgbClr val="333333"/>
              </a:solidFill>
              <a:highlight>
                <a:srgbClr val="FFFFFF"/>
              </a:highlight>
            </a:endParaRPr>
          </a:p>
          <a:p>
            <a:pPr marL="0" lvl="0" indent="0" algn="l" rtl="0">
              <a:spcBef>
                <a:spcPts val="0"/>
              </a:spcBef>
              <a:spcAft>
                <a:spcPts val="0"/>
              </a:spcAft>
              <a:buNone/>
            </a:pPr>
            <a:r>
              <a:rPr lang="en-US" altLang="zh-CN" sz="1200">
                <a:solidFill>
                  <a:srgbClr val="333333"/>
                </a:solidFill>
                <a:highlight>
                  <a:srgbClr val="FFFFFF"/>
                </a:highlight>
              </a:rPr>
              <a:t>our approach achieves an average relative improvement of 59% on text-based models and 53% on graph-based models.</a:t>
            </a:r>
            <a:endParaRPr lang="en-US" altLang="zh-CN" sz="1200">
              <a:solidFill>
                <a:srgbClr val="333333"/>
              </a:solidFill>
              <a:highlight>
                <a:srgbClr val="FFFFFF"/>
              </a:highlight>
            </a:endParaRPr>
          </a:p>
          <a:p>
            <a:pPr marL="0" lvl="0" indent="0" algn="l" rtl="0">
              <a:spcBef>
                <a:spcPts val="0"/>
              </a:spcBef>
              <a:spcAft>
                <a:spcPts val="0"/>
              </a:spcAft>
              <a:buNone/>
            </a:pPr>
            <a:r>
              <a:rPr lang="en-US" altLang="zh-CN" sz="1200">
                <a:solidFill>
                  <a:srgbClr val="333333"/>
                </a:solidFill>
                <a:highlight>
                  <a:srgbClr val="FFFFFF"/>
                </a:highlight>
              </a:rPr>
              <a:t>In many cases, performance recovers to near-standard levels.</a:t>
            </a:r>
            <a:endParaRPr lang="en-US" altLang="zh-CN" sz="1200">
              <a:solidFill>
                <a:srgbClr val="333333"/>
              </a:solidFill>
              <a:highlight>
                <a:srgbClr val="FFFFFF"/>
              </a:highlight>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3" name="Shape 273"/>
        <p:cNvGrpSpPr/>
        <p:nvPr/>
      </p:nvGrpSpPr>
      <p:grpSpPr>
        <a:xfrm>
          <a:off x="0" y="0"/>
          <a:ext cx="0" cy="0"/>
          <a:chOff x="0" y="0"/>
          <a:chExt cx="0" cy="0"/>
        </a:xfrm>
      </p:grpSpPr>
      <p:sp>
        <p:nvSpPr>
          <p:cNvPr id="274" name="Google Shape;274;g3a841257f82_0_3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a841257f82_0_3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t>Overall, this work identifies shortcut learning as a challenge in social bot detection and</a:t>
            </a:r>
          </a:p>
          <a:p>
            <a:pPr marL="0" lvl="0" indent="0" algn="l" rtl="0">
              <a:spcBef>
                <a:spcPts val="0"/>
              </a:spcBef>
              <a:spcAft>
                <a:spcPts val="0"/>
              </a:spcAft>
              <a:buNone/>
            </a:pPr>
            <a:r>
              <a:rPr lang="zh-CN"/>
              <a:t>demonstrates that LLM-based counterfactual data augmentation provides a practical and effective mitigation strategy</a:t>
            </a:r>
            <a:endParaRPr 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1" name="Shape 281"/>
        <p:cNvGrpSpPr/>
        <p:nvPr/>
      </p:nvGrpSpPr>
      <p:grpSpPr>
        <a:xfrm>
          <a:off x="0" y="0"/>
          <a:ext cx="0" cy="0"/>
          <a:chOff x="0" y="0"/>
          <a:chExt cx="0" cy="0"/>
        </a:xfrm>
      </p:grpSpPr>
      <p:sp>
        <p:nvSpPr>
          <p:cNvPr id="282" name="Google Shape;282;g3a841257f82_0_11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a841257f82_0_1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7" name="Shape 287"/>
        <p:cNvGrpSpPr/>
        <p:nvPr/>
      </p:nvGrpSpPr>
      <p:grpSpPr>
        <a:xfrm>
          <a:off x="0" y="0"/>
          <a:ext cx="0" cy="0"/>
          <a:chOff x="0" y="0"/>
          <a:chExt cx="0" cy="0"/>
        </a:xfrm>
      </p:grpSpPr>
      <p:sp>
        <p:nvSpPr>
          <p:cNvPr id="288" name="Google Shape;288;g3a841257f82_0_4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a841257f82_0_4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4" name="Shape 294"/>
        <p:cNvGrpSpPr/>
        <p:nvPr/>
      </p:nvGrpSpPr>
      <p:grpSpPr>
        <a:xfrm>
          <a:off x="0" y="0"/>
          <a:ext cx="0" cy="0"/>
          <a:chOff x="0" y="0"/>
          <a:chExt cx="0" cy="0"/>
        </a:xfrm>
      </p:grpSpPr>
      <p:sp>
        <p:nvSpPr>
          <p:cNvPr id="295" name="Google Shape;295;g3a9e98022ba_0_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a9e98022ba_0_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8" name="Shape 298"/>
        <p:cNvGrpSpPr/>
        <p:nvPr/>
      </p:nvGrpSpPr>
      <p:grpSpPr>
        <a:xfrm>
          <a:off x="0" y="0"/>
          <a:ext cx="0" cy="0"/>
          <a:chOff x="0" y="0"/>
          <a:chExt cx="0" cy="0"/>
        </a:xfrm>
      </p:grpSpPr>
      <p:sp>
        <p:nvSpPr>
          <p:cNvPr id="299" name="Google Shape;299;g3a9e98022ba_0_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3a9e98022ba_0_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2" name="Shape 302"/>
        <p:cNvGrpSpPr/>
        <p:nvPr/>
      </p:nvGrpSpPr>
      <p:grpSpPr>
        <a:xfrm>
          <a:off x="0" y="0"/>
          <a:ext cx="0" cy="0"/>
          <a:chOff x="0" y="0"/>
          <a:chExt cx="0" cy="0"/>
        </a:xfrm>
      </p:grpSpPr>
      <p:sp>
        <p:nvSpPr>
          <p:cNvPr id="303" name="Google Shape;303;g3a9e98022ba_0_3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a9e98022ba_0_3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6" name="Shape 306"/>
        <p:cNvGrpSpPr/>
        <p:nvPr/>
      </p:nvGrpSpPr>
      <p:grpSpPr>
        <a:xfrm>
          <a:off x="0" y="0"/>
          <a:ext cx="0" cy="0"/>
          <a:chOff x="0" y="0"/>
          <a:chExt cx="0" cy="0"/>
        </a:xfrm>
      </p:grpSpPr>
      <p:sp>
        <p:nvSpPr>
          <p:cNvPr id="307" name="Google Shape;307;g3a9e98022ba_0_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3a9e98022ba_0_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0" name="Shape 310"/>
        <p:cNvGrpSpPr/>
        <p:nvPr/>
      </p:nvGrpSpPr>
      <p:grpSpPr>
        <a:xfrm>
          <a:off x="0" y="0"/>
          <a:ext cx="0" cy="0"/>
          <a:chOff x="0" y="0"/>
          <a:chExt cx="0" cy="0"/>
        </a:xfrm>
      </p:grpSpPr>
      <p:sp>
        <p:nvSpPr>
          <p:cNvPr id="311" name="Google Shape;311;g3a9e98022ba_0_1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a9e98022ba_0_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4" name="Shape 314"/>
        <p:cNvGrpSpPr/>
        <p:nvPr/>
      </p:nvGrpSpPr>
      <p:grpSpPr>
        <a:xfrm>
          <a:off x="0" y="0"/>
          <a:ext cx="0" cy="0"/>
          <a:chOff x="0" y="0"/>
          <a:chExt cx="0" cy="0"/>
        </a:xfrm>
      </p:grpSpPr>
      <p:sp>
        <p:nvSpPr>
          <p:cNvPr id="315" name="Google Shape;315;g3b2e702bf0b_0_10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3b2e702bf0b_0_10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t>随着社交网络平台的不断丰富和编程算法的不断细化，再加上人工智能的快速发展，已有研究和实际社交经验见证着社交机器人从单纯的一些骚扰功能，发展的越来越有目的性，在语言和社交行为上越来越像人类</a:t>
            </a:r>
            <a:endParaRPr 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9" name="Shape 319"/>
        <p:cNvGrpSpPr/>
        <p:nvPr/>
      </p:nvGrpSpPr>
      <p:grpSpPr>
        <a:xfrm>
          <a:off x="0" y="0"/>
          <a:ext cx="0" cy="0"/>
          <a:chOff x="0" y="0"/>
          <a:chExt cx="0" cy="0"/>
        </a:xfrm>
      </p:grpSpPr>
      <p:sp>
        <p:nvSpPr>
          <p:cNvPr id="320" name="Google Shape;320;g3b2e702bf0b_0_10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b2e702bf0b_0_10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t>随着社交机器人的不断进化，社交平台以及科研工作者们也对社交机器人的特征进行的挖掘，借助更大的数据量和用户文本等信息设计出更有有效的检测算法。</a:t>
            </a:r>
            <a:endParaRPr 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5" name="Shape 325"/>
        <p:cNvGrpSpPr/>
        <p:nvPr/>
      </p:nvGrpSpPr>
      <p:grpSpPr>
        <a:xfrm>
          <a:off x="0" y="0"/>
          <a:ext cx="0" cy="0"/>
          <a:chOff x="0" y="0"/>
          <a:chExt cx="0" cy="0"/>
        </a:xfrm>
      </p:grpSpPr>
      <p:sp>
        <p:nvSpPr>
          <p:cNvPr id="326" name="Google Shape;326;g3b2e702bf0b_0_1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b2e702bf0b_0_1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zh-CN">
                <a:solidFill>
                  <a:schemeClr val="dk1"/>
                </a:solidFill>
              </a:rPr>
              <a:t>社交机器人的发展和社交机器人检测是一场持续不断的拉锯战，促使我们更深入的发掘现有模型的不足和增强检测器的能力</a:t>
            </a:r>
            <a:endParaRPr lang="zh-CN">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2" name="Shape 332"/>
        <p:cNvGrpSpPr/>
        <p:nvPr/>
      </p:nvGrpSpPr>
      <p:grpSpPr>
        <a:xfrm>
          <a:off x="0" y="0"/>
          <a:ext cx="0" cy="0"/>
          <a:chOff x="0" y="0"/>
          <a:chExt cx="0" cy="0"/>
        </a:xfrm>
      </p:grpSpPr>
      <p:sp>
        <p:nvSpPr>
          <p:cNvPr id="333" name="Google Shape;333;g3b3a8f46d61_0_5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b3a8f46d61_0_5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sz="1200">
                <a:solidFill>
                  <a:srgbClr val="333333"/>
                </a:solidFill>
                <a:highlight>
                  <a:srgbClr val="FFFFFF"/>
                </a:highlight>
              </a:rPr>
              <a:t>In addition, we include representative debiasing methods, AMR and CIGA, to examine whether existing approaches can mitigate shortcut learning.</a:t>
            </a:r>
            <a:endParaRPr lang="zh-CN" sz="1200">
              <a:solidFill>
                <a:srgbClr val="333333"/>
              </a:solidFill>
              <a:highlight>
                <a:srgbClr val="FFFFFF"/>
              </a:highligh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hyperlink" Target="https://www.nature.com/articles/s42256-020-00257-z" TargetMode="Externa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hyperlink" Target="https://dl.acm.org/doi/abs/10.1145/3409116" TargetMode="Externa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image" Target="../media/image26.png"/><Relationship Id="rId7" Type="http://schemas.openxmlformats.org/officeDocument/2006/relationships/image" Target="../media/image25.png"/><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1" Type="http://schemas.openxmlformats.org/officeDocument/2006/relationships/notesSlide" Target="../notesSlides/notesSlide14.xml"/><Relationship Id="rId10" Type="http://schemas.openxmlformats.org/officeDocument/2006/relationships/slideLayout" Target="../slideLayouts/slideLayout1.xml"/><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1.xml"/><Relationship Id="rId7" Type="http://schemas.openxmlformats.org/officeDocument/2006/relationships/hyperlink" Target="https://huggingface.co/docs/transformers/model_doc/roberta" TargetMode="Externa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hyperlink" Target="https://dl.acm.org/doi/abs/10.1145/3487351.3488336" TargetMode="External"/><Relationship Id="rId1" Type="http://schemas.openxmlformats.org/officeDocument/2006/relationships/image" Target="../media/image29.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33.png"/><Relationship Id="rId1"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xml"/><Relationship Id="rId4" Type="http://schemas.openxmlformats.org/officeDocument/2006/relationships/hyperlink" Target="https://arxiv.org/abs/2402.00371" TargetMode="External"/><Relationship Id="rId3" Type="http://schemas.openxmlformats.org/officeDocument/2006/relationships/image" Target="../media/image37.png"/><Relationship Id="rId2" Type="http://schemas.openxmlformats.org/officeDocument/2006/relationships/hyperlink" Target="https://arxiv.org/abs/2506.02350" TargetMode="External"/><Relationship Id="rId1"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8.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xml"/><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42.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44.png"/><Relationship Id="rId1" Type="http://schemas.openxmlformats.org/officeDocument/2006/relationships/image" Target="../media/image4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46.png"/><Relationship Id="rId1" Type="http://schemas.openxmlformats.org/officeDocument/2006/relationships/image" Target="../media/image4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47.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xml"/><Relationship Id="rId2" Type="http://schemas.openxmlformats.org/officeDocument/2006/relationships/image" Target="../media/image47.png"/><Relationship Id="rId1" Type="http://schemas.openxmlformats.org/officeDocument/2006/relationships/image" Target="../media/image48.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1.xml"/><Relationship Id="rId3" Type="http://schemas.openxmlformats.org/officeDocument/2006/relationships/image" Target="../media/image47.png"/><Relationship Id="rId2" Type="http://schemas.openxmlformats.org/officeDocument/2006/relationships/image" Target="../media/image48.png"/><Relationship Id="rId1" Type="http://schemas.openxmlformats.org/officeDocument/2006/relationships/image" Target="../media/image49.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1.xml"/><Relationship Id="rId3" Type="http://schemas.openxmlformats.org/officeDocument/2006/relationships/hyperlink" Target="https://proceedings.neurips.cc/paper_files/paper/2022/hash/8b21a7ea42cbcd1c29a7a88c444cce45-Abstract-Conference.html" TargetMode="External"/><Relationship Id="rId2" Type="http://schemas.openxmlformats.org/officeDocument/2006/relationships/image" Target="../media/image51.png"/><Relationship Id="rId1"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36900" y="744575"/>
            <a:ext cx="8826300" cy="1131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zh-CN" sz="3140">
                <a:latin typeface="Times New Roman" panose="02020603050405020304"/>
                <a:ea typeface="Times New Roman" panose="02020603050405020304"/>
                <a:cs typeface="Times New Roman" panose="02020603050405020304"/>
                <a:sym typeface="Times New Roman" panose="02020603050405020304"/>
              </a:rPr>
              <a:t>Bot Meets Shortcut: How </a:t>
            </a:r>
            <a:r>
              <a:rPr lang="zh-CN" sz="3140">
                <a:solidFill>
                  <a:srgbClr val="1F2328"/>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Can LLMs Aid in Handling Unknown Invariance OOD Scenarios?</a:t>
            </a:r>
            <a:endParaRPr sz="3140">
              <a:latin typeface="Times New Roman" panose="02020603050405020304"/>
              <a:ea typeface="Times New Roman" panose="02020603050405020304"/>
              <a:cs typeface="Times New Roman" panose="02020603050405020304"/>
              <a:sym typeface="Times New Roman" panose="02020603050405020304"/>
            </a:endParaRPr>
          </a:p>
        </p:txBody>
      </p:sp>
      <p:sp>
        <p:nvSpPr>
          <p:cNvPr id="55" name="Google Shape;55;p13"/>
          <p:cNvSpPr txBox="1"/>
          <p:nvPr>
            <p:ph type="subTitle" idx="1"/>
          </p:nvPr>
        </p:nvSpPr>
        <p:spPr>
          <a:xfrm>
            <a:off x="289750" y="2073375"/>
            <a:ext cx="8520600" cy="1283700"/>
          </a:xfrm>
          <a:prstGeom prst="rect">
            <a:avLst/>
          </a:prstGeom>
        </p:spPr>
        <p:txBody>
          <a:bodyPr spcFirstLastPara="1" wrap="square" lIns="91425" tIns="91425" rIns="91425" bIns="91425" anchor="t" anchorCtr="0">
            <a:normAutofit lnSpcReduction="20000"/>
          </a:bodyPr>
          <a:lstStyle/>
          <a:p>
            <a:pPr marL="0" lvl="0" indent="0" algn="ctr" rtl="0">
              <a:spcBef>
                <a:spcPts val="0"/>
              </a:spcBef>
              <a:spcAft>
                <a:spcPts val="0"/>
              </a:spcAft>
              <a:buNone/>
            </a:pPr>
            <a:r>
              <a:rPr lang="zh-CN" sz="2260">
                <a:latin typeface="Times New Roman" panose="02020603050405020304"/>
                <a:ea typeface="Times New Roman" panose="02020603050405020304"/>
                <a:cs typeface="Times New Roman" panose="02020603050405020304"/>
                <a:sym typeface="Times New Roman" panose="02020603050405020304"/>
              </a:rPr>
              <a:t>Shiyan Zheng, Herun Wan, Minnan Luo, Junhang </a:t>
            </a:r>
            <a:r>
              <a:rPr lang="zh-CN" sz="2260">
                <a:latin typeface="Times New Roman" panose="02020603050405020304"/>
                <a:ea typeface="Times New Roman" panose="02020603050405020304"/>
                <a:cs typeface="Times New Roman" panose="02020603050405020304"/>
                <a:sym typeface="Times New Roman" panose="02020603050405020304"/>
              </a:rPr>
              <a:t>Huang</a:t>
            </a:r>
            <a:endParaRPr sz="2260">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endParaRPr sz="2260">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zh-CN" sz="2000">
                <a:latin typeface="Times New Roman" panose="02020603050405020304"/>
                <a:ea typeface="Times New Roman" panose="02020603050405020304"/>
                <a:cs typeface="Times New Roman" panose="02020603050405020304"/>
                <a:sym typeface="Times New Roman" panose="02020603050405020304"/>
              </a:rPr>
              <a:t>Xi’an JiaoTong University</a:t>
            </a:r>
            <a:endParaRPr sz="2000">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zh-CN" sz="2000">
                <a:latin typeface="Times New Roman" panose="02020603050405020304"/>
                <a:ea typeface="Times New Roman" panose="02020603050405020304"/>
                <a:cs typeface="Times New Roman" panose="02020603050405020304"/>
                <a:sym typeface="Times New Roman" panose="02020603050405020304"/>
              </a:rPr>
              <a:t>Beijing Institute of Technology</a:t>
            </a:r>
            <a:endParaRPr sz="2000">
              <a:latin typeface="Times New Roman" panose="02020603050405020304"/>
              <a:ea typeface="Times New Roman" panose="02020603050405020304"/>
              <a:cs typeface="Times New Roman" panose="02020603050405020304"/>
              <a:sym typeface="Times New Roman" panose="02020603050405020304"/>
            </a:endParaRPr>
          </a:p>
        </p:txBody>
      </p:sp>
      <p:sp>
        <p:nvSpPr>
          <p:cNvPr id="56" name="Google Shape;56;p13"/>
          <p:cNvSpPr txBox="1"/>
          <p:nvPr/>
        </p:nvSpPr>
        <p:spPr>
          <a:xfrm>
            <a:off x="5751400" y="1979096"/>
            <a:ext cx="410700" cy="3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500">
                <a:solidFill>
                  <a:schemeClr val="dk2"/>
                </a:solidFill>
                <a:latin typeface="Times New Roman" panose="02020603050405020304"/>
                <a:ea typeface="Times New Roman" panose="02020603050405020304"/>
                <a:cs typeface="Times New Roman" panose="02020603050405020304"/>
                <a:sym typeface="Times New Roman" panose="02020603050405020304"/>
              </a:rPr>
              <a:t>1*</a:t>
            </a:r>
            <a:endParaRPr sz="150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 name="Google Shape;57;p13"/>
          <p:cNvSpPr txBox="1"/>
          <p:nvPr/>
        </p:nvSpPr>
        <p:spPr>
          <a:xfrm>
            <a:off x="4182950" y="1979103"/>
            <a:ext cx="309600" cy="3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500">
                <a:solidFill>
                  <a:schemeClr val="dk2"/>
                </a:solidFill>
                <a:latin typeface="Times New Roman" panose="02020603050405020304"/>
                <a:ea typeface="Times New Roman" panose="02020603050405020304"/>
                <a:cs typeface="Times New Roman" panose="02020603050405020304"/>
                <a:sym typeface="Times New Roman" panose="02020603050405020304"/>
              </a:rPr>
              <a:t>1</a:t>
            </a:r>
            <a:endParaRPr sz="150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 name="Google Shape;58;p13"/>
          <p:cNvSpPr txBox="1"/>
          <p:nvPr/>
        </p:nvSpPr>
        <p:spPr>
          <a:xfrm>
            <a:off x="2762850" y="1979096"/>
            <a:ext cx="309600" cy="3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500">
                <a:solidFill>
                  <a:schemeClr val="dk2"/>
                </a:solidFill>
                <a:latin typeface="Times New Roman" panose="02020603050405020304"/>
                <a:ea typeface="Times New Roman" panose="02020603050405020304"/>
                <a:cs typeface="Times New Roman" panose="02020603050405020304"/>
                <a:sym typeface="Times New Roman" panose="02020603050405020304"/>
              </a:rPr>
              <a:t>1</a:t>
            </a:r>
            <a:endParaRPr sz="150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 name="Google Shape;59;p13"/>
          <p:cNvSpPr txBox="1"/>
          <p:nvPr/>
        </p:nvSpPr>
        <p:spPr>
          <a:xfrm>
            <a:off x="7705240" y="1979110"/>
            <a:ext cx="309600" cy="3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500">
                <a:solidFill>
                  <a:schemeClr val="dk2"/>
                </a:solidFill>
                <a:latin typeface="Times New Roman" panose="02020603050405020304"/>
                <a:ea typeface="Times New Roman" panose="02020603050405020304"/>
                <a:cs typeface="Times New Roman" panose="02020603050405020304"/>
                <a:sym typeface="Times New Roman" panose="02020603050405020304"/>
              </a:rPr>
              <a:t>2</a:t>
            </a:r>
            <a:endParaRPr sz="150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 name="Google Shape;60;p13"/>
          <p:cNvSpPr txBox="1"/>
          <p:nvPr/>
        </p:nvSpPr>
        <p:spPr>
          <a:xfrm>
            <a:off x="2944584" y="2488321"/>
            <a:ext cx="309600" cy="3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500">
                <a:solidFill>
                  <a:schemeClr val="dk2"/>
                </a:solidFill>
                <a:latin typeface="Times New Roman" panose="02020603050405020304"/>
                <a:ea typeface="Times New Roman" panose="02020603050405020304"/>
                <a:cs typeface="Times New Roman" panose="02020603050405020304"/>
                <a:sym typeface="Times New Roman" panose="02020603050405020304"/>
              </a:rPr>
              <a:t>1</a:t>
            </a:r>
            <a:endParaRPr sz="150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 name="Google Shape;61;p13"/>
          <p:cNvSpPr txBox="1"/>
          <p:nvPr/>
        </p:nvSpPr>
        <p:spPr>
          <a:xfrm>
            <a:off x="2671000" y="2728246"/>
            <a:ext cx="309600" cy="3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500">
                <a:solidFill>
                  <a:schemeClr val="dk2"/>
                </a:solidFill>
                <a:latin typeface="Times New Roman" panose="02020603050405020304"/>
                <a:ea typeface="Times New Roman" panose="02020603050405020304"/>
                <a:cs typeface="Times New Roman" panose="02020603050405020304"/>
                <a:sym typeface="Times New Roman" panose="02020603050405020304"/>
              </a:rPr>
              <a:t>2</a:t>
            </a:r>
            <a:endParaRPr sz="150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62" name="Google Shape;62;p13"/>
          <p:cNvPicPr preferRelativeResize="0"/>
          <p:nvPr/>
        </p:nvPicPr>
        <p:blipFill>
          <a:blip r:embed="rId1"/>
          <a:stretch>
            <a:fillRect/>
          </a:stretch>
        </p:blipFill>
        <p:spPr>
          <a:xfrm>
            <a:off x="152400" y="3509475"/>
            <a:ext cx="8839204" cy="9538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76" name="Shape 76"/>
        <p:cNvGrpSpPr/>
        <p:nvPr/>
      </p:nvGrpSpPr>
      <p:grpSpPr>
        <a:xfrm>
          <a:off x="0" y="0"/>
          <a:ext cx="0" cy="0"/>
          <a:chOff x="0" y="0"/>
          <a:chExt cx="0" cy="0"/>
        </a:xfrm>
      </p:grpSpPr>
      <p:pic>
        <p:nvPicPr>
          <p:cNvPr id="77" name="Google Shape;77;p15"/>
          <p:cNvPicPr preferRelativeResize="0"/>
          <p:nvPr/>
        </p:nvPicPr>
        <p:blipFill>
          <a:blip r:embed="rId1"/>
          <a:stretch>
            <a:fillRect/>
          </a:stretch>
        </p:blipFill>
        <p:spPr>
          <a:xfrm>
            <a:off x="0" y="989657"/>
            <a:ext cx="2891575" cy="2891575"/>
          </a:xfrm>
          <a:prstGeom prst="rect">
            <a:avLst/>
          </a:prstGeom>
          <a:noFill/>
          <a:ln>
            <a:noFill/>
          </a:ln>
        </p:spPr>
      </p:pic>
      <p:pic>
        <p:nvPicPr>
          <p:cNvPr id="78" name="Google Shape;78;p15"/>
          <p:cNvPicPr preferRelativeResize="0"/>
          <p:nvPr/>
        </p:nvPicPr>
        <p:blipFill>
          <a:blip r:embed="rId2"/>
          <a:stretch>
            <a:fillRect/>
          </a:stretch>
        </p:blipFill>
        <p:spPr>
          <a:xfrm>
            <a:off x="6142100" y="0"/>
            <a:ext cx="3001900" cy="2363900"/>
          </a:xfrm>
          <a:prstGeom prst="rect">
            <a:avLst/>
          </a:prstGeom>
          <a:noFill/>
          <a:ln>
            <a:noFill/>
          </a:ln>
        </p:spPr>
      </p:pic>
      <p:sp>
        <p:nvSpPr>
          <p:cNvPr id="79" name="Google Shape;79;p15"/>
          <p:cNvSpPr txBox="1"/>
          <p:nvPr/>
        </p:nvSpPr>
        <p:spPr>
          <a:xfrm>
            <a:off x="0" y="4111203"/>
            <a:ext cx="4342500" cy="103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a:solidFill>
                  <a:schemeClr val="dk2"/>
                </a:solidFill>
              </a:rPr>
              <a:t>Social networks have become deeply integrated into our lives, reshaping how we access and process information.</a:t>
            </a:r>
            <a:endParaRPr sz="1800">
              <a:solidFill>
                <a:schemeClr val="dk2"/>
              </a:solidFill>
            </a:endParaRPr>
          </a:p>
        </p:txBody>
      </p:sp>
      <p:sp>
        <p:nvSpPr>
          <p:cNvPr id="80" name="Google Shape;80;p15"/>
          <p:cNvSpPr txBox="1"/>
          <p:nvPr/>
        </p:nvSpPr>
        <p:spPr>
          <a:xfrm>
            <a:off x="4963975" y="2414650"/>
            <a:ext cx="4180200" cy="206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a:solidFill>
                  <a:schemeClr val="dk2"/>
                </a:solidFill>
              </a:rPr>
              <a:t>As social networks expand globally, the rise of social bots has attracted significant academic attention. </a:t>
            </a:r>
            <a:endParaRPr sz="1800">
              <a:solidFill>
                <a:schemeClr val="dk2"/>
              </a:solidFill>
            </a:endParaRPr>
          </a:p>
          <a:p>
            <a:pPr marL="0" lvl="0" indent="0" algn="l" rtl="0">
              <a:spcBef>
                <a:spcPts val="0"/>
              </a:spcBef>
              <a:spcAft>
                <a:spcPts val="0"/>
              </a:spcAft>
              <a:buNone/>
            </a:pPr>
            <a:r>
              <a:rPr lang="zh-CN" sz="1800">
                <a:solidFill>
                  <a:schemeClr val="dk2"/>
                </a:solidFill>
              </a:rPr>
              <a:t>With deep learning advancements, more research focuses on using neural networks to distinguish between social bot users and human users.</a:t>
            </a:r>
            <a:endParaRPr sz="1800">
              <a:solidFill>
                <a:schemeClr val="dk2"/>
              </a:solidFill>
            </a:endParaRPr>
          </a:p>
        </p:txBody>
      </p:sp>
      <p:sp>
        <p:nvSpPr>
          <p:cNvPr id="81"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200" b="1">
                <a:solidFill>
                  <a:schemeClr val="dk2"/>
                </a:solidFill>
              </a:rPr>
              <a:t>Background</a:t>
            </a:r>
            <a:endParaRPr sz="2200" b="1">
              <a:solidFill>
                <a:schemeClr val="dk2"/>
              </a:solidFill>
            </a:endParaRPr>
          </a:p>
        </p:txBody>
      </p:sp>
      <p:pic>
        <p:nvPicPr>
          <p:cNvPr id="82" name="Google Shape;82;p15"/>
          <p:cNvPicPr preferRelativeResize="0"/>
          <p:nvPr/>
        </p:nvPicPr>
        <p:blipFill>
          <a:blip r:embed="rId3"/>
          <a:stretch>
            <a:fillRect/>
          </a:stretch>
        </p:blipFill>
        <p:spPr>
          <a:xfrm rot="3144825">
            <a:off x="2772480" y="1100240"/>
            <a:ext cx="652215" cy="652220"/>
          </a:xfrm>
          <a:prstGeom prst="rect">
            <a:avLst/>
          </a:prstGeom>
          <a:noFill/>
          <a:ln>
            <a:noFill/>
          </a:ln>
        </p:spPr>
      </p:pic>
      <p:pic>
        <p:nvPicPr>
          <p:cNvPr id="83" name="Google Shape;83;p15"/>
          <p:cNvPicPr preferRelativeResize="0"/>
          <p:nvPr/>
        </p:nvPicPr>
        <p:blipFill>
          <a:blip r:embed="rId4"/>
          <a:stretch>
            <a:fillRect/>
          </a:stretch>
        </p:blipFill>
        <p:spPr>
          <a:xfrm rot="4974977">
            <a:off x="2964125" y="1919348"/>
            <a:ext cx="616728" cy="616728"/>
          </a:xfrm>
          <a:prstGeom prst="rect">
            <a:avLst/>
          </a:prstGeom>
          <a:noFill/>
          <a:ln>
            <a:noFill/>
          </a:ln>
        </p:spPr>
      </p:pic>
      <p:pic>
        <p:nvPicPr>
          <p:cNvPr id="84" name="Google Shape;84;p15"/>
          <p:cNvPicPr preferRelativeResize="0"/>
          <p:nvPr/>
        </p:nvPicPr>
        <p:blipFill>
          <a:blip r:embed="rId5"/>
          <a:stretch>
            <a:fillRect/>
          </a:stretch>
        </p:blipFill>
        <p:spPr>
          <a:xfrm rot="1834627">
            <a:off x="2155275" y="563300"/>
            <a:ext cx="652575" cy="652575"/>
          </a:xfrm>
          <a:prstGeom prst="rect">
            <a:avLst/>
          </a:prstGeom>
          <a:noFill/>
          <a:ln>
            <a:noFill/>
          </a:ln>
        </p:spPr>
      </p:pic>
      <p:pic>
        <p:nvPicPr>
          <p:cNvPr id="85" name="Google Shape;85;p15"/>
          <p:cNvPicPr preferRelativeResize="0"/>
          <p:nvPr/>
        </p:nvPicPr>
        <p:blipFill>
          <a:blip r:embed="rId6"/>
          <a:stretch>
            <a:fillRect/>
          </a:stretch>
        </p:blipFill>
        <p:spPr>
          <a:xfrm rot="-2925671">
            <a:off x="5816400" y="1456225"/>
            <a:ext cx="752900" cy="752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89" name="Shape 89"/>
        <p:cNvGrpSpPr/>
        <p:nvPr/>
      </p:nvGrpSpPr>
      <p:grpSpPr>
        <a:xfrm>
          <a:off x="0" y="0"/>
          <a:ext cx="0" cy="0"/>
          <a:chOff x="0" y="0"/>
          <a:chExt cx="0" cy="0"/>
        </a:xfrm>
      </p:grpSpPr>
      <p:sp>
        <p:nvSpPr>
          <p:cNvPr id="90" name="Google Shape;90;p16"/>
          <p:cNvSpPr txBox="1"/>
          <p:nvPr/>
        </p:nvSpPr>
        <p:spPr>
          <a:xfrm>
            <a:off x="8975" y="-2250"/>
            <a:ext cx="18312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200" b="1">
                <a:solidFill>
                  <a:schemeClr val="dk2"/>
                </a:solidFill>
              </a:rPr>
              <a:t>Background</a:t>
            </a:r>
            <a:endParaRPr sz="2200" b="1">
              <a:solidFill>
                <a:schemeClr val="dk2"/>
              </a:solidFill>
            </a:endParaRPr>
          </a:p>
        </p:txBody>
      </p:sp>
      <p:pic>
        <p:nvPicPr>
          <p:cNvPr id="91" name="Google Shape;91;p16"/>
          <p:cNvPicPr preferRelativeResize="0"/>
          <p:nvPr/>
        </p:nvPicPr>
        <p:blipFill>
          <a:blip r:embed="rId1"/>
          <a:stretch>
            <a:fillRect/>
          </a:stretch>
        </p:blipFill>
        <p:spPr>
          <a:xfrm>
            <a:off x="6243125" y="-2250"/>
            <a:ext cx="2900874" cy="2861250"/>
          </a:xfrm>
          <a:prstGeom prst="rect">
            <a:avLst/>
          </a:prstGeom>
          <a:noFill/>
          <a:ln>
            <a:noFill/>
          </a:ln>
        </p:spPr>
      </p:pic>
      <p:sp>
        <p:nvSpPr>
          <p:cNvPr id="92" name="Google Shape;92;p16"/>
          <p:cNvSpPr txBox="1"/>
          <p:nvPr/>
        </p:nvSpPr>
        <p:spPr>
          <a:xfrm>
            <a:off x="6243125" y="2859000"/>
            <a:ext cx="2901000" cy="1545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zh-CN"/>
              <a:t>Deep learning algorithms are still a black box, and we don’t fully understand their capabilities or limitations. </a:t>
            </a:r>
            <a:endParaRPr lang="zh-CN"/>
          </a:p>
          <a:p>
            <a:pPr marL="0" lvl="0" indent="0" algn="l" rtl="0">
              <a:lnSpc>
                <a:spcPct val="115000"/>
              </a:lnSpc>
              <a:spcBef>
                <a:spcPts val="1200"/>
              </a:spcBef>
              <a:spcAft>
                <a:spcPts val="1200"/>
              </a:spcAft>
              <a:buNone/>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96" name="Shape 96"/>
        <p:cNvGrpSpPr/>
        <p:nvPr/>
      </p:nvGrpSpPr>
      <p:grpSpPr>
        <a:xfrm>
          <a:off x="0" y="0"/>
          <a:ext cx="0" cy="0"/>
          <a:chOff x="0" y="0"/>
          <a:chExt cx="0" cy="0"/>
        </a:xfrm>
      </p:grpSpPr>
      <p:sp>
        <p:nvSpPr>
          <p:cNvPr id="97" name="Google Shape;97;p17"/>
          <p:cNvSpPr txBox="1"/>
          <p:nvPr/>
        </p:nvSpPr>
        <p:spPr>
          <a:xfrm>
            <a:off x="8975" y="-2250"/>
            <a:ext cx="18312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200" b="1">
                <a:solidFill>
                  <a:schemeClr val="dk2"/>
                </a:solidFill>
              </a:rPr>
              <a:t>Background</a:t>
            </a:r>
            <a:endParaRPr sz="2200" b="1">
              <a:solidFill>
                <a:schemeClr val="dk2"/>
              </a:solidFill>
            </a:endParaRPr>
          </a:p>
        </p:txBody>
      </p:sp>
      <p:pic>
        <p:nvPicPr>
          <p:cNvPr id="98" name="Google Shape;98;p17"/>
          <p:cNvPicPr preferRelativeResize="0"/>
          <p:nvPr/>
        </p:nvPicPr>
        <p:blipFill>
          <a:blip r:embed="rId1"/>
          <a:stretch>
            <a:fillRect/>
          </a:stretch>
        </p:blipFill>
        <p:spPr>
          <a:xfrm>
            <a:off x="6243125" y="-2250"/>
            <a:ext cx="2900874" cy="2861250"/>
          </a:xfrm>
          <a:prstGeom prst="rect">
            <a:avLst/>
          </a:prstGeom>
          <a:noFill/>
          <a:ln>
            <a:noFill/>
          </a:ln>
        </p:spPr>
      </p:pic>
      <p:sp>
        <p:nvSpPr>
          <p:cNvPr id="99" name="Google Shape;99;p17"/>
          <p:cNvSpPr txBox="1"/>
          <p:nvPr/>
        </p:nvSpPr>
        <p:spPr>
          <a:xfrm>
            <a:off x="6243125" y="2859000"/>
            <a:ext cx="2901000" cy="1545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zh-CN"/>
              <a:t>Deep learning algorithms are still a black box, and we don’t fully understand their capabilities or limitations. </a:t>
            </a:r>
            <a:endParaRPr lang="zh-CN"/>
          </a:p>
          <a:p>
            <a:pPr marL="0" lvl="0" indent="0" algn="l" rtl="0">
              <a:lnSpc>
                <a:spcPct val="115000"/>
              </a:lnSpc>
              <a:spcBef>
                <a:spcPts val="1200"/>
              </a:spcBef>
              <a:spcAft>
                <a:spcPts val="1200"/>
              </a:spcAft>
              <a:buNone/>
            </a:pPr>
          </a:p>
        </p:txBody>
      </p:sp>
      <p:sp>
        <p:nvSpPr>
          <p:cNvPr id="100" name="Google Shape;100;p17"/>
          <p:cNvSpPr txBox="1"/>
          <p:nvPr/>
        </p:nvSpPr>
        <p:spPr>
          <a:xfrm>
            <a:off x="0" y="4739400"/>
            <a:ext cx="5647800" cy="404100"/>
          </a:xfrm>
          <a:prstGeom prst="rect">
            <a:avLst/>
          </a:prstGeom>
          <a:noFill/>
          <a:ln>
            <a:noFill/>
          </a:ln>
        </p:spPr>
        <p:txBody>
          <a:bodyPr spcFirstLastPara="1" wrap="square" lIns="91425" tIns="91425" rIns="91425" bIns="91425" anchor="ctr" anchorCtr="0">
            <a:noAutofit/>
          </a:bodyPr>
          <a:lstStyle/>
          <a:p>
            <a:pPr marL="0" marR="952500" lvl="0" indent="0" algn="ctr" rtl="0">
              <a:lnSpc>
                <a:spcPct val="110000"/>
              </a:lnSpc>
              <a:spcBef>
                <a:spcPts val="0"/>
              </a:spcBef>
              <a:spcAft>
                <a:spcPts val="0"/>
              </a:spcAft>
              <a:buNone/>
            </a:pPr>
            <a:r>
              <a:rPr lang="zh-CN" sz="700" u="sng">
                <a:solidFill>
                  <a:srgbClr val="DD4B39"/>
                </a:solidFill>
                <a:highlight>
                  <a:srgbClr val="FFFFFF"/>
                </a:highlight>
                <a:hlinkClick r:id="rId2"/>
              </a:rPr>
              <a:t>Shortcut learning </a:t>
            </a:r>
            <a:r>
              <a:rPr lang="zh-CN" sz="700" u="sng">
                <a:solidFill>
                  <a:srgbClr val="1A0DAB"/>
                </a:solidFill>
                <a:highlight>
                  <a:srgbClr val="FFFFFF"/>
                </a:highlight>
                <a:hlinkClick r:id="rId2"/>
              </a:rPr>
              <a:t>in </a:t>
            </a:r>
            <a:r>
              <a:rPr lang="zh-CN" sz="700" u="sng">
                <a:solidFill>
                  <a:srgbClr val="DD4B39"/>
                </a:solidFill>
                <a:highlight>
                  <a:srgbClr val="FFFFFF"/>
                </a:highlight>
                <a:hlinkClick r:id="rId2"/>
              </a:rPr>
              <a:t>deep neural networks</a:t>
            </a:r>
            <a:endParaRPr sz="900" u="sng">
              <a:solidFill>
                <a:srgbClr val="DD4B39"/>
              </a:solidFill>
              <a:highlight>
                <a:srgbClr val="FFFFFF"/>
              </a:highlight>
            </a:endParaRPr>
          </a:p>
          <a:p>
            <a:pPr marL="914400" lvl="0" indent="457200" algn="l" rtl="0">
              <a:spcBef>
                <a:spcPts val="200"/>
              </a:spcBef>
              <a:spcAft>
                <a:spcPts val="0"/>
              </a:spcAft>
              <a:buNone/>
            </a:pPr>
            <a:r>
              <a:rPr lang="zh-CN" sz="900">
                <a:solidFill>
                  <a:schemeClr val="dk2"/>
                </a:solidFill>
              </a:rPr>
              <a:t>  https://doi.org/10.1038/s42256-020-00257-z</a:t>
            </a:r>
            <a:endParaRPr sz="900">
              <a:solidFill>
                <a:schemeClr val="dk2"/>
              </a:solidFill>
            </a:endParaRPr>
          </a:p>
        </p:txBody>
      </p:sp>
      <p:sp>
        <p:nvSpPr>
          <p:cNvPr id="101" name="Google Shape;101;p17"/>
          <p:cNvSpPr txBox="1"/>
          <p:nvPr/>
        </p:nvSpPr>
        <p:spPr>
          <a:xfrm>
            <a:off x="87520" y="1618325"/>
            <a:ext cx="5139000" cy="99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zh-CN" sz="1800">
                <a:solidFill>
                  <a:schemeClr val="dk2"/>
                </a:solidFill>
              </a:rPr>
              <a:t>Shortcut Learning</a:t>
            </a:r>
            <a:endParaRPr sz="1800">
              <a:solidFill>
                <a:schemeClr val="dk2"/>
              </a:solidFill>
            </a:endParaRPr>
          </a:p>
          <a:p>
            <a:pPr marL="0" lvl="0" indent="0" algn="l" rtl="0">
              <a:spcBef>
                <a:spcPts val="0"/>
              </a:spcBef>
              <a:spcAft>
                <a:spcPts val="0"/>
              </a:spcAft>
              <a:buNone/>
            </a:pPr>
            <a:r>
              <a:rPr lang="zh-CN" sz="1600">
                <a:solidFill>
                  <a:schemeClr val="dk2"/>
                </a:solidFill>
              </a:rPr>
              <a:t>For example, in image recognition, position is learned instead of shape.</a:t>
            </a:r>
            <a:endParaRPr sz="1800">
              <a:solidFill>
                <a:schemeClr val="dk2"/>
              </a:solidFill>
            </a:endParaRPr>
          </a:p>
        </p:txBody>
      </p:sp>
      <p:pic>
        <p:nvPicPr>
          <p:cNvPr id="102" name="Google Shape;102;p17"/>
          <p:cNvPicPr preferRelativeResize="0"/>
          <p:nvPr/>
        </p:nvPicPr>
        <p:blipFill>
          <a:blip r:embed="rId3"/>
          <a:stretch>
            <a:fillRect/>
          </a:stretch>
        </p:blipFill>
        <p:spPr>
          <a:xfrm>
            <a:off x="136875" y="2614625"/>
            <a:ext cx="5221300" cy="21247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07" name="Google Shape;107;p18"/>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200" b="1">
                <a:solidFill>
                  <a:schemeClr val="dk2"/>
                </a:solidFill>
              </a:rPr>
              <a:t>Background</a:t>
            </a:r>
            <a:endParaRPr sz="2200" b="1">
              <a:solidFill>
                <a:schemeClr val="dk2"/>
              </a:solidFill>
            </a:endParaRPr>
          </a:p>
        </p:txBody>
      </p:sp>
      <p:sp>
        <p:nvSpPr>
          <p:cNvPr id="108" name="Google Shape;108;p18"/>
          <p:cNvSpPr txBox="1"/>
          <p:nvPr/>
        </p:nvSpPr>
        <p:spPr>
          <a:xfrm>
            <a:off x="0" y="2078100"/>
            <a:ext cx="4901100" cy="3065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panose="020B0604020202020204"/>
              <a:buNone/>
            </a:pPr>
            <a:r>
              <a:rPr lang="zh-CN">
                <a:solidFill>
                  <a:schemeClr val="dk1"/>
                </a:solidFill>
              </a:rPr>
              <a:t>Social bot detection models based on deep learning also face this issue. Many models perform well on benchmark datasets, advancing our understanding of social bots. However, there are still significant challenges.</a:t>
            </a:r>
            <a:endParaRPr>
              <a:solidFill>
                <a:schemeClr val="dk1"/>
              </a:solidFill>
            </a:endParaRPr>
          </a:p>
        </p:txBody>
      </p:sp>
      <p:pic>
        <p:nvPicPr>
          <p:cNvPr id="109" name="Google Shape;109;p18"/>
          <p:cNvPicPr preferRelativeResize="0"/>
          <p:nvPr/>
        </p:nvPicPr>
        <p:blipFill>
          <a:blip r:embed="rId1"/>
          <a:stretch>
            <a:fillRect/>
          </a:stretch>
        </p:blipFill>
        <p:spPr>
          <a:xfrm>
            <a:off x="0" y="469150"/>
            <a:ext cx="1149175" cy="1149175"/>
          </a:xfrm>
          <a:prstGeom prst="rect">
            <a:avLst/>
          </a:prstGeom>
          <a:noFill/>
          <a:ln>
            <a:noFill/>
          </a:ln>
        </p:spPr>
      </p:pic>
      <p:pic>
        <p:nvPicPr>
          <p:cNvPr id="110" name="Google Shape;110;p18"/>
          <p:cNvPicPr preferRelativeResize="0"/>
          <p:nvPr/>
        </p:nvPicPr>
        <p:blipFill>
          <a:blip r:embed="rId2"/>
          <a:stretch>
            <a:fillRect/>
          </a:stretch>
        </p:blipFill>
        <p:spPr>
          <a:xfrm>
            <a:off x="1004100" y="401375"/>
            <a:ext cx="635250" cy="635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5" name="Google Shape;115;p19"/>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200" b="1">
                <a:solidFill>
                  <a:schemeClr val="dk2"/>
                </a:solidFill>
              </a:rPr>
              <a:t>Background</a:t>
            </a:r>
            <a:endParaRPr sz="2200" b="1">
              <a:solidFill>
                <a:schemeClr val="dk2"/>
              </a:solidFill>
            </a:endParaRPr>
          </a:p>
        </p:txBody>
      </p:sp>
      <p:sp>
        <p:nvSpPr>
          <p:cNvPr id="116" name="Google Shape;116;p19"/>
          <p:cNvSpPr txBox="1"/>
          <p:nvPr/>
        </p:nvSpPr>
        <p:spPr>
          <a:xfrm>
            <a:off x="0" y="2078100"/>
            <a:ext cx="4901100" cy="3065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zh-CN">
                <a:solidFill>
                  <a:schemeClr val="dk1"/>
                </a:solidFill>
              </a:rPr>
              <a:t>Social bot detection models based on deep learning also face this issue. Many models perform well on benchmark datasets, advancing our understanding of social bots. However, there are still significant challenges.</a:t>
            </a:r>
            <a:endParaRPr>
              <a:solidFill>
                <a:schemeClr val="dk1"/>
              </a:solidFill>
            </a:endParaRPr>
          </a:p>
          <a:p>
            <a:pPr marL="0" lvl="0" indent="0" algn="l" rtl="0">
              <a:lnSpc>
                <a:spcPct val="115000"/>
              </a:lnSpc>
              <a:spcBef>
                <a:spcPts val="1200"/>
              </a:spcBef>
              <a:spcAft>
                <a:spcPts val="1200"/>
              </a:spcAft>
              <a:buClr>
                <a:schemeClr val="dk1"/>
              </a:buClr>
              <a:buSzPts val="1100"/>
              <a:buFont typeface="Arial" panose="020B0604020202020204"/>
              <a:buNone/>
            </a:pPr>
            <a:r>
              <a:rPr lang="zh-CN">
                <a:solidFill>
                  <a:schemeClr val="dk1"/>
                </a:solidFill>
              </a:rPr>
              <a:t>For example, obtaining ground truth labels for social bots is difficult. We cannot reliably obtain true labels for these bots, except for the actual operators behind social bot accounts.</a:t>
            </a:r>
            <a:endParaRPr>
              <a:solidFill>
                <a:schemeClr val="dk1"/>
              </a:solidFill>
            </a:endParaRPr>
          </a:p>
        </p:txBody>
      </p:sp>
      <p:pic>
        <p:nvPicPr>
          <p:cNvPr id="117" name="Google Shape;117;p19"/>
          <p:cNvPicPr preferRelativeResize="0"/>
          <p:nvPr/>
        </p:nvPicPr>
        <p:blipFill>
          <a:blip r:embed="rId1"/>
          <a:stretch>
            <a:fillRect/>
          </a:stretch>
        </p:blipFill>
        <p:spPr>
          <a:xfrm>
            <a:off x="0" y="469150"/>
            <a:ext cx="1149175" cy="1149175"/>
          </a:xfrm>
          <a:prstGeom prst="rect">
            <a:avLst/>
          </a:prstGeom>
          <a:noFill/>
          <a:ln>
            <a:noFill/>
          </a:ln>
        </p:spPr>
      </p:pic>
      <p:pic>
        <p:nvPicPr>
          <p:cNvPr id="118" name="Google Shape;118;p19"/>
          <p:cNvPicPr preferRelativeResize="0"/>
          <p:nvPr/>
        </p:nvPicPr>
        <p:blipFill>
          <a:blip r:embed="rId2"/>
          <a:stretch>
            <a:fillRect/>
          </a:stretch>
        </p:blipFill>
        <p:spPr>
          <a:xfrm>
            <a:off x="1004100" y="401375"/>
            <a:ext cx="635250" cy="635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2" name="Shape 122"/>
        <p:cNvGrpSpPr/>
        <p:nvPr/>
      </p:nvGrpSpPr>
      <p:grpSpPr>
        <a:xfrm>
          <a:off x="0" y="0"/>
          <a:ext cx="0" cy="0"/>
          <a:chOff x="0" y="0"/>
          <a:chExt cx="0" cy="0"/>
        </a:xfrm>
      </p:grpSpPr>
      <p:sp>
        <p:nvSpPr>
          <p:cNvPr id="123" name="Google Shape;123;p20"/>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200" b="1">
                <a:solidFill>
                  <a:schemeClr val="dk2"/>
                </a:solidFill>
              </a:rPr>
              <a:t>Background</a:t>
            </a:r>
            <a:endParaRPr sz="2200" b="1">
              <a:solidFill>
                <a:schemeClr val="dk2"/>
              </a:solidFill>
            </a:endParaRPr>
          </a:p>
        </p:txBody>
      </p:sp>
      <p:pic>
        <p:nvPicPr>
          <p:cNvPr id="124" name="Google Shape;124;p20"/>
          <p:cNvPicPr preferRelativeResize="0"/>
          <p:nvPr/>
        </p:nvPicPr>
        <p:blipFill>
          <a:blip r:embed="rId1"/>
          <a:stretch>
            <a:fillRect/>
          </a:stretch>
        </p:blipFill>
        <p:spPr>
          <a:xfrm>
            <a:off x="4901100" y="-2250"/>
            <a:ext cx="4242899" cy="2712425"/>
          </a:xfrm>
          <a:prstGeom prst="rect">
            <a:avLst/>
          </a:prstGeom>
          <a:noFill/>
          <a:ln>
            <a:noFill/>
          </a:ln>
        </p:spPr>
      </p:pic>
      <p:sp>
        <p:nvSpPr>
          <p:cNvPr id="125" name="Google Shape;125;p20"/>
          <p:cNvSpPr txBox="1"/>
          <p:nvPr/>
        </p:nvSpPr>
        <p:spPr>
          <a:xfrm>
            <a:off x="4901100" y="2710175"/>
            <a:ext cx="4242900" cy="381600"/>
          </a:xfrm>
          <a:prstGeom prst="rect">
            <a:avLst/>
          </a:prstGeom>
          <a:noFill/>
          <a:ln>
            <a:noFill/>
          </a:ln>
        </p:spPr>
        <p:txBody>
          <a:bodyPr spcFirstLastPara="1" wrap="square" lIns="91425" tIns="91425" rIns="91425" bIns="91425" anchor="ctr" anchorCtr="0">
            <a:noAutofit/>
          </a:bodyPr>
          <a:lstStyle/>
          <a:p>
            <a:pPr marL="0" marR="952500" lvl="0" indent="0" algn="ctr" rtl="0">
              <a:lnSpc>
                <a:spcPct val="100000"/>
              </a:lnSpc>
              <a:spcBef>
                <a:spcPts val="0"/>
              </a:spcBef>
              <a:spcAft>
                <a:spcPts val="0"/>
              </a:spcAft>
              <a:buNone/>
            </a:pPr>
            <a:r>
              <a:rPr lang="zh-CN" sz="800">
                <a:solidFill>
                  <a:srgbClr val="1A0DAB"/>
                </a:solidFill>
                <a:highlight>
                  <a:srgbClr val="FFFFFF"/>
                </a:highlight>
                <a:uFill>
                  <a:noFill/>
                </a:uFill>
                <a:hlinkClick r:id="rId2"/>
              </a:rPr>
              <a:t>A </a:t>
            </a:r>
            <a:r>
              <a:rPr lang="zh-CN" sz="800">
                <a:solidFill>
                  <a:srgbClr val="DD4B39"/>
                </a:solidFill>
                <a:highlight>
                  <a:srgbClr val="FFFFFF"/>
                </a:highlight>
                <a:uFill>
                  <a:noFill/>
                </a:uFill>
                <a:hlinkClick r:id="rId2"/>
              </a:rPr>
              <a:t>decade </a:t>
            </a:r>
            <a:r>
              <a:rPr lang="zh-CN" sz="800">
                <a:solidFill>
                  <a:srgbClr val="1A0DAB"/>
                </a:solidFill>
                <a:highlight>
                  <a:srgbClr val="FFFFFF"/>
                </a:highlight>
                <a:uFill>
                  <a:noFill/>
                </a:uFill>
                <a:hlinkClick r:id="rId2"/>
              </a:rPr>
              <a:t>of </a:t>
            </a:r>
            <a:r>
              <a:rPr lang="zh-CN" sz="800">
                <a:solidFill>
                  <a:srgbClr val="DD4B39"/>
                </a:solidFill>
                <a:highlight>
                  <a:srgbClr val="FFFFFF"/>
                </a:highlight>
                <a:uFill>
                  <a:noFill/>
                </a:uFill>
                <a:hlinkClick r:id="rId2"/>
              </a:rPr>
              <a:t>social bot </a:t>
            </a:r>
            <a:r>
              <a:rPr lang="zh-CN" sz="800">
                <a:solidFill>
                  <a:srgbClr val="1A0DAB"/>
                </a:solidFill>
                <a:highlight>
                  <a:srgbClr val="FFFFFF"/>
                </a:highlight>
                <a:uFill>
                  <a:noFill/>
                </a:uFill>
                <a:hlinkClick r:id="rId2"/>
              </a:rPr>
              <a:t>detection</a:t>
            </a:r>
            <a:endParaRPr sz="500">
              <a:solidFill>
                <a:schemeClr val="dk2"/>
              </a:solidFill>
            </a:endParaRPr>
          </a:p>
          <a:p>
            <a:pPr marL="0" lvl="0" indent="0" algn="ctr" rtl="0">
              <a:lnSpc>
                <a:spcPct val="100000"/>
              </a:lnSpc>
              <a:spcBef>
                <a:spcPts val="200"/>
              </a:spcBef>
              <a:spcAft>
                <a:spcPts val="0"/>
              </a:spcAft>
              <a:buNone/>
            </a:pPr>
            <a:r>
              <a:rPr lang="zh-CN" sz="1000">
                <a:solidFill>
                  <a:schemeClr val="dk2"/>
                </a:solidFill>
              </a:rPr>
              <a:t>https://dl.acm.org/doi/pdf/10.1145/3409116</a:t>
            </a:r>
            <a:endParaRPr sz="1000">
              <a:solidFill>
                <a:schemeClr val="dk2"/>
              </a:solidFill>
            </a:endParaRPr>
          </a:p>
        </p:txBody>
      </p:sp>
      <p:sp>
        <p:nvSpPr>
          <p:cNvPr id="126" name="Google Shape;126;p20"/>
          <p:cNvSpPr txBox="1"/>
          <p:nvPr/>
        </p:nvSpPr>
        <p:spPr>
          <a:xfrm>
            <a:off x="0" y="2078100"/>
            <a:ext cx="4901100" cy="3065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zh-CN">
                <a:solidFill>
                  <a:schemeClr val="dk1"/>
                </a:solidFill>
              </a:rPr>
              <a:t>Social bot detection models based on deep learning also face this issue. Many models perform well on benchmark datasets, advancing our understanding of social bots. However, there are still significant challenges.</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r>
              <a:rPr lang="zh-CN">
                <a:solidFill>
                  <a:schemeClr val="dk1"/>
                </a:solidFill>
              </a:rPr>
              <a:t>For example, obtaining ground truth labels for social bots is difficult. We cannot reliably obtain true labels for these bots, except for the actual operators behind social bot accounts.</a:t>
            </a:r>
            <a:endParaRPr>
              <a:solidFill>
                <a:schemeClr val="dk1"/>
              </a:solidFill>
            </a:endParaRPr>
          </a:p>
          <a:p>
            <a:pPr marL="0" lvl="0" indent="0" algn="l" rtl="0">
              <a:spcBef>
                <a:spcPts val="1200"/>
              </a:spcBef>
              <a:spcAft>
                <a:spcPts val="0"/>
              </a:spcAft>
              <a:buNone/>
            </a:pPr>
            <a:r>
              <a:rPr lang="zh-CN">
                <a:solidFill>
                  <a:schemeClr val="dk1"/>
                </a:solidFill>
              </a:rPr>
              <a:t>Furthermore, social bots continue to evolve as social networks develop, constantly testing the limits of detection models. This drives us to consider more challenging scenarios to improve model robustness.</a:t>
            </a:r>
            <a:endParaRPr>
              <a:solidFill>
                <a:schemeClr val="dk1"/>
              </a:solidFill>
            </a:endParaRPr>
          </a:p>
        </p:txBody>
      </p:sp>
      <p:pic>
        <p:nvPicPr>
          <p:cNvPr id="127" name="Google Shape;127;p20"/>
          <p:cNvPicPr preferRelativeResize="0"/>
          <p:nvPr/>
        </p:nvPicPr>
        <p:blipFill>
          <a:blip r:embed="rId3"/>
          <a:stretch>
            <a:fillRect/>
          </a:stretch>
        </p:blipFill>
        <p:spPr>
          <a:xfrm>
            <a:off x="0" y="469150"/>
            <a:ext cx="1149175" cy="1149175"/>
          </a:xfrm>
          <a:prstGeom prst="rect">
            <a:avLst/>
          </a:prstGeom>
          <a:noFill/>
          <a:ln>
            <a:noFill/>
          </a:ln>
        </p:spPr>
      </p:pic>
      <p:pic>
        <p:nvPicPr>
          <p:cNvPr id="128" name="Google Shape;128;p20"/>
          <p:cNvPicPr preferRelativeResize="0"/>
          <p:nvPr/>
        </p:nvPicPr>
        <p:blipFill>
          <a:blip r:embed="rId4"/>
          <a:stretch>
            <a:fillRect/>
          </a:stretch>
        </p:blipFill>
        <p:spPr>
          <a:xfrm>
            <a:off x="1004100" y="401375"/>
            <a:ext cx="635250" cy="635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32" name="Shape 132"/>
        <p:cNvGrpSpPr/>
        <p:nvPr/>
      </p:nvGrpSpPr>
      <p:grpSpPr>
        <a:xfrm>
          <a:off x="0" y="0"/>
          <a:ext cx="0" cy="0"/>
          <a:chOff x="0" y="0"/>
          <a:chExt cx="0" cy="0"/>
        </a:xfrm>
      </p:grpSpPr>
      <p:pic>
        <p:nvPicPr>
          <p:cNvPr id="133" name="Google Shape;133;p21"/>
          <p:cNvPicPr preferRelativeResize="0"/>
          <p:nvPr/>
        </p:nvPicPr>
        <p:blipFill>
          <a:blip r:embed="rId1"/>
          <a:stretch>
            <a:fillRect/>
          </a:stretch>
        </p:blipFill>
        <p:spPr>
          <a:xfrm>
            <a:off x="4104850" y="0"/>
            <a:ext cx="4998024" cy="5143499"/>
          </a:xfrm>
          <a:prstGeom prst="rect">
            <a:avLst/>
          </a:prstGeom>
          <a:noFill/>
          <a:ln>
            <a:noFill/>
          </a:ln>
        </p:spPr>
      </p:pic>
      <p:sp>
        <p:nvSpPr>
          <p:cNvPr id="134" name="Google Shape;134;p21"/>
          <p:cNvSpPr txBox="1"/>
          <p:nvPr/>
        </p:nvSpPr>
        <p:spPr>
          <a:xfrm>
            <a:off x="129525" y="152400"/>
            <a:ext cx="2172600" cy="6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Motivation</a:t>
            </a:r>
            <a:endParaRPr sz="2500">
              <a:solidFill>
                <a:schemeClr val="dk2"/>
              </a:solidFill>
            </a:endParaRPr>
          </a:p>
        </p:txBody>
      </p:sp>
      <p:sp>
        <p:nvSpPr>
          <p:cNvPr id="135" name="Google Shape;135;p21"/>
          <p:cNvSpPr txBox="1"/>
          <p:nvPr/>
        </p:nvSpPr>
        <p:spPr>
          <a:xfrm>
            <a:off x="0" y="1174500"/>
            <a:ext cx="4167300" cy="322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zh-CN" sz="1500">
                <a:solidFill>
                  <a:schemeClr val="dk2"/>
                </a:solidFill>
              </a:rPr>
              <a:t>Explored how potential shortcut features impact social bot detection models. </a:t>
            </a:r>
            <a:endParaRPr sz="1500">
              <a:solidFill>
                <a:schemeClr val="dk2"/>
              </a:solidFill>
            </a:endParaRPr>
          </a:p>
          <a:p>
            <a:pPr marL="0" lvl="0" indent="0" algn="l" rtl="0">
              <a:lnSpc>
                <a:spcPct val="115000"/>
              </a:lnSpc>
              <a:spcBef>
                <a:spcPts val="1200"/>
              </a:spcBef>
              <a:spcAft>
                <a:spcPts val="1200"/>
              </a:spcAft>
              <a:buNone/>
            </a:pPr>
            <a:endParaRPr sz="15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39" name="Shape 139"/>
        <p:cNvGrpSpPr/>
        <p:nvPr/>
      </p:nvGrpSpPr>
      <p:grpSpPr>
        <a:xfrm>
          <a:off x="0" y="0"/>
          <a:ext cx="0" cy="0"/>
          <a:chOff x="0" y="0"/>
          <a:chExt cx="0" cy="0"/>
        </a:xfrm>
      </p:grpSpPr>
      <p:pic>
        <p:nvPicPr>
          <p:cNvPr id="140" name="Google Shape;140;p22"/>
          <p:cNvPicPr preferRelativeResize="0"/>
          <p:nvPr/>
        </p:nvPicPr>
        <p:blipFill>
          <a:blip r:embed="rId1"/>
          <a:stretch>
            <a:fillRect/>
          </a:stretch>
        </p:blipFill>
        <p:spPr>
          <a:xfrm>
            <a:off x="4104850" y="0"/>
            <a:ext cx="4998024" cy="5143499"/>
          </a:xfrm>
          <a:prstGeom prst="rect">
            <a:avLst/>
          </a:prstGeom>
          <a:noFill/>
          <a:ln>
            <a:noFill/>
          </a:ln>
        </p:spPr>
      </p:pic>
      <p:sp>
        <p:nvSpPr>
          <p:cNvPr id="141" name="Google Shape;141;p22"/>
          <p:cNvSpPr txBox="1"/>
          <p:nvPr/>
        </p:nvSpPr>
        <p:spPr>
          <a:xfrm>
            <a:off x="129525" y="152400"/>
            <a:ext cx="2172600" cy="6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Motivation</a:t>
            </a:r>
            <a:endParaRPr sz="2500">
              <a:solidFill>
                <a:schemeClr val="dk2"/>
              </a:solidFill>
            </a:endParaRPr>
          </a:p>
        </p:txBody>
      </p:sp>
      <p:sp>
        <p:nvSpPr>
          <p:cNvPr id="142" name="Google Shape;142;p22"/>
          <p:cNvSpPr txBox="1"/>
          <p:nvPr/>
        </p:nvSpPr>
        <p:spPr>
          <a:xfrm>
            <a:off x="0" y="1174500"/>
            <a:ext cx="4167300" cy="322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zh-CN" sz="1500">
                <a:solidFill>
                  <a:schemeClr val="dk2"/>
                </a:solidFill>
              </a:rPr>
              <a:t>Explored how potential shortcut features impact social bot detection models. </a:t>
            </a:r>
            <a:endParaRPr sz="1500">
              <a:solidFill>
                <a:schemeClr val="dk2"/>
              </a:solidFill>
            </a:endParaRPr>
          </a:p>
          <a:p>
            <a:pPr marL="0" lvl="0" indent="0" algn="l" rtl="0">
              <a:lnSpc>
                <a:spcPct val="115000"/>
              </a:lnSpc>
              <a:spcBef>
                <a:spcPts val="1200"/>
              </a:spcBef>
              <a:spcAft>
                <a:spcPts val="0"/>
              </a:spcAft>
              <a:buClr>
                <a:schemeClr val="dk1"/>
              </a:buClr>
              <a:buSzPts val="1100"/>
              <a:buFont typeface="Arial" panose="020B0604020202020204"/>
              <a:buNone/>
            </a:pPr>
            <a:r>
              <a:rPr lang="zh-CN" sz="1500">
                <a:solidFill>
                  <a:schemeClr val="dk2"/>
                </a:solidFill>
              </a:rPr>
              <a:t>Focused on the generalization ability of these models and how they react to </a:t>
            </a:r>
            <a:r>
              <a:rPr lang="zh-CN" sz="1500" b="1">
                <a:solidFill>
                  <a:schemeClr val="dk2"/>
                </a:solidFill>
              </a:rPr>
              <a:t>shortcut features</a:t>
            </a:r>
            <a:r>
              <a:rPr lang="zh-CN" sz="1500">
                <a:solidFill>
                  <a:schemeClr val="dk2"/>
                </a:solidFill>
              </a:rPr>
              <a:t>, particularly in social media users' textual features.</a:t>
            </a:r>
            <a:endParaRPr sz="1500">
              <a:solidFill>
                <a:schemeClr val="dk2"/>
              </a:solidFill>
            </a:endParaRPr>
          </a:p>
          <a:p>
            <a:pPr marL="0" lvl="0" indent="0" algn="l" rtl="0">
              <a:lnSpc>
                <a:spcPct val="115000"/>
              </a:lnSpc>
              <a:spcBef>
                <a:spcPts val="1200"/>
              </a:spcBef>
              <a:spcAft>
                <a:spcPts val="1200"/>
              </a:spcAft>
              <a:buNone/>
            </a:pPr>
            <a:endParaRPr sz="15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46" name="Shape 146"/>
        <p:cNvGrpSpPr/>
        <p:nvPr/>
      </p:nvGrpSpPr>
      <p:grpSpPr>
        <a:xfrm>
          <a:off x="0" y="0"/>
          <a:ext cx="0" cy="0"/>
          <a:chOff x="0" y="0"/>
          <a:chExt cx="0" cy="0"/>
        </a:xfrm>
      </p:grpSpPr>
      <p:pic>
        <p:nvPicPr>
          <p:cNvPr id="147" name="Google Shape;147;p23"/>
          <p:cNvPicPr preferRelativeResize="0"/>
          <p:nvPr/>
        </p:nvPicPr>
        <p:blipFill>
          <a:blip r:embed="rId1"/>
          <a:stretch>
            <a:fillRect/>
          </a:stretch>
        </p:blipFill>
        <p:spPr>
          <a:xfrm>
            <a:off x="4104850" y="0"/>
            <a:ext cx="4998024" cy="5143499"/>
          </a:xfrm>
          <a:prstGeom prst="rect">
            <a:avLst/>
          </a:prstGeom>
          <a:noFill/>
          <a:ln>
            <a:noFill/>
          </a:ln>
        </p:spPr>
      </p:pic>
      <p:sp>
        <p:nvSpPr>
          <p:cNvPr id="148" name="Google Shape;148;p23"/>
          <p:cNvSpPr txBox="1"/>
          <p:nvPr/>
        </p:nvSpPr>
        <p:spPr>
          <a:xfrm>
            <a:off x="129525" y="152400"/>
            <a:ext cx="2172600" cy="6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Motivation</a:t>
            </a:r>
            <a:endParaRPr sz="2500">
              <a:solidFill>
                <a:schemeClr val="dk2"/>
              </a:solidFill>
            </a:endParaRPr>
          </a:p>
        </p:txBody>
      </p:sp>
      <p:sp>
        <p:nvSpPr>
          <p:cNvPr id="149" name="Google Shape;149;p23"/>
          <p:cNvSpPr txBox="1"/>
          <p:nvPr/>
        </p:nvSpPr>
        <p:spPr>
          <a:xfrm>
            <a:off x="0" y="1174500"/>
            <a:ext cx="4167300" cy="322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zh-CN" sz="1500">
                <a:solidFill>
                  <a:schemeClr val="dk2"/>
                </a:solidFill>
              </a:rPr>
              <a:t>Explored how potential shortcut features impact social bot detection models. </a:t>
            </a:r>
            <a:endParaRPr sz="1500">
              <a:solidFill>
                <a:schemeClr val="dk2"/>
              </a:solidFill>
            </a:endParaRPr>
          </a:p>
          <a:p>
            <a:pPr marL="0" lvl="0" indent="0" algn="l" rtl="0">
              <a:lnSpc>
                <a:spcPct val="115000"/>
              </a:lnSpc>
              <a:spcBef>
                <a:spcPts val="1200"/>
              </a:spcBef>
              <a:spcAft>
                <a:spcPts val="0"/>
              </a:spcAft>
              <a:buClr>
                <a:schemeClr val="dk1"/>
              </a:buClr>
              <a:buSzPts val="1100"/>
              <a:buFont typeface="Arial" panose="020B0604020202020204"/>
              <a:buNone/>
            </a:pPr>
            <a:r>
              <a:rPr lang="zh-CN" sz="1500">
                <a:solidFill>
                  <a:schemeClr val="dk2"/>
                </a:solidFill>
              </a:rPr>
              <a:t>Focused on the generalization ability of these models and how they react to shortcut features, particularly in social media users' textual features.</a:t>
            </a:r>
            <a:endParaRPr sz="1500">
              <a:solidFill>
                <a:schemeClr val="dk2"/>
              </a:solidFill>
            </a:endParaRPr>
          </a:p>
          <a:p>
            <a:pPr marL="0" lvl="0" indent="0" algn="l" rtl="0">
              <a:lnSpc>
                <a:spcPct val="115000"/>
              </a:lnSpc>
              <a:spcBef>
                <a:spcPts val="1200"/>
              </a:spcBef>
              <a:spcAft>
                <a:spcPts val="1200"/>
              </a:spcAft>
              <a:buNone/>
            </a:pPr>
            <a:r>
              <a:rPr lang="zh-CN" sz="1500">
                <a:solidFill>
                  <a:schemeClr val="dk2"/>
                </a:solidFill>
              </a:rPr>
              <a:t>Propose a debiasing strategy at both the data and model levels, leveraging large language models (LLMs) to enhance detection system robustness in shortcut learning scenarios.</a:t>
            </a:r>
            <a:endParaRPr sz="15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53" name="Shape 153"/>
        <p:cNvGrpSpPr/>
        <p:nvPr/>
      </p:nvGrpSpPr>
      <p:grpSpPr>
        <a:xfrm>
          <a:off x="0" y="0"/>
          <a:ext cx="0" cy="0"/>
          <a:chOff x="0" y="0"/>
          <a:chExt cx="0" cy="0"/>
        </a:xfrm>
      </p:grpSpPr>
      <p:grpSp>
        <p:nvGrpSpPr>
          <p:cNvPr id="154" name="Google Shape;154;p24"/>
          <p:cNvGrpSpPr/>
          <p:nvPr/>
        </p:nvGrpSpPr>
        <p:grpSpPr>
          <a:xfrm>
            <a:off x="0" y="1377055"/>
            <a:ext cx="5443631" cy="3650993"/>
            <a:chOff x="4571992" y="882200"/>
            <a:chExt cx="4040100" cy="3160759"/>
          </a:xfrm>
        </p:grpSpPr>
        <p:pic>
          <p:nvPicPr>
            <p:cNvPr id="155" name="Google Shape;155;p24"/>
            <p:cNvPicPr preferRelativeResize="0"/>
            <p:nvPr/>
          </p:nvPicPr>
          <p:blipFill>
            <a:blip r:embed="rId1"/>
            <a:stretch>
              <a:fillRect/>
            </a:stretch>
          </p:blipFill>
          <p:spPr>
            <a:xfrm>
              <a:off x="6581775" y="882200"/>
              <a:ext cx="825575" cy="825575"/>
            </a:xfrm>
            <a:prstGeom prst="rect">
              <a:avLst/>
            </a:prstGeom>
            <a:noFill/>
            <a:ln>
              <a:noFill/>
            </a:ln>
          </p:spPr>
        </p:pic>
        <p:pic>
          <p:nvPicPr>
            <p:cNvPr id="156" name="Google Shape;156;p24"/>
            <p:cNvPicPr preferRelativeResize="0"/>
            <p:nvPr/>
          </p:nvPicPr>
          <p:blipFill>
            <a:blip r:embed="rId2"/>
            <a:stretch>
              <a:fillRect/>
            </a:stretch>
          </p:blipFill>
          <p:spPr>
            <a:xfrm>
              <a:off x="5132525" y="882200"/>
              <a:ext cx="825575" cy="825575"/>
            </a:xfrm>
            <a:prstGeom prst="rect">
              <a:avLst/>
            </a:prstGeom>
            <a:noFill/>
            <a:ln>
              <a:noFill/>
            </a:ln>
          </p:spPr>
        </p:pic>
        <p:sp>
          <p:nvSpPr>
            <p:cNvPr id="157" name="Google Shape;157;p24"/>
            <p:cNvSpPr txBox="1"/>
            <p:nvPr/>
          </p:nvSpPr>
          <p:spPr>
            <a:xfrm>
              <a:off x="4571992" y="1749759"/>
              <a:ext cx="4040100" cy="2293200"/>
            </a:xfrm>
            <a:prstGeom prst="rect">
              <a:avLst/>
            </a:prstGeom>
            <a:noFill/>
            <a:ln>
              <a:noFill/>
            </a:ln>
          </p:spPr>
          <p:txBody>
            <a:bodyPr spcFirstLastPara="1" wrap="square" lIns="123175" tIns="123175" rIns="123175" bIns="123175" anchor="t" anchorCtr="0">
              <a:spAutoFit/>
            </a:bodyPr>
            <a:lstStyle/>
            <a:p>
              <a:pPr marL="0" lvl="0" indent="0" algn="l" rtl="0">
                <a:lnSpc>
                  <a:spcPct val="115000"/>
                </a:lnSpc>
                <a:spcBef>
                  <a:spcPts val="1000"/>
                </a:spcBef>
                <a:spcAft>
                  <a:spcPts val="0"/>
                </a:spcAft>
                <a:buClr>
                  <a:schemeClr val="dk1"/>
                </a:buClr>
                <a:buSzPts val="1100"/>
                <a:buFont typeface="Arial" panose="020B0604020202020204"/>
                <a:buNone/>
              </a:pPr>
              <a:r>
                <a:rPr lang="zh-CN" sz="2400">
                  <a:solidFill>
                    <a:srgbClr val="333333"/>
                  </a:solidFill>
                </a:rPr>
                <a:t>F</a:t>
              </a:r>
              <a:r>
                <a:rPr lang="zh-CN" sz="2400">
                  <a:solidFill>
                    <a:srgbClr val="333333"/>
                  </a:solidFill>
                </a:rPr>
                <a:t>ocus on textual information</a:t>
              </a:r>
              <a:endParaRPr sz="2400"/>
            </a:p>
            <a:p>
              <a:pPr marL="457200" lvl="0" indent="-381000" algn="l" rtl="0">
                <a:spcBef>
                  <a:spcPts val="1000"/>
                </a:spcBef>
                <a:spcAft>
                  <a:spcPts val="0"/>
                </a:spcAft>
                <a:buSzPts val="2400"/>
                <a:buAutoNum type="arabicPeriod"/>
              </a:pPr>
              <a:r>
                <a:rPr lang="zh-CN" sz="2400"/>
                <a:t>The core carrier of social interaction</a:t>
              </a:r>
              <a:endParaRPr sz="2400"/>
            </a:p>
            <a:p>
              <a:pPr marL="457200" lvl="0" indent="-381000" algn="l" rtl="0">
                <a:spcBef>
                  <a:spcPts val="0"/>
                </a:spcBef>
                <a:spcAft>
                  <a:spcPts val="0"/>
                </a:spcAft>
                <a:buSzPts val="2400"/>
                <a:buAutoNum type="arabicPeriod"/>
              </a:pPr>
              <a:r>
                <a:rPr lang="zh-CN" sz="2400"/>
                <a:t>Easy for bots to manipulate and generate</a:t>
              </a:r>
              <a:endParaRPr sz="2400"/>
            </a:p>
            <a:p>
              <a:pPr marL="457200" lvl="0" indent="-381000" algn="l" rtl="0">
                <a:spcBef>
                  <a:spcPts val="0"/>
                </a:spcBef>
                <a:spcAft>
                  <a:spcPts val="0"/>
                </a:spcAft>
                <a:buSzPts val="2400"/>
                <a:buAutoNum type="arabicPeriod"/>
              </a:pPr>
              <a:r>
                <a:rPr lang="zh-CN" sz="2400"/>
                <a:t>Quantifiable and controllable</a:t>
              </a:r>
              <a:endParaRPr sz="2400"/>
            </a:p>
          </p:txBody>
        </p:sp>
      </p:grpSp>
      <p:pic>
        <p:nvPicPr>
          <p:cNvPr id="158" name="Google Shape;158;p24"/>
          <p:cNvPicPr preferRelativeResize="0"/>
          <p:nvPr/>
        </p:nvPicPr>
        <p:blipFill>
          <a:blip r:embed="rId3"/>
          <a:stretch>
            <a:fillRect/>
          </a:stretch>
        </p:blipFill>
        <p:spPr>
          <a:xfrm>
            <a:off x="5241675" y="2571750"/>
            <a:ext cx="3902325" cy="2571750"/>
          </a:xfrm>
          <a:prstGeom prst="rect">
            <a:avLst/>
          </a:prstGeom>
          <a:noFill/>
          <a:ln>
            <a:noFill/>
          </a:ln>
        </p:spPr>
      </p:pic>
      <p:sp>
        <p:nvSpPr>
          <p:cNvPr id="159" name="Google Shape;159;p24"/>
          <p:cNvSpPr txBox="1"/>
          <p:nvPr/>
        </p:nvSpPr>
        <p:spPr>
          <a:xfrm>
            <a:off x="0" y="0"/>
            <a:ext cx="4250400" cy="9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Methods</a:t>
            </a:r>
            <a:endParaRPr sz="2500">
              <a:solidFill>
                <a:schemeClr val="dk2"/>
              </a:solidFill>
            </a:endParaRPr>
          </a:p>
          <a:p>
            <a:pPr marL="0" lvl="0" indent="0" algn="l" rtl="0">
              <a:spcBef>
                <a:spcPts val="0"/>
              </a:spcBef>
              <a:spcAft>
                <a:spcPts val="0"/>
              </a:spcAft>
              <a:buNone/>
            </a:pPr>
            <a:r>
              <a:rPr lang="zh-CN" sz="2500">
                <a:solidFill>
                  <a:schemeClr val="dk2"/>
                </a:solidFill>
              </a:rPr>
              <a:t>Shortcut Settings</a:t>
            </a:r>
            <a:endParaRPr sz="25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63" name="Shape 163"/>
        <p:cNvGrpSpPr/>
        <p:nvPr/>
      </p:nvGrpSpPr>
      <p:grpSpPr>
        <a:xfrm>
          <a:off x="0" y="0"/>
          <a:ext cx="0" cy="0"/>
          <a:chOff x="0" y="0"/>
          <a:chExt cx="0" cy="0"/>
        </a:xfrm>
      </p:grpSpPr>
      <p:pic>
        <p:nvPicPr>
          <p:cNvPr id="164" name="Google Shape;164;p25"/>
          <p:cNvPicPr preferRelativeResize="0"/>
          <p:nvPr/>
        </p:nvPicPr>
        <p:blipFill>
          <a:blip r:embed="rId1"/>
          <a:stretch>
            <a:fillRect/>
          </a:stretch>
        </p:blipFill>
        <p:spPr>
          <a:xfrm>
            <a:off x="4813500" y="526275"/>
            <a:ext cx="4178249" cy="4389674"/>
          </a:xfrm>
          <a:prstGeom prst="rect">
            <a:avLst/>
          </a:prstGeom>
          <a:noFill/>
          <a:ln>
            <a:noFill/>
          </a:ln>
        </p:spPr>
      </p:pic>
      <p:sp>
        <p:nvSpPr>
          <p:cNvPr id="165" name="Google Shape;165;p25"/>
          <p:cNvSpPr txBox="1"/>
          <p:nvPr/>
        </p:nvSpPr>
        <p:spPr>
          <a:xfrm>
            <a:off x="0" y="1345050"/>
            <a:ext cx="4813500" cy="26475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Char char="●"/>
            </a:pPr>
            <a:r>
              <a:rPr lang="zh-CN" sz="2000"/>
              <a:t>Social bot detection as a binary classification task</a:t>
            </a:r>
            <a:br>
              <a:rPr lang="zh-CN" sz="2000"/>
            </a:br>
            <a:endParaRPr sz="2000"/>
          </a:p>
          <a:p>
            <a:pPr marL="457200" lvl="0" indent="-355600" algn="l" rtl="0">
              <a:spcBef>
                <a:spcPts val="0"/>
              </a:spcBef>
              <a:spcAft>
                <a:spcPts val="0"/>
              </a:spcAft>
              <a:buSzPts val="2000"/>
              <a:buChar char="●"/>
            </a:pPr>
            <a:r>
              <a:rPr lang="zh-CN" sz="2000"/>
              <a:t>Each user represented by textual feature vectors</a:t>
            </a:r>
            <a:br>
              <a:rPr lang="zh-CN" sz="2000"/>
            </a:br>
            <a:endParaRPr sz="2000"/>
          </a:p>
          <a:p>
            <a:pPr marL="457200" lvl="0" indent="-355600" algn="l" rtl="0">
              <a:spcBef>
                <a:spcPts val="0"/>
              </a:spcBef>
              <a:spcAft>
                <a:spcPts val="0"/>
              </a:spcAft>
              <a:buSzPts val="2000"/>
              <a:buChar char="●"/>
            </a:pPr>
            <a:r>
              <a:rPr lang="zh-CN" sz="2000"/>
              <a:t>Explicitly correlate shortcut features with labels in training</a:t>
            </a:r>
            <a:endParaRPr sz="2000"/>
          </a:p>
        </p:txBody>
      </p:sp>
      <p:sp>
        <p:nvSpPr>
          <p:cNvPr id="166" name="Google Shape;166;p25"/>
          <p:cNvSpPr txBox="1"/>
          <p:nvPr/>
        </p:nvSpPr>
        <p:spPr>
          <a:xfrm>
            <a:off x="0" y="0"/>
            <a:ext cx="3108900" cy="95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Methods</a:t>
            </a:r>
            <a:endParaRPr sz="2500">
              <a:solidFill>
                <a:schemeClr val="dk2"/>
              </a:solidFill>
            </a:endParaRPr>
          </a:p>
          <a:p>
            <a:pPr marL="0" lvl="0" indent="0" algn="l" rtl="0">
              <a:spcBef>
                <a:spcPts val="0"/>
              </a:spcBef>
              <a:spcAft>
                <a:spcPts val="0"/>
              </a:spcAft>
              <a:buNone/>
            </a:pPr>
            <a:r>
              <a:rPr lang="zh-CN" sz="2500">
                <a:solidFill>
                  <a:schemeClr val="dk2"/>
                </a:solidFill>
              </a:rPr>
              <a:t>Shortcut Settings</a:t>
            </a:r>
            <a:endParaRPr sz="25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70" name="Shape 170"/>
        <p:cNvGrpSpPr/>
        <p:nvPr/>
      </p:nvGrpSpPr>
      <p:grpSpPr>
        <a:xfrm>
          <a:off x="0" y="0"/>
          <a:ext cx="0" cy="0"/>
          <a:chOff x="0" y="0"/>
          <a:chExt cx="0" cy="0"/>
        </a:xfrm>
      </p:grpSpPr>
      <p:sp>
        <p:nvSpPr>
          <p:cNvPr id="171" name="Google Shape;171;p26"/>
          <p:cNvSpPr txBox="1"/>
          <p:nvPr/>
        </p:nvSpPr>
        <p:spPr>
          <a:xfrm>
            <a:off x="0" y="1345050"/>
            <a:ext cx="4813500" cy="35709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Char char="●"/>
            </a:pPr>
            <a:r>
              <a:rPr lang="zh-CN" sz="2000"/>
              <a:t>Social bot detection as a binary classification task</a:t>
            </a:r>
            <a:br>
              <a:rPr lang="zh-CN" sz="2000"/>
            </a:br>
            <a:endParaRPr sz="2000"/>
          </a:p>
          <a:p>
            <a:pPr marL="457200" lvl="0" indent="-355600" algn="l" rtl="0">
              <a:spcBef>
                <a:spcPts val="0"/>
              </a:spcBef>
              <a:spcAft>
                <a:spcPts val="0"/>
              </a:spcAft>
              <a:buSzPts val="2000"/>
              <a:buChar char="●"/>
            </a:pPr>
            <a:r>
              <a:rPr lang="zh-CN" sz="2000"/>
              <a:t>Each user represented by textual feature vectors</a:t>
            </a:r>
            <a:br>
              <a:rPr lang="zh-CN" sz="2000"/>
            </a:br>
            <a:endParaRPr sz="2000"/>
          </a:p>
          <a:p>
            <a:pPr marL="457200" lvl="0" indent="-355600" algn="l" rtl="0">
              <a:spcBef>
                <a:spcPts val="0"/>
              </a:spcBef>
              <a:spcAft>
                <a:spcPts val="0"/>
              </a:spcAft>
              <a:buSzPts val="2000"/>
              <a:buChar char="●"/>
            </a:pPr>
            <a:r>
              <a:rPr lang="zh-CN" sz="2000"/>
              <a:t>Explicitly correlate shortcut features with labels in training</a:t>
            </a:r>
            <a:br>
              <a:rPr lang="zh-CN" sz="2000"/>
            </a:br>
            <a:endParaRPr sz="2000"/>
          </a:p>
          <a:p>
            <a:pPr marL="457200" lvl="0" indent="-355600" algn="l" rtl="0">
              <a:spcBef>
                <a:spcPts val="0"/>
              </a:spcBef>
              <a:spcAft>
                <a:spcPts val="0"/>
              </a:spcAft>
              <a:buSzPts val="2000"/>
              <a:buChar char="●"/>
            </a:pPr>
            <a:r>
              <a:rPr lang="zh-CN" sz="2000"/>
              <a:t>Reverse or break this correlation at test time</a:t>
            </a:r>
            <a:endParaRPr sz="2000"/>
          </a:p>
        </p:txBody>
      </p:sp>
      <p:sp>
        <p:nvSpPr>
          <p:cNvPr id="172" name="Google Shape;172;p26"/>
          <p:cNvSpPr txBox="1"/>
          <p:nvPr/>
        </p:nvSpPr>
        <p:spPr>
          <a:xfrm>
            <a:off x="0" y="0"/>
            <a:ext cx="3108900" cy="95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Methods</a:t>
            </a:r>
            <a:endParaRPr sz="2500">
              <a:solidFill>
                <a:schemeClr val="dk2"/>
              </a:solidFill>
            </a:endParaRPr>
          </a:p>
          <a:p>
            <a:pPr marL="0" lvl="0" indent="0" algn="l" rtl="0">
              <a:spcBef>
                <a:spcPts val="0"/>
              </a:spcBef>
              <a:spcAft>
                <a:spcPts val="0"/>
              </a:spcAft>
              <a:buNone/>
            </a:pPr>
            <a:r>
              <a:rPr lang="zh-CN" sz="2500">
                <a:solidFill>
                  <a:schemeClr val="dk2"/>
                </a:solidFill>
              </a:rPr>
              <a:t>Shortcut Settings</a:t>
            </a:r>
            <a:endParaRPr sz="2500">
              <a:solidFill>
                <a:schemeClr val="dk2"/>
              </a:solidFill>
            </a:endParaRPr>
          </a:p>
        </p:txBody>
      </p:sp>
      <p:pic>
        <p:nvPicPr>
          <p:cNvPr id="173" name="Google Shape;173;p26"/>
          <p:cNvPicPr preferRelativeResize="0"/>
          <p:nvPr/>
        </p:nvPicPr>
        <p:blipFill>
          <a:blip r:embed="rId1"/>
          <a:stretch>
            <a:fillRect/>
          </a:stretch>
        </p:blipFill>
        <p:spPr>
          <a:xfrm>
            <a:off x="5778375" y="0"/>
            <a:ext cx="3365625" cy="25045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77" name="Shape 177"/>
        <p:cNvGrpSpPr/>
        <p:nvPr/>
      </p:nvGrpSpPr>
      <p:grpSpPr>
        <a:xfrm>
          <a:off x="0" y="0"/>
          <a:ext cx="0" cy="0"/>
          <a:chOff x="0" y="0"/>
          <a:chExt cx="0" cy="0"/>
        </a:xfrm>
      </p:grpSpPr>
      <p:sp>
        <p:nvSpPr>
          <p:cNvPr id="178" name="Google Shape;178;p27"/>
          <p:cNvSpPr txBox="1"/>
          <p:nvPr/>
        </p:nvSpPr>
        <p:spPr>
          <a:xfrm>
            <a:off x="0" y="0"/>
            <a:ext cx="2679300" cy="95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Methods</a:t>
            </a:r>
            <a:endParaRPr sz="2500">
              <a:solidFill>
                <a:schemeClr val="dk2"/>
              </a:solidFill>
            </a:endParaRPr>
          </a:p>
          <a:p>
            <a:pPr marL="0" lvl="0" indent="0" algn="l" rtl="0">
              <a:spcBef>
                <a:spcPts val="0"/>
              </a:spcBef>
              <a:spcAft>
                <a:spcPts val="0"/>
              </a:spcAft>
              <a:buNone/>
            </a:pPr>
            <a:r>
              <a:rPr lang="zh-CN" sz="2500">
                <a:solidFill>
                  <a:schemeClr val="dk2"/>
                </a:solidFill>
              </a:rPr>
              <a:t>Shortcut Settings</a:t>
            </a:r>
            <a:endParaRPr sz="2500">
              <a:solidFill>
                <a:schemeClr val="dk2"/>
              </a:solidFill>
            </a:endParaRPr>
          </a:p>
        </p:txBody>
      </p:sp>
      <p:grpSp>
        <p:nvGrpSpPr>
          <p:cNvPr id="179" name="Google Shape;179;p27"/>
          <p:cNvGrpSpPr/>
          <p:nvPr/>
        </p:nvGrpSpPr>
        <p:grpSpPr>
          <a:xfrm>
            <a:off x="0" y="1304951"/>
            <a:ext cx="4287832" cy="3838552"/>
            <a:chOff x="82400" y="1298451"/>
            <a:chExt cx="4287832" cy="3838552"/>
          </a:xfrm>
        </p:grpSpPr>
        <p:pic>
          <p:nvPicPr>
            <p:cNvPr id="180" name="Google Shape;180;p27"/>
            <p:cNvPicPr preferRelativeResize="0"/>
            <p:nvPr/>
          </p:nvPicPr>
          <p:blipFill>
            <a:blip r:embed="rId1"/>
            <a:stretch>
              <a:fillRect/>
            </a:stretch>
          </p:blipFill>
          <p:spPr>
            <a:xfrm>
              <a:off x="126775" y="1298451"/>
              <a:ext cx="4005425" cy="712275"/>
            </a:xfrm>
            <a:prstGeom prst="rect">
              <a:avLst/>
            </a:prstGeom>
            <a:noFill/>
            <a:ln>
              <a:noFill/>
            </a:ln>
          </p:spPr>
        </p:pic>
        <p:pic>
          <p:nvPicPr>
            <p:cNvPr id="181" name="Google Shape;181;p27"/>
            <p:cNvPicPr preferRelativeResize="0"/>
            <p:nvPr/>
          </p:nvPicPr>
          <p:blipFill>
            <a:blip r:embed="rId2"/>
            <a:stretch>
              <a:fillRect/>
            </a:stretch>
          </p:blipFill>
          <p:spPr>
            <a:xfrm>
              <a:off x="133510" y="2042253"/>
              <a:ext cx="4236721" cy="916083"/>
            </a:xfrm>
            <a:prstGeom prst="rect">
              <a:avLst/>
            </a:prstGeom>
            <a:noFill/>
            <a:ln>
              <a:noFill/>
            </a:ln>
          </p:spPr>
        </p:pic>
        <p:pic>
          <p:nvPicPr>
            <p:cNvPr id="182" name="Google Shape;182;p27"/>
            <p:cNvPicPr preferRelativeResize="0"/>
            <p:nvPr/>
          </p:nvPicPr>
          <p:blipFill>
            <a:blip r:embed="rId3"/>
            <a:stretch>
              <a:fillRect/>
            </a:stretch>
          </p:blipFill>
          <p:spPr>
            <a:xfrm>
              <a:off x="82400" y="2960700"/>
              <a:ext cx="3881175" cy="762750"/>
            </a:xfrm>
            <a:prstGeom prst="rect">
              <a:avLst/>
            </a:prstGeom>
            <a:noFill/>
            <a:ln>
              <a:noFill/>
            </a:ln>
          </p:spPr>
        </p:pic>
        <p:pic>
          <p:nvPicPr>
            <p:cNvPr id="183" name="Google Shape;183;p27"/>
            <p:cNvPicPr preferRelativeResize="0"/>
            <p:nvPr/>
          </p:nvPicPr>
          <p:blipFill>
            <a:blip r:embed="rId4"/>
            <a:stretch>
              <a:fillRect/>
            </a:stretch>
          </p:blipFill>
          <p:spPr>
            <a:xfrm>
              <a:off x="109325" y="3723450"/>
              <a:ext cx="3881176" cy="1413552"/>
            </a:xfrm>
            <a:prstGeom prst="rect">
              <a:avLst/>
            </a:prstGeom>
            <a:noFill/>
            <a:ln>
              <a:noFill/>
            </a:ln>
          </p:spPr>
        </p:pic>
      </p:grpSp>
      <p:sp>
        <p:nvSpPr>
          <p:cNvPr id="184" name="Google Shape;184;p27"/>
          <p:cNvSpPr txBox="1"/>
          <p:nvPr/>
        </p:nvSpPr>
        <p:spPr>
          <a:xfrm>
            <a:off x="3862705" y="4014470"/>
            <a:ext cx="1441450" cy="64325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000"/>
              <a:t>VictorYeste/DeBERTa-based-human-value-detection</a:t>
            </a:r>
            <a:endParaRPr lang="zh-CN" sz="1000"/>
          </a:p>
        </p:txBody>
      </p:sp>
      <p:sp>
        <p:nvSpPr>
          <p:cNvPr id="185" name="Google Shape;185;p27"/>
          <p:cNvSpPr txBox="1"/>
          <p:nvPr/>
        </p:nvSpPr>
        <p:spPr>
          <a:xfrm>
            <a:off x="3964940" y="3034030"/>
            <a:ext cx="1339215" cy="64325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000"/>
              <a:t>Cardiffnlp/Twitter-RoBERTa-large-emotion-latest</a:t>
            </a:r>
            <a:endParaRPr lang="zh-CN" sz="1000"/>
          </a:p>
        </p:txBody>
      </p:sp>
      <p:sp>
        <p:nvSpPr>
          <p:cNvPr id="186" name="Google Shape;186;p27"/>
          <p:cNvSpPr txBox="1"/>
          <p:nvPr/>
        </p:nvSpPr>
        <p:spPr>
          <a:xfrm>
            <a:off x="4104005" y="2171700"/>
            <a:ext cx="1287145" cy="79692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000"/>
              <a:t>Cardiffnlp/Twitter-RoBERTa-base-dec2021-tweet-topic-single-all</a:t>
            </a:r>
            <a:endParaRPr lang="zh-CN" sz="1000"/>
          </a:p>
        </p:txBody>
      </p:sp>
      <p:sp>
        <p:nvSpPr>
          <p:cNvPr id="187" name="Google Shape;187;p27"/>
          <p:cNvSpPr txBox="1"/>
          <p:nvPr/>
        </p:nvSpPr>
        <p:spPr>
          <a:xfrm>
            <a:off x="3964940" y="1383030"/>
            <a:ext cx="1426210" cy="64325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000"/>
              <a:t>Cardiffnlp/Twitter-RoBERTa-base-sentiment-latest</a:t>
            </a:r>
            <a:endParaRPr lang="zh-CN" sz="1000"/>
          </a:p>
        </p:txBody>
      </p:sp>
      <p:sp>
        <p:nvSpPr>
          <p:cNvPr id="188" name="Google Shape;188;p27"/>
          <p:cNvSpPr txBox="1"/>
          <p:nvPr/>
        </p:nvSpPr>
        <p:spPr>
          <a:xfrm>
            <a:off x="5304790" y="0"/>
            <a:ext cx="3828415" cy="2741930"/>
          </a:xfrm>
          <a:prstGeom prst="rect">
            <a:avLst/>
          </a:prstGeom>
          <a:noFill/>
          <a:ln>
            <a:noFill/>
          </a:ln>
        </p:spPr>
        <p:txBody>
          <a:bodyPr spcFirstLastPara="1" wrap="square" lIns="91425" tIns="91425" rIns="91425" bIns="91425" anchor="t" anchorCtr="0">
            <a:noAutofit/>
          </a:bodyPr>
          <a:lstStyle/>
          <a:p>
            <a:pPr marL="107950" lvl="0" indent="0" algn="l" rtl="0">
              <a:spcBef>
                <a:spcPts val="0"/>
              </a:spcBef>
              <a:spcAft>
                <a:spcPts val="0"/>
              </a:spcAft>
              <a:buSzPts val="1900"/>
              <a:buNone/>
            </a:pPr>
            <a:r>
              <a:rPr lang="en-US" altLang="zh-CN" sz="1800">
                <a:solidFill>
                  <a:srgbClr val="333333"/>
                </a:solidFill>
                <a:sym typeface="+mn-ea"/>
              </a:rPr>
              <a:t>F</a:t>
            </a:r>
            <a:r>
              <a:rPr lang="zh-CN" sz="1800">
                <a:solidFill>
                  <a:srgbClr val="333333"/>
                </a:solidFill>
                <a:sym typeface="+mn-ea"/>
              </a:rPr>
              <a:t>ocus on inherent textual features that can act as shortcuts, which are not intended to be used as the actual decision </a:t>
            </a:r>
            <a:r>
              <a:rPr lang="en-US" altLang="zh-CN" sz="1800">
                <a:solidFill>
                  <a:srgbClr val="333333"/>
                </a:solidFill>
                <a:sym typeface="+mn-ea"/>
              </a:rPr>
              <a:t>cues</a:t>
            </a:r>
            <a:r>
              <a:rPr lang="zh-CN" sz="1800">
                <a:solidFill>
                  <a:srgbClr val="333333"/>
                </a:solidFill>
                <a:sym typeface="+mn-ea"/>
              </a:rPr>
              <a:t>.</a:t>
            </a:r>
            <a:endParaRPr lang="zh-CN" sz="1800">
              <a:solidFill>
                <a:srgbClr val="333333"/>
              </a:solidFill>
              <a:sym typeface="+mn-ea"/>
            </a:endParaRPr>
          </a:p>
          <a:p>
            <a:pPr marL="107950" lvl="0" indent="0" algn="l" rtl="0">
              <a:spcBef>
                <a:spcPts val="0"/>
              </a:spcBef>
              <a:spcAft>
                <a:spcPts val="0"/>
              </a:spcAft>
              <a:buSzPts val="1900"/>
              <a:buNone/>
            </a:pPr>
            <a:endParaRPr lang="zh-CN" sz="1900"/>
          </a:p>
          <a:p>
            <a:pPr marL="1828800" lvl="3" indent="-349250" algn="l" rtl="0">
              <a:spcBef>
                <a:spcPts val="0"/>
              </a:spcBef>
              <a:spcAft>
                <a:spcPts val="0"/>
              </a:spcAft>
              <a:buSzPts val="1900"/>
              <a:buChar char="●"/>
            </a:pPr>
            <a:r>
              <a:rPr lang="zh-CN" sz="1900"/>
              <a:t>Sentiment</a:t>
            </a:r>
            <a:endParaRPr sz="1900"/>
          </a:p>
          <a:p>
            <a:pPr marL="1828800" lvl="3" indent="-349250" algn="l" rtl="0">
              <a:spcBef>
                <a:spcPts val="0"/>
              </a:spcBef>
              <a:spcAft>
                <a:spcPts val="0"/>
              </a:spcAft>
              <a:buSzPts val="1900"/>
              <a:buChar char="●"/>
            </a:pPr>
            <a:r>
              <a:rPr lang="zh-CN" sz="1900"/>
              <a:t>Topic</a:t>
            </a:r>
            <a:endParaRPr sz="1900"/>
          </a:p>
          <a:p>
            <a:pPr marL="1828800" lvl="3" indent="-349250" algn="l" rtl="0">
              <a:spcBef>
                <a:spcPts val="0"/>
              </a:spcBef>
              <a:spcAft>
                <a:spcPts val="0"/>
              </a:spcAft>
              <a:buSzPts val="1900"/>
              <a:buChar char="●"/>
            </a:pPr>
            <a:r>
              <a:rPr lang="zh-CN" sz="1900"/>
              <a:t>Human values</a:t>
            </a:r>
            <a:endParaRPr sz="1900"/>
          </a:p>
          <a:p>
            <a:pPr marL="1828800" lvl="3" indent="-349250" algn="l" rtl="0">
              <a:spcBef>
                <a:spcPts val="0"/>
              </a:spcBef>
              <a:spcAft>
                <a:spcPts val="0"/>
              </a:spcAft>
              <a:buSzPts val="1900"/>
              <a:buChar char="●"/>
            </a:pPr>
            <a:r>
              <a:rPr lang="zh-CN" sz="1900"/>
              <a:t>Emotion</a:t>
            </a:r>
            <a:endParaRPr sz="1900"/>
          </a:p>
        </p:txBody>
      </p:sp>
      <p:sp>
        <p:nvSpPr>
          <p:cNvPr id="1" name="文本框 0"/>
          <p:cNvSpPr txBox="1"/>
          <p:nvPr/>
        </p:nvSpPr>
        <p:spPr>
          <a:xfrm>
            <a:off x="6047105" y="3286760"/>
            <a:ext cx="3085465" cy="953135"/>
          </a:xfrm>
          <a:prstGeom prst="rect">
            <a:avLst/>
          </a:prstGeom>
          <a:noFill/>
        </p:spPr>
        <p:txBody>
          <a:bodyPr wrap="square" rtlCol="0">
            <a:spAutoFit/>
          </a:bodyPr>
          <a:p>
            <a:pPr marL="107950" lvl="0" indent="457200" algn="l" rtl="0">
              <a:spcBef>
                <a:spcPts val="0"/>
              </a:spcBef>
              <a:spcAft>
                <a:spcPts val="0"/>
              </a:spcAft>
              <a:buSzPts val="1900"/>
              <a:buNone/>
            </a:pPr>
            <a:r>
              <a:rPr lang="en-US" altLang="zh-CN">
                <a:solidFill>
                  <a:srgbClr val="333333"/>
                </a:solidFill>
                <a:sym typeface="+mn-ea"/>
              </a:rPr>
              <a:t>I</a:t>
            </a:r>
            <a:r>
              <a:rPr lang="zh-CN">
                <a:solidFill>
                  <a:srgbClr val="333333"/>
                </a:solidFill>
                <a:sym typeface="+mn-ea"/>
              </a:rPr>
              <a:t>nterpretable</a:t>
            </a:r>
            <a:endParaRPr lang="zh-CN">
              <a:solidFill>
                <a:srgbClr val="333333"/>
              </a:solidFill>
              <a:sym typeface="+mn-ea"/>
            </a:endParaRPr>
          </a:p>
          <a:p>
            <a:pPr marL="107950" lvl="0" indent="457200" algn="l" rtl="0">
              <a:spcBef>
                <a:spcPts val="0"/>
              </a:spcBef>
              <a:spcAft>
                <a:spcPts val="0"/>
              </a:spcAft>
              <a:buSzPts val="1900"/>
              <a:buNone/>
            </a:pPr>
            <a:endParaRPr lang="zh-CN">
              <a:solidFill>
                <a:srgbClr val="333333"/>
              </a:solidFill>
              <a:sym typeface="+mn-ea"/>
            </a:endParaRPr>
          </a:p>
          <a:p>
            <a:pPr marL="107950" lvl="0" indent="457200" algn="l" rtl="0">
              <a:spcBef>
                <a:spcPts val="0"/>
              </a:spcBef>
              <a:spcAft>
                <a:spcPts val="0"/>
              </a:spcAft>
              <a:buSzPts val="1900"/>
              <a:buNone/>
            </a:pPr>
            <a:r>
              <a:rPr lang="en-US" altLang="zh-CN">
                <a:solidFill>
                  <a:srgbClr val="333333"/>
                </a:solidFill>
                <a:sym typeface="+mn-ea"/>
              </a:rPr>
              <a:t>E</a:t>
            </a:r>
            <a:r>
              <a:rPr lang="zh-CN">
                <a:solidFill>
                  <a:srgbClr val="333333"/>
                </a:solidFill>
                <a:sym typeface="+mn-ea"/>
              </a:rPr>
              <a:t>asily correlated with labels</a:t>
            </a:r>
            <a:endParaRPr lang="zh-CN"/>
          </a:p>
          <a:p>
            <a:endParaRPr lang="zh-CN" altLang="en-US"/>
          </a:p>
        </p:txBody>
      </p:sp>
      <p:pic>
        <p:nvPicPr>
          <p:cNvPr id="2" name="图片 1" descr="huggingface"/>
          <p:cNvPicPr>
            <a:picLocks noChangeAspect="1"/>
          </p:cNvPicPr>
          <p:nvPr/>
        </p:nvPicPr>
        <p:blipFill>
          <a:blip r:embed="rId5"/>
          <a:stretch>
            <a:fillRect/>
          </a:stretch>
        </p:blipFill>
        <p:spPr>
          <a:xfrm>
            <a:off x="3907790" y="4615180"/>
            <a:ext cx="528320" cy="528320"/>
          </a:xfrm>
          <a:prstGeom prst="rect">
            <a:avLst/>
          </a:prstGeom>
        </p:spPr>
      </p:pic>
      <p:pic>
        <p:nvPicPr>
          <p:cNvPr id="3" name="图片 2" descr="情绪 (1)"/>
          <p:cNvPicPr>
            <a:picLocks noChangeAspect="1"/>
          </p:cNvPicPr>
          <p:nvPr/>
        </p:nvPicPr>
        <p:blipFill>
          <a:blip r:embed="rId6"/>
          <a:stretch>
            <a:fillRect/>
          </a:stretch>
        </p:blipFill>
        <p:spPr>
          <a:xfrm>
            <a:off x="6555740" y="1501140"/>
            <a:ext cx="219710" cy="219710"/>
          </a:xfrm>
          <a:prstGeom prst="rect">
            <a:avLst/>
          </a:prstGeom>
        </p:spPr>
      </p:pic>
      <p:pic>
        <p:nvPicPr>
          <p:cNvPr id="4" name="图片 3" descr="主题_调色盘_o"/>
          <p:cNvPicPr>
            <a:picLocks noChangeAspect="1"/>
          </p:cNvPicPr>
          <p:nvPr/>
        </p:nvPicPr>
        <p:blipFill>
          <a:blip r:embed="rId7"/>
          <a:stretch>
            <a:fillRect/>
          </a:stretch>
        </p:blipFill>
        <p:spPr>
          <a:xfrm>
            <a:off x="6548755" y="1790700"/>
            <a:ext cx="226695" cy="226695"/>
          </a:xfrm>
          <a:prstGeom prst="rect">
            <a:avLst/>
          </a:prstGeom>
        </p:spPr>
      </p:pic>
      <p:pic>
        <p:nvPicPr>
          <p:cNvPr id="5" name="图片 4" descr="values"/>
          <p:cNvPicPr>
            <a:picLocks noChangeAspect="1"/>
          </p:cNvPicPr>
          <p:nvPr/>
        </p:nvPicPr>
        <p:blipFill>
          <a:blip r:embed="rId8"/>
          <a:stretch>
            <a:fillRect/>
          </a:stretch>
        </p:blipFill>
        <p:spPr>
          <a:xfrm>
            <a:off x="6554470" y="2080895"/>
            <a:ext cx="220345" cy="205740"/>
          </a:xfrm>
          <a:prstGeom prst="rect">
            <a:avLst/>
          </a:prstGeom>
        </p:spPr>
      </p:pic>
      <p:pic>
        <p:nvPicPr>
          <p:cNvPr id="6" name="图片 5" descr="情感 (1)"/>
          <p:cNvPicPr>
            <a:picLocks noChangeAspect="1"/>
          </p:cNvPicPr>
          <p:nvPr/>
        </p:nvPicPr>
        <p:blipFill>
          <a:blip r:embed="rId9"/>
          <a:stretch>
            <a:fillRect/>
          </a:stretch>
        </p:blipFill>
        <p:spPr>
          <a:xfrm>
            <a:off x="6555740" y="2392680"/>
            <a:ext cx="222250" cy="2222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92" name="Shape 192"/>
        <p:cNvGrpSpPr/>
        <p:nvPr/>
      </p:nvGrpSpPr>
      <p:grpSpPr>
        <a:xfrm>
          <a:off x="0" y="0"/>
          <a:ext cx="0" cy="0"/>
          <a:chOff x="0" y="0"/>
          <a:chExt cx="0" cy="0"/>
        </a:xfrm>
      </p:grpSpPr>
      <p:sp>
        <p:nvSpPr>
          <p:cNvPr id="193" name="Google Shape;193;p28"/>
          <p:cNvSpPr txBox="1"/>
          <p:nvPr/>
        </p:nvSpPr>
        <p:spPr>
          <a:xfrm>
            <a:off x="0" y="0"/>
            <a:ext cx="3108900" cy="95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Methods</a:t>
            </a:r>
            <a:endParaRPr sz="2500">
              <a:solidFill>
                <a:schemeClr val="dk2"/>
              </a:solidFill>
            </a:endParaRPr>
          </a:p>
          <a:p>
            <a:pPr marL="0" lvl="0" indent="0" algn="l" rtl="0">
              <a:spcBef>
                <a:spcPts val="0"/>
              </a:spcBef>
              <a:spcAft>
                <a:spcPts val="0"/>
              </a:spcAft>
              <a:buNone/>
            </a:pPr>
            <a:r>
              <a:rPr lang="zh-CN" sz="2500">
                <a:solidFill>
                  <a:schemeClr val="dk2"/>
                </a:solidFill>
              </a:rPr>
              <a:t>Shortcut Settings</a:t>
            </a:r>
            <a:endParaRPr sz="2500">
              <a:solidFill>
                <a:schemeClr val="dk2"/>
              </a:solidFill>
            </a:endParaRPr>
          </a:p>
        </p:txBody>
      </p:sp>
      <p:sp>
        <p:nvSpPr>
          <p:cNvPr id="194" name="Google Shape;194;p28"/>
          <p:cNvSpPr/>
          <p:nvPr/>
        </p:nvSpPr>
        <p:spPr>
          <a:xfrm>
            <a:off x="69575" y="1256700"/>
            <a:ext cx="4315200" cy="3887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pic>
        <p:nvPicPr>
          <p:cNvPr id="195" name="Google Shape;195;p28"/>
          <p:cNvPicPr preferRelativeResize="0"/>
          <p:nvPr/>
        </p:nvPicPr>
        <p:blipFill>
          <a:blip r:embed="rId1"/>
          <a:stretch>
            <a:fillRect/>
          </a:stretch>
        </p:blipFill>
        <p:spPr>
          <a:xfrm>
            <a:off x="126775" y="1298451"/>
            <a:ext cx="4005425" cy="712275"/>
          </a:xfrm>
          <a:prstGeom prst="rect">
            <a:avLst/>
          </a:prstGeom>
          <a:noFill/>
          <a:ln>
            <a:noFill/>
          </a:ln>
        </p:spPr>
      </p:pic>
      <p:pic>
        <p:nvPicPr>
          <p:cNvPr id="196" name="Google Shape;196;p28"/>
          <p:cNvPicPr preferRelativeResize="0"/>
          <p:nvPr/>
        </p:nvPicPr>
        <p:blipFill>
          <a:blip r:embed="rId2"/>
          <a:stretch>
            <a:fillRect/>
          </a:stretch>
        </p:blipFill>
        <p:spPr>
          <a:xfrm>
            <a:off x="133510" y="2042253"/>
            <a:ext cx="4236721" cy="916083"/>
          </a:xfrm>
          <a:prstGeom prst="rect">
            <a:avLst/>
          </a:prstGeom>
          <a:noFill/>
          <a:ln>
            <a:noFill/>
          </a:ln>
        </p:spPr>
      </p:pic>
      <p:pic>
        <p:nvPicPr>
          <p:cNvPr id="197" name="Google Shape;197;p28"/>
          <p:cNvPicPr preferRelativeResize="0"/>
          <p:nvPr/>
        </p:nvPicPr>
        <p:blipFill>
          <a:blip r:embed="rId3"/>
          <a:stretch>
            <a:fillRect/>
          </a:stretch>
        </p:blipFill>
        <p:spPr>
          <a:xfrm>
            <a:off x="82400" y="2960700"/>
            <a:ext cx="3881175" cy="762750"/>
          </a:xfrm>
          <a:prstGeom prst="rect">
            <a:avLst/>
          </a:prstGeom>
          <a:noFill/>
          <a:ln>
            <a:noFill/>
          </a:ln>
        </p:spPr>
      </p:pic>
      <p:pic>
        <p:nvPicPr>
          <p:cNvPr id="198" name="Google Shape;198;p28"/>
          <p:cNvPicPr preferRelativeResize="0"/>
          <p:nvPr/>
        </p:nvPicPr>
        <p:blipFill>
          <a:blip r:embed="rId4"/>
          <a:stretch>
            <a:fillRect/>
          </a:stretch>
        </p:blipFill>
        <p:spPr>
          <a:xfrm>
            <a:off x="109325" y="3723450"/>
            <a:ext cx="3881176" cy="1413552"/>
          </a:xfrm>
          <a:prstGeom prst="rect">
            <a:avLst/>
          </a:prstGeom>
          <a:noFill/>
          <a:ln>
            <a:noFill/>
          </a:ln>
        </p:spPr>
      </p:pic>
      <p:pic>
        <p:nvPicPr>
          <p:cNvPr id="199" name="Google Shape;199;p28"/>
          <p:cNvPicPr preferRelativeResize="0"/>
          <p:nvPr/>
        </p:nvPicPr>
        <p:blipFill>
          <a:blip r:embed="rId5"/>
          <a:stretch>
            <a:fillRect/>
          </a:stretch>
        </p:blipFill>
        <p:spPr>
          <a:xfrm>
            <a:off x="5494550" y="0"/>
            <a:ext cx="3649450"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03" name="Shape 203"/>
        <p:cNvGrpSpPr/>
        <p:nvPr/>
      </p:nvGrpSpPr>
      <p:grpSpPr>
        <a:xfrm>
          <a:off x="0" y="0"/>
          <a:ext cx="0" cy="0"/>
          <a:chOff x="0" y="0"/>
          <a:chExt cx="0" cy="0"/>
        </a:xfrm>
      </p:grpSpPr>
      <p:pic>
        <p:nvPicPr>
          <p:cNvPr id="204" name="Google Shape;204;p29"/>
          <p:cNvPicPr preferRelativeResize="0"/>
          <p:nvPr/>
        </p:nvPicPr>
        <p:blipFill>
          <a:blip r:embed="rId1"/>
          <a:stretch>
            <a:fillRect/>
          </a:stretch>
        </p:blipFill>
        <p:spPr>
          <a:xfrm>
            <a:off x="4438250" y="747289"/>
            <a:ext cx="4393799" cy="2571750"/>
          </a:xfrm>
          <a:prstGeom prst="rect">
            <a:avLst/>
          </a:prstGeom>
          <a:noFill/>
          <a:ln>
            <a:noFill/>
          </a:ln>
        </p:spPr>
      </p:pic>
      <p:sp>
        <p:nvSpPr>
          <p:cNvPr id="205" name="Google Shape;205;p29"/>
          <p:cNvSpPr txBox="1"/>
          <p:nvPr/>
        </p:nvSpPr>
        <p:spPr>
          <a:xfrm>
            <a:off x="4412450" y="3319039"/>
            <a:ext cx="4445100" cy="45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200">
                <a:solidFill>
                  <a:schemeClr val="dk2"/>
                </a:solidFill>
                <a:latin typeface="Times New Roman" panose="02020603050405020304"/>
                <a:ea typeface="Times New Roman" panose="02020603050405020304"/>
                <a:cs typeface="Times New Roman" panose="02020603050405020304"/>
                <a:sym typeface="Times New Roman" panose="02020603050405020304"/>
              </a:rPr>
              <a:t>figure from: </a:t>
            </a:r>
            <a:r>
              <a:rPr lang="zh-CN" sz="1200">
                <a:solidFill>
                  <a:srgbClr val="1A0DAB"/>
                </a:solidFill>
                <a:highlight>
                  <a:srgbClr val="FFFFFF"/>
                </a:highlight>
                <a:uFill>
                  <a:noFill/>
                </a:uFill>
                <a:latin typeface="Times New Roman" panose="02020603050405020304"/>
                <a:ea typeface="Times New Roman" panose="02020603050405020304"/>
                <a:cs typeface="Times New Roman" panose="02020603050405020304"/>
                <a:sym typeface="Times New Roman" panose="02020603050405020304"/>
                <a:hlinkClick r:id="rId2"/>
              </a:rPr>
              <a:t>BotRGCN: Twitter bot detection with relational graph convolutional networks</a:t>
            </a:r>
            <a:r>
              <a:rPr lang="zh-CN" sz="1200">
                <a:solidFill>
                  <a:schemeClr val="dk2"/>
                </a:solidFill>
                <a:latin typeface="Times New Roman" panose="02020603050405020304"/>
                <a:ea typeface="Times New Roman" panose="02020603050405020304"/>
                <a:cs typeface="Times New Roman" panose="02020603050405020304"/>
                <a:sym typeface="Times New Roman" panose="02020603050405020304"/>
              </a:rPr>
              <a:t> </a:t>
            </a:r>
            <a:endParaRPr sz="120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06" name="Google Shape;206;p29"/>
          <p:cNvPicPr preferRelativeResize="0"/>
          <p:nvPr/>
        </p:nvPicPr>
        <p:blipFill>
          <a:blip r:embed="rId3"/>
          <a:stretch>
            <a:fillRect/>
          </a:stretch>
        </p:blipFill>
        <p:spPr>
          <a:xfrm>
            <a:off x="5974938" y="3823075"/>
            <a:ext cx="1320425" cy="1320425"/>
          </a:xfrm>
          <a:prstGeom prst="rect">
            <a:avLst/>
          </a:prstGeom>
          <a:noFill/>
          <a:ln>
            <a:noFill/>
          </a:ln>
        </p:spPr>
      </p:pic>
      <p:sp>
        <p:nvSpPr>
          <p:cNvPr id="207" name="Google Shape;207;p29"/>
          <p:cNvSpPr txBox="1"/>
          <p:nvPr/>
        </p:nvSpPr>
        <p:spPr>
          <a:xfrm>
            <a:off x="83025" y="98750"/>
            <a:ext cx="4658700" cy="49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a:solidFill>
                  <a:schemeClr val="dk2"/>
                </a:solidFill>
              </a:rPr>
              <a:t>Some Basic Detection Methods</a:t>
            </a:r>
            <a:endParaRPr sz="1800">
              <a:solidFill>
                <a:schemeClr val="dk2"/>
              </a:solidFill>
            </a:endParaRPr>
          </a:p>
        </p:txBody>
      </p:sp>
      <p:pic>
        <p:nvPicPr>
          <p:cNvPr id="208" name="Google Shape;208;p29"/>
          <p:cNvPicPr preferRelativeResize="0"/>
          <p:nvPr/>
        </p:nvPicPr>
        <p:blipFill>
          <a:blip r:embed="rId4"/>
          <a:stretch>
            <a:fillRect/>
          </a:stretch>
        </p:blipFill>
        <p:spPr>
          <a:xfrm>
            <a:off x="1264125" y="3775950"/>
            <a:ext cx="1185425" cy="1254725"/>
          </a:xfrm>
          <a:prstGeom prst="rect">
            <a:avLst/>
          </a:prstGeom>
          <a:noFill/>
          <a:ln>
            <a:noFill/>
          </a:ln>
        </p:spPr>
      </p:pic>
      <p:grpSp>
        <p:nvGrpSpPr>
          <p:cNvPr id="209" name="Google Shape;209;p29"/>
          <p:cNvGrpSpPr/>
          <p:nvPr/>
        </p:nvGrpSpPr>
        <p:grpSpPr>
          <a:xfrm>
            <a:off x="276186" y="1107948"/>
            <a:ext cx="3798915" cy="1850455"/>
            <a:chOff x="5287625" y="1247475"/>
            <a:chExt cx="3856375" cy="1683150"/>
          </a:xfrm>
        </p:grpSpPr>
        <p:pic>
          <p:nvPicPr>
            <p:cNvPr id="210" name="Google Shape;210;p29"/>
            <p:cNvPicPr preferRelativeResize="0"/>
            <p:nvPr/>
          </p:nvPicPr>
          <p:blipFill>
            <a:blip r:embed="rId5"/>
            <a:stretch>
              <a:fillRect/>
            </a:stretch>
          </p:blipFill>
          <p:spPr>
            <a:xfrm>
              <a:off x="6651125" y="1247475"/>
              <a:ext cx="2492875" cy="1683150"/>
            </a:xfrm>
            <a:prstGeom prst="rect">
              <a:avLst/>
            </a:prstGeom>
            <a:noFill/>
            <a:ln>
              <a:noFill/>
            </a:ln>
          </p:spPr>
        </p:pic>
        <p:pic>
          <p:nvPicPr>
            <p:cNvPr id="211" name="Google Shape;211;p29"/>
            <p:cNvPicPr preferRelativeResize="0"/>
            <p:nvPr/>
          </p:nvPicPr>
          <p:blipFill>
            <a:blip r:embed="rId6"/>
            <a:stretch>
              <a:fillRect/>
            </a:stretch>
          </p:blipFill>
          <p:spPr>
            <a:xfrm>
              <a:off x="5287625" y="1403551"/>
              <a:ext cx="1203450" cy="1291502"/>
            </a:xfrm>
            <a:prstGeom prst="rect">
              <a:avLst/>
            </a:prstGeom>
            <a:noFill/>
            <a:ln>
              <a:noFill/>
            </a:ln>
          </p:spPr>
        </p:pic>
        <p:sp>
          <p:nvSpPr>
            <p:cNvPr id="212" name="Google Shape;212;p29"/>
            <p:cNvSpPr txBox="1"/>
            <p:nvPr/>
          </p:nvSpPr>
          <p:spPr>
            <a:xfrm>
              <a:off x="5287625" y="1783425"/>
              <a:ext cx="1363500" cy="33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u="sng">
                  <a:solidFill>
                    <a:srgbClr val="1A0DAB"/>
                  </a:solidFill>
                  <a:highlight>
                    <a:srgbClr val="FFFFFF"/>
                  </a:highlight>
                  <a:latin typeface="Times New Roman" panose="02020603050405020304"/>
                  <a:ea typeface="Times New Roman" panose="02020603050405020304"/>
                  <a:cs typeface="Times New Roman" panose="02020603050405020304"/>
                  <a:sym typeface="Times New Roman" panose="02020603050405020304"/>
                  <a:hlinkClick r:id="rId7"/>
                </a:rPr>
                <a:t>RoBERTa</a:t>
              </a:r>
              <a:endParaRPr sz="1800" u="sng">
                <a:solidFill>
                  <a:srgbClr val="1A0DAB"/>
                </a:solidFill>
                <a:highlight>
                  <a:srgbClr val="FFFFFF"/>
                </a:highlight>
                <a:latin typeface="Times New Roman" panose="02020603050405020304"/>
                <a:ea typeface="Times New Roman" panose="02020603050405020304"/>
                <a:cs typeface="Times New Roman" panose="02020603050405020304"/>
                <a:sym typeface="Times New Roman" panose="02020603050405020304"/>
                <a:hlinkClick r:id="rId7"/>
              </a:endParaRPr>
            </a:p>
            <a:p>
              <a:pPr marL="0" lvl="0" indent="0" algn="l" rtl="0">
                <a:spcBef>
                  <a:spcPts val="0"/>
                </a:spcBef>
                <a:spcAft>
                  <a:spcPts val="0"/>
                </a:spcAft>
                <a:buNone/>
              </a:pPr>
              <a:endParaRPr sz="1800">
                <a:solidFill>
                  <a:schemeClr val="dk2"/>
                </a:solidFil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16" name="Shape 216"/>
        <p:cNvGrpSpPr/>
        <p:nvPr/>
      </p:nvGrpSpPr>
      <p:grpSpPr>
        <a:xfrm>
          <a:off x="0" y="0"/>
          <a:ext cx="0" cy="0"/>
          <a:chOff x="0" y="0"/>
          <a:chExt cx="0" cy="0"/>
        </a:xfrm>
      </p:grpSpPr>
      <p:sp>
        <p:nvSpPr>
          <p:cNvPr id="217" name="Google Shape;217;p30"/>
          <p:cNvSpPr txBox="1"/>
          <p:nvPr/>
        </p:nvSpPr>
        <p:spPr>
          <a:xfrm>
            <a:off x="129525" y="152400"/>
            <a:ext cx="22455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Experiments</a:t>
            </a:r>
            <a:endParaRPr sz="2500">
              <a:solidFill>
                <a:schemeClr val="dk2"/>
              </a:solidFill>
            </a:endParaRPr>
          </a:p>
        </p:txBody>
      </p:sp>
      <p:pic>
        <p:nvPicPr>
          <p:cNvPr id="218" name="Google Shape;218;p30"/>
          <p:cNvPicPr preferRelativeResize="0"/>
          <p:nvPr/>
        </p:nvPicPr>
        <p:blipFill>
          <a:blip r:embed="rId1"/>
          <a:stretch>
            <a:fillRect/>
          </a:stretch>
        </p:blipFill>
        <p:spPr>
          <a:xfrm>
            <a:off x="129525" y="1248175"/>
            <a:ext cx="8030725" cy="3783725"/>
          </a:xfrm>
          <a:prstGeom prst="rect">
            <a:avLst/>
          </a:prstGeom>
          <a:noFill/>
          <a:ln>
            <a:noFill/>
          </a:ln>
        </p:spPr>
      </p:pic>
      <p:sp>
        <p:nvSpPr>
          <p:cNvPr id="1" name="文本框 0"/>
          <p:cNvSpPr txBox="1"/>
          <p:nvPr/>
        </p:nvSpPr>
        <p:spPr>
          <a:xfrm>
            <a:off x="6020435" y="0"/>
            <a:ext cx="2978150" cy="737235"/>
          </a:xfrm>
          <a:prstGeom prst="rect">
            <a:avLst/>
          </a:prstGeom>
          <a:noFill/>
        </p:spPr>
        <p:txBody>
          <a:bodyPr wrap="square" rtlCol="0">
            <a:spAutoFit/>
          </a:bodyPr>
          <a:p>
            <a:r>
              <a:rPr lang="en-US" altLang="zh-CN"/>
              <a:t>Shortcut learning </a:t>
            </a:r>
            <a:endParaRPr lang="en-US" altLang="zh-CN"/>
          </a:p>
          <a:p>
            <a:r>
              <a:rPr lang="en-US" altLang="zh-CN"/>
              <a:t>causes severe </a:t>
            </a:r>
            <a:endParaRPr lang="en-US" altLang="zh-CN"/>
          </a:p>
          <a:p>
            <a:r>
              <a:rPr lang="en-US" altLang="zh-CN"/>
              <a:t>performance degradation</a:t>
            </a:r>
            <a:endParaRPr lang="en-US" altLang="zh-CN"/>
          </a:p>
        </p:txBody>
      </p:sp>
      <p:pic>
        <p:nvPicPr>
          <p:cNvPr id="2" name="图片 1" descr="资源 59"/>
          <p:cNvPicPr>
            <a:picLocks noChangeAspect="1"/>
          </p:cNvPicPr>
          <p:nvPr/>
        </p:nvPicPr>
        <p:blipFill>
          <a:blip r:embed="rId2"/>
          <a:stretch>
            <a:fillRect/>
          </a:stretch>
        </p:blipFill>
        <p:spPr>
          <a:xfrm>
            <a:off x="7574915" y="1174115"/>
            <a:ext cx="1239520" cy="1239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22" name="Shape 222"/>
        <p:cNvGrpSpPr/>
        <p:nvPr/>
      </p:nvGrpSpPr>
      <p:grpSpPr>
        <a:xfrm>
          <a:off x="0" y="0"/>
          <a:ext cx="0" cy="0"/>
          <a:chOff x="0" y="0"/>
          <a:chExt cx="0" cy="0"/>
        </a:xfrm>
      </p:grpSpPr>
      <p:pic>
        <p:nvPicPr>
          <p:cNvPr id="223" name="Google Shape;223;p31"/>
          <p:cNvPicPr preferRelativeResize="0"/>
          <p:nvPr/>
        </p:nvPicPr>
        <p:blipFill>
          <a:blip r:embed="rId1"/>
          <a:stretch>
            <a:fillRect/>
          </a:stretch>
        </p:blipFill>
        <p:spPr>
          <a:xfrm>
            <a:off x="152400" y="913200"/>
            <a:ext cx="8262489" cy="4077900"/>
          </a:xfrm>
          <a:prstGeom prst="rect">
            <a:avLst/>
          </a:prstGeom>
          <a:noFill/>
          <a:ln>
            <a:noFill/>
          </a:ln>
        </p:spPr>
      </p:pic>
      <p:sp>
        <p:nvSpPr>
          <p:cNvPr id="224" name="Google Shape;224;p31"/>
          <p:cNvSpPr txBox="1"/>
          <p:nvPr/>
        </p:nvSpPr>
        <p:spPr>
          <a:xfrm>
            <a:off x="0" y="0"/>
            <a:ext cx="3156600" cy="91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Experiments</a:t>
            </a:r>
            <a:endParaRPr sz="2500">
              <a:solidFill>
                <a:schemeClr val="dk2"/>
              </a:solidFill>
            </a:endParaRPr>
          </a:p>
          <a:p>
            <a:pPr marL="0" lvl="0" indent="0" algn="l" rtl="0">
              <a:spcBef>
                <a:spcPts val="0"/>
              </a:spcBef>
              <a:spcAft>
                <a:spcPts val="0"/>
              </a:spcAft>
              <a:buNone/>
            </a:pPr>
            <a:r>
              <a:rPr lang="zh-CN" sz="2500">
                <a:solidFill>
                  <a:schemeClr val="dk2"/>
                </a:solidFill>
              </a:rPr>
              <a:t>Shortcut Settings</a:t>
            </a:r>
            <a:endParaRPr sz="2500">
              <a:solidFill>
                <a:schemeClr val="dk2"/>
              </a:solidFill>
            </a:endParaRPr>
          </a:p>
          <a:p>
            <a:pPr marL="0" lvl="0" indent="0" algn="l" rtl="0">
              <a:spcBef>
                <a:spcPts val="0"/>
              </a:spcBef>
              <a:spcAft>
                <a:spcPts val="0"/>
              </a:spcAft>
              <a:buNone/>
            </a:pPr>
            <a:endParaRPr sz="25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28" name="Shape 228"/>
        <p:cNvGrpSpPr/>
        <p:nvPr/>
      </p:nvGrpSpPr>
      <p:grpSpPr>
        <a:xfrm>
          <a:off x="0" y="0"/>
          <a:ext cx="0" cy="0"/>
          <a:chOff x="0" y="0"/>
          <a:chExt cx="0" cy="0"/>
        </a:xfrm>
      </p:grpSpPr>
      <p:sp>
        <p:nvSpPr>
          <p:cNvPr id="229" name="Google Shape;229;p32"/>
          <p:cNvSpPr txBox="1"/>
          <p:nvPr/>
        </p:nvSpPr>
        <p:spPr>
          <a:xfrm>
            <a:off x="0" y="0"/>
            <a:ext cx="3043500" cy="99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zh-CN" sz="2500">
                <a:solidFill>
                  <a:schemeClr val="dk2"/>
                </a:solidFill>
              </a:rPr>
              <a:t>Discussions</a:t>
            </a:r>
            <a:endParaRPr sz="2500">
              <a:solidFill>
                <a:schemeClr val="dk2"/>
              </a:solidFill>
            </a:endParaRPr>
          </a:p>
          <a:p>
            <a:pPr marL="0" lvl="0" indent="0" algn="l" rtl="0">
              <a:spcBef>
                <a:spcPts val="0"/>
              </a:spcBef>
              <a:spcAft>
                <a:spcPts val="0"/>
              </a:spcAft>
              <a:buNone/>
            </a:pPr>
            <a:r>
              <a:rPr lang="zh-CN" sz="2500">
                <a:solidFill>
                  <a:schemeClr val="dk2"/>
                </a:solidFill>
              </a:rPr>
              <a:t>Shortcut Settings</a:t>
            </a:r>
            <a:endParaRPr sz="2500">
              <a:solidFill>
                <a:schemeClr val="dk2"/>
              </a:solidFill>
            </a:endParaRPr>
          </a:p>
        </p:txBody>
      </p:sp>
      <p:pic>
        <p:nvPicPr>
          <p:cNvPr id="230" name="Google Shape;230;p32"/>
          <p:cNvPicPr preferRelativeResize="0"/>
          <p:nvPr/>
        </p:nvPicPr>
        <p:blipFill>
          <a:blip r:embed="rId1"/>
          <a:stretch>
            <a:fillRect/>
          </a:stretch>
        </p:blipFill>
        <p:spPr>
          <a:xfrm>
            <a:off x="7271700" y="0"/>
            <a:ext cx="1872300" cy="1791116"/>
          </a:xfrm>
          <a:prstGeom prst="rect">
            <a:avLst/>
          </a:prstGeom>
          <a:noFill/>
          <a:ln>
            <a:noFill/>
          </a:ln>
        </p:spPr>
      </p:pic>
      <p:sp>
        <p:nvSpPr>
          <p:cNvPr id="231" name="Google Shape;231;p32"/>
          <p:cNvSpPr txBox="1"/>
          <p:nvPr/>
        </p:nvSpPr>
        <p:spPr>
          <a:xfrm>
            <a:off x="0" y="1467625"/>
            <a:ext cx="5435100" cy="2632200"/>
          </a:xfrm>
          <a:prstGeom prst="rect">
            <a:avLst/>
          </a:prstGeom>
          <a:noFill/>
          <a:ln>
            <a:noFill/>
          </a:ln>
        </p:spPr>
        <p:txBody>
          <a:bodyPr spcFirstLastPara="1" wrap="square" lIns="91425" tIns="91425" rIns="91425" bIns="91425" anchor="t" anchorCtr="0">
            <a:spAutoFit/>
          </a:bodyPr>
          <a:lstStyle/>
          <a:p>
            <a:pPr marL="457200" lvl="0" indent="-311150" algn="l" rtl="0">
              <a:spcBef>
                <a:spcPts val="0"/>
              </a:spcBef>
              <a:spcAft>
                <a:spcPts val="0"/>
              </a:spcAft>
              <a:buClr>
                <a:schemeClr val="dk1"/>
              </a:buClr>
              <a:buSzPts val="1300"/>
              <a:buChar char="●"/>
            </a:pPr>
            <a:r>
              <a:rPr lang="zh-CN" sz="1300">
                <a:solidFill>
                  <a:schemeClr val="dk1"/>
                </a:solidFill>
              </a:rPr>
              <a:t>Average accuracy drop: </a:t>
            </a:r>
            <a:r>
              <a:rPr lang="zh-CN" sz="1300" b="1">
                <a:solidFill>
                  <a:schemeClr val="dk1"/>
                </a:solidFill>
              </a:rPr>
              <a:t>~50%</a:t>
            </a:r>
            <a:br>
              <a:rPr lang="zh-CN" sz="1300" b="1">
                <a:solidFill>
                  <a:schemeClr val="dk1"/>
                </a:solidFill>
              </a:rPr>
            </a:br>
            <a:endParaRPr sz="1300" b="1">
              <a:solidFill>
                <a:schemeClr val="dk1"/>
              </a:solidFill>
            </a:endParaRPr>
          </a:p>
          <a:p>
            <a:pPr marL="457200" lvl="0" indent="-311150" algn="l" rtl="0">
              <a:spcBef>
                <a:spcPts val="0"/>
              </a:spcBef>
              <a:spcAft>
                <a:spcPts val="0"/>
              </a:spcAft>
              <a:buClr>
                <a:schemeClr val="dk1"/>
              </a:buClr>
              <a:buSzPts val="1300"/>
              <a:buChar char="●"/>
            </a:pPr>
            <a:r>
              <a:rPr lang="zh-CN" sz="1300">
                <a:solidFill>
                  <a:schemeClr val="dk1"/>
                </a:solidFill>
              </a:rPr>
              <a:t>Worst-case drop: </a:t>
            </a:r>
            <a:r>
              <a:rPr lang="zh-CN" sz="1300" b="1">
                <a:solidFill>
                  <a:schemeClr val="dk1"/>
                </a:solidFill>
              </a:rPr>
              <a:t>up to 92%</a:t>
            </a:r>
            <a:br>
              <a:rPr lang="zh-CN" sz="1300" b="1">
                <a:solidFill>
                  <a:schemeClr val="dk1"/>
                </a:solidFill>
              </a:rPr>
            </a:br>
            <a:endParaRPr sz="1300" b="1">
              <a:solidFill>
                <a:schemeClr val="dk1"/>
              </a:solidFill>
            </a:endParaRPr>
          </a:p>
          <a:p>
            <a:pPr marL="457200" lvl="0" indent="-311150" algn="l" rtl="0">
              <a:spcBef>
                <a:spcPts val="0"/>
              </a:spcBef>
              <a:spcAft>
                <a:spcPts val="0"/>
              </a:spcAft>
              <a:buClr>
                <a:schemeClr val="dk1"/>
              </a:buClr>
              <a:buSzPts val="1300"/>
              <a:buChar char="●"/>
            </a:pPr>
            <a:r>
              <a:rPr lang="zh-CN" sz="1300">
                <a:solidFill>
                  <a:schemeClr val="dk1"/>
                </a:solidFill>
              </a:rPr>
              <a:t>Performance also degrades on standard test sets</a:t>
            </a:r>
            <a:br>
              <a:rPr lang="zh-CN" sz="1300">
                <a:solidFill>
                  <a:schemeClr val="dk1"/>
                </a:solidFill>
              </a:rPr>
            </a:br>
            <a:endParaRPr sz="1300">
              <a:solidFill>
                <a:schemeClr val="dk1"/>
              </a:solidFill>
            </a:endParaRPr>
          </a:p>
          <a:p>
            <a:pPr marL="457200" lvl="0" indent="-311150" algn="l" rtl="0">
              <a:spcBef>
                <a:spcPts val="0"/>
              </a:spcBef>
              <a:spcAft>
                <a:spcPts val="0"/>
              </a:spcAft>
              <a:buClr>
                <a:schemeClr val="dk1"/>
              </a:buClr>
              <a:buSzPts val="1300"/>
              <a:buChar char="●"/>
            </a:pPr>
            <a:r>
              <a:rPr lang="zh-CN" sz="1300">
                <a:solidFill>
                  <a:schemeClr val="dk1"/>
                </a:solidFill>
              </a:rPr>
              <a:t>Existing debiasing methods fail to fully address the issue</a:t>
            </a:r>
            <a:endParaRPr sz="1300">
              <a:solidFill>
                <a:schemeClr val="dk1"/>
              </a:solidFill>
            </a:endParaRPr>
          </a:p>
          <a:p>
            <a:pPr marL="0" lvl="0" indent="0" algn="l" rtl="0">
              <a:spcBef>
                <a:spcPts val="0"/>
              </a:spcBef>
              <a:spcAft>
                <a:spcPts val="0"/>
              </a:spcAft>
              <a:buNone/>
            </a:pPr>
            <a:endParaRPr sz="1300">
              <a:solidFill>
                <a:schemeClr val="dk1"/>
              </a:solidFill>
            </a:endParaRPr>
          </a:p>
          <a:p>
            <a:pPr marL="0" lvl="0" indent="0" algn="l" rtl="0">
              <a:spcBef>
                <a:spcPts val="0"/>
              </a:spcBef>
              <a:spcAft>
                <a:spcPts val="0"/>
              </a:spcAft>
              <a:buNone/>
            </a:pPr>
            <a:endParaRPr sz="1300">
              <a:solidFill>
                <a:schemeClr val="dk1"/>
              </a:solidFill>
            </a:endParaRPr>
          </a:p>
          <a:p>
            <a:pPr marL="0" lvl="0" indent="0" algn="l" rtl="0">
              <a:spcBef>
                <a:spcPts val="0"/>
              </a:spcBef>
              <a:spcAft>
                <a:spcPts val="0"/>
              </a:spcAft>
              <a:buClr>
                <a:schemeClr val="dk1"/>
              </a:buClr>
              <a:buSzPts val="1100"/>
              <a:buFont typeface="Arial" panose="020B0604020202020204"/>
              <a:buNone/>
            </a:pPr>
            <a:r>
              <a:rPr lang="zh-CN">
                <a:solidFill>
                  <a:schemeClr val="dk1"/>
                </a:solidFill>
              </a:rPr>
              <a:t>Current social bot detection models would</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zh-CN">
                <a:solidFill>
                  <a:schemeClr val="dk1"/>
                </a:solidFill>
              </a:rPr>
              <a:t>→ rely on </a:t>
            </a:r>
            <a:r>
              <a:rPr lang="zh-CN" b="1">
                <a:solidFill>
                  <a:schemeClr val="dk1"/>
                </a:solidFill>
              </a:rPr>
              <a:t>shallow, non-causal textual shortcuts</a:t>
            </a:r>
            <a:endParaRPr b="1">
              <a:solidFill>
                <a:schemeClr val="dk1"/>
              </a:solidFill>
            </a:endParaRPr>
          </a:p>
          <a:p>
            <a:pPr marL="0" lvl="0" indent="0" algn="l" rtl="0">
              <a:spcBef>
                <a:spcPts val="0"/>
              </a:spcBef>
              <a:spcAft>
                <a:spcPts val="0"/>
              </a:spcAft>
              <a:buNone/>
            </a:pPr>
            <a:r>
              <a:rPr lang="zh-CN">
                <a:solidFill>
                  <a:schemeClr val="dk1"/>
                </a:solidFill>
              </a:rPr>
              <a:t>→ ignore invariant signals</a:t>
            </a:r>
            <a:endParaRPr sz="16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35" name="Shape 235"/>
        <p:cNvGrpSpPr/>
        <p:nvPr/>
      </p:nvGrpSpPr>
      <p:grpSpPr>
        <a:xfrm>
          <a:off x="0" y="0"/>
          <a:ext cx="0" cy="0"/>
          <a:chOff x="0" y="0"/>
          <a:chExt cx="0" cy="0"/>
        </a:xfrm>
      </p:grpSpPr>
      <p:sp>
        <p:nvSpPr>
          <p:cNvPr id="236" name="Google Shape;236;p33"/>
          <p:cNvSpPr txBox="1"/>
          <p:nvPr/>
        </p:nvSpPr>
        <p:spPr>
          <a:xfrm>
            <a:off x="0" y="0"/>
            <a:ext cx="37533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Mitigation Strategies</a:t>
            </a:r>
            <a:endParaRPr sz="2500">
              <a:solidFill>
                <a:schemeClr val="dk2"/>
              </a:solidFill>
            </a:endParaRPr>
          </a:p>
        </p:txBody>
      </p:sp>
      <p:pic>
        <p:nvPicPr>
          <p:cNvPr id="237" name="Google Shape;237;p33"/>
          <p:cNvPicPr preferRelativeResize="0"/>
          <p:nvPr/>
        </p:nvPicPr>
        <p:blipFill>
          <a:blip r:embed="rId1"/>
          <a:stretch>
            <a:fillRect/>
          </a:stretch>
        </p:blipFill>
        <p:spPr>
          <a:xfrm>
            <a:off x="4572000" y="0"/>
            <a:ext cx="4572000" cy="2428249"/>
          </a:xfrm>
          <a:prstGeom prst="rect">
            <a:avLst/>
          </a:prstGeom>
          <a:noFill/>
          <a:ln>
            <a:noFill/>
          </a:ln>
        </p:spPr>
      </p:pic>
      <p:sp>
        <p:nvSpPr>
          <p:cNvPr id="238" name="Google Shape;238;p33"/>
          <p:cNvSpPr txBox="1"/>
          <p:nvPr/>
        </p:nvSpPr>
        <p:spPr>
          <a:xfrm>
            <a:off x="4571950" y="2611125"/>
            <a:ext cx="4572000" cy="51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200">
                <a:solidFill>
                  <a:schemeClr val="dk2"/>
                </a:solidFill>
                <a:latin typeface="Times New Roman" panose="02020603050405020304"/>
                <a:ea typeface="Times New Roman" panose="02020603050405020304"/>
                <a:cs typeface="Times New Roman" panose="02020603050405020304"/>
                <a:sym typeface="Times New Roman" panose="02020603050405020304"/>
              </a:rPr>
              <a:t>figure from: </a:t>
            </a:r>
            <a:r>
              <a:rPr lang="zh-CN" sz="1200" u="sng">
                <a:solidFill>
                  <a:srgbClr val="1A0DAB"/>
                </a:solidFill>
                <a:highlight>
                  <a:srgbClr val="FFFFFF"/>
                </a:highlight>
                <a:latin typeface="Times New Roman" panose="02020603050405020304"/>
                <a:ea typeface="Times New Roman" panose="02020603050405020304"/>
                <a:cs typeface="Times New Roman" panose="02020603050405020304"/>
                <a:sym typeface="Times New Roman" panose="02020603050405020304"/>
                <a:hlinkClick r:id="rId2"/>
              </a:rPr>
              <a:t>Truth over Tricks: Measuring and Mitigating Shortcut Learning in Misinformation Detection</a:t>
            </a:r>
            <a:endParaRPr sz="120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39" name="Google Shape;239;p33"/>
          <p:cNvPicPr preferRelativeResize="0"/>
          <p:nvPr/>
        </p:nvPicPr>
        <p:blipFill>
          <a:blip r:embed="rId3"/>
          <a:stretch>
            <a:fillRect/>
          </a:stretch>
        </p:blipFill>
        <p:spPr>
          <a:xfrm>
            <a:off x="0" y="1446600"/>
            <a:ext cx="4467850" cy="2997075"/>
          </a:xfrm>
          <a:prstGeom prst="rect">
            <a:avLst/>
          </a:prstGeom>
          <a:noFill/>
          <a:ln>
            <a:noFill/>
          </a:ln>
        </p:spPr>
      </p:pic>
      <p:sp>
        <p:nvSpPr>
          <p:cNvPr id="240" name="Google Shape;240;p33"/>
          <p:cNvSpPr txBox="1"/>
          <p:nvPr/>
        </p:nvSpPr>
        <p:spPr>
          <a:xfrm>
            <a:off x="0" y="4443675"/>
            <a:ext cx="4467900" cy="51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200">
                <a:solidFill>
                  <a:schemeClr val="dk2"/>
                </a:solidFill>
                <a:latin typeface="Times New Roman" panose="02020603050405020304"/>
                <a:ea typeface="Times New Roman" panose="02020603050405020304"/>
                <a:cs typeface="Times New Roman" panose="02020603050405020304"/>
                <a:sym typeface="Times New Roman" panose="02020603050405020304"/>
              </a:rPr>
              <a:t>figure from: </a:t>
            </a:r>
            <a:r>
              <a:rPr lang="zh-CN" sz="1200">
                <a:solidFill>
                  <a:srgbClr val="1A0DAB"/>
                </a:solidFill>
                <a:highlight>
                  <a:srgbClr val="FFFFFF"/>
                </a:highlight>
                <a:uFill>
                  <a:noFill/>
                </a:uFill>
                <a:latin typeface="Times New Roman" panose="02020603050405020304"/>
                <a:ea typeface="Times New Roman" panose="02020603050405020304"/>
                <a:cs typeface="Times New Roman" panose="02020603050405020304"/>
                <a:sym typeface="Times New Roman" panose="02020603050405020304"/>
                <a:hlinkClick r:id="rId4"/>
              </a:rPr>
              <a:t>What does the bot say? opportunities and risks of large language models in social media bot detection</a:t>
            </a:r>
            <a:endParaRPr sz="120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1" name="Google Shape;241;p33"/>
          <p:cNvSpPr txBox="1"/>
          <p:nvPr/>
        </p:nvSpPr>
        <p:spPr>
          <a:xfrm>
            <a:off x="4571950" y="3534475"/>
            <a:ext cx="4572000"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zh-CN" sz="1300">
                <a:solidFill>
                  <a:schemeClr val="dk1"/>
                </a:solidFill>
              </a:rPr>
              <a:t>W</a:t>
            </a:r>
            <a:r>
              <a:rPr lang="zh-CN" sz="1300">
                <a:solidFill>
                  <a:schemeClr val="dk1"/>
                </a:solidFill>
              </a:rPr>
              <a:t>hether LLMs can help mitigate shortcut learning</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45" name="Shape 245"/>
        <p:cNvGrpSpPr/>
        <p:nvPr/>
      </p:nvGrpSpPr>
      <p:grpSpPr>
        <a:xfrm>
          <a:off x="0" y="0"/>
          <a:ext cx="0" cy="0"/>
          <a:chOff x="0" y="0"/>
          <a:chExt cx="0" cy="0"/>
        </a:xfrm>
      </p:grpSpPr>
      <p:sp>
        <p:nvSpPr>
          <p:cNvPr id="246" name="Google Shape;246;p34"/>
          <p:cNvSpPr txBox="1"/>
          <p:nvPr/>
        </p:nvSpPr>
        <p:spPr>
          <a:xfrm>
            <a:off x="0" y="0"/>
            <a:ext cx="36075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Mitigation Strategies</a:t>
            </a:r>
            <a:endParaRPr sz="2500">
              <a:solidFill>
                <a:schemeClr val="dk2"/>
              </a:solidFill>
            </a:endParaRPr>
          </a:p>
        </p:txBody>
      </p:sp>
      <p:pic>
        <p:nvPicPr>
          <p:cNvPr id="247" name="Google Shape;247;p34"/>
          <p:cNvPicPr preferRelativeResize="0"/>
          <p:nvPr/>
        </p:nvPicPr>
        <p:blipFill>
          <a:blip r:embed="rId1"/>
          <a:stretch>
            <a:fillRect/>
          </a:stretch>
        </p:blipFill>
        <p:spPr>
          <a:xfrm>
            <a:off x="3053080" y="1004570"/>
            <a:ext cx="6090920" cy="4138930"/>
          </a:xfrm>
          <a:prstGeom prst="rect">
            <a:avLst/>
          </a:prstGeom>
          <a:noFill/>
          <a:ln>
            <a:noFill/>
          </a:ln>
        </p:spPr>
      </p:pic>
      <p:sp>
        <p:nvSpPr>
          <p:cNvPr id="248" name="Google Shape;248;p34"/>
          <p:cNvSpPr txBox="1"/>
          <p:nvPr/>
        </p:nvSpPr>
        <p:spPr>
          <a:xfrm>
            <a:off x="-88900" y="922655"/>
            <a:ext cx="3533775" cy="2120265"/>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Char char="●"/>
            </a:pPr>
            <a:r>
              <a:rPr lang="zh-CN">
                <a:solidFill>
                  <a:schemeClr val="dk1"/>
                </a:solidFill>
              </a:rPr>
              <a:t>Counterfactual augmentation</a:t>
            </a:r>
            <a:r>
              <a:rPr lang="en-US" altLang="zh-CN">
                <a:solidFill>
                  <a:schemeClr val="dk1"/>
                </a:solidFill>
              </a:rPr>
              <a:t> (CDA)</a:t>
            </a:r>
            <a:r>
              <a:rPr lang="zh-CN">
                <a:solidFill>
                  <a:schemeClr val="dk1"/>
                </a:solidFill>
              </a:rPr>
              <a:t>: </a:t>
            </a:r>
            <a:r>
              <a:rPr lang="zh-CN">
                <a:solidFill>
                  <a:schemeClr val="dk1"/>
                </a:solidFill>
              </a:rPr>
              <a:t>Rewrite text to alternative attribute features</a:t>
            </a:r>
            <a:endParaRPr>
              <a:solidFill>
                <a:schemeClr val="dk1"/>
              </a:solidFill>
            </a:endParaRPr>
          </a:p>
          <a:p>
            <a:pPr marL="457200" lvl="0" indent="-317500" algn="l" rtl="0">
              <a:spcBef>
                <a:spcPts val="0"/>
              </a:spcBef>
              <a:spcAft>
                <a:spcPts val="0"/>
              </a:spcAft>
              <a:buClr>
                <a:schemeClr val="dk1"/>
              </a:buClr>
              <a:buSzPts val="1400"/>
              <a:buChar char="●"/>
            </a:pPr>
            <a:r>
              <a:rPr lang="zh-CN">
                <a:solidFill>
                  <a:schemeClr val="dk1"/>
                </a:solidFill>
              </a:rPr>
              <a:t>Preserve original </a:t>
            </a:r>
            <a:r>
              <a:rPr lang="zh-CN">
                <a:solidFill>
                  <a:schemeClr val="dk1"/>
                </a:solidFill>
                <a:sym typeface="+mn-ea"/>
              </a:rPr>
              <a:t>labels</a:t>
            </a:r>
            <a:r>
              <a:rPr lang="en-US" altLang="zh-CN">
                <a:solidFill>
                  <a:schemeClr val="dk1"/>
                </a:solidFill>
                <a:sym typeface="+mn-ea"/>
              </a:rPr>
              <a:t> </a:t>
            </a:r>
            <a:r>
              <a:rPr lang="zh-CN">
                <a:solidFill>
                  <a:schemeClr val="dk1"/>
                </a:solidFill>
              </a:rPr>
              <a:t>semantics</a:t>
            </a:r>
            <a:endParaRPr>
              <a:solidFill>
                <a:schemeClr val="dk1"/>
              </a:solidFill>
            </a:endParaRPr>
          </a:p>
          <a:p>
            <a:pPr marL="457200" lvl="0" indent="-317500" algn="l" rtl="0">
              <a:spcBef>
                <a:spcPts val="0"/>
              </a:spcBef>
              <a:spcAft>
                <a:spcPts val="0"/>
              </a:spcAft>
              <a:buClr>
                <a:schemeClr val="dk1"/>
              </a:buClr>
              <a:buSzPts val="1400"/>
              <a:buChar char="●"/>
            </a:pPr>
            <a:r>
              <a:rPr lang="zh-CN">
                <a:solidFill>
                  <a:schemeClr val="dk1"/>
                </a:solidFill>
              </a:rPr>
              <a:t>Reduce shortcut-label correlations</a:t>
            </a:r>
            <a:endParaRPr>
              <a:solidFill>
                <a:schemeClr val="dk1"/>
              </a:solidFill>
            </a:endParaRPr>
          </a:p>
          <a:p>
            <a:pPr marL="914400" lvl="1" indent="-317500" algn="l" rtl="0">
              <a:spcBef>
                <a:spcPts val="0"/>
              </a:spcBef>
              <a:spcAft>
                <a:spcPts val="0"/>
              </a:spcAft>
              <a:buClr>
                <a:schemeClr val="dk1"/>
              </a:buClr>
              <a:buSzPts val="1400"/>
              <a:buChar char="○"/>
            </a:pPr>
            <a:r>
              <a:rPr lang="zh-CN">
                <a:solidFill>
                  <a:schemeClr val="dk1"/>
                </a:solidFill>
              </a:rPr>
              <a:t>Text level</a:t>
            </a:r>
            <a:endParaRPr>
              <a:solidFill>
                <a:schemeClr val="dk1"/>
              </a:solidFill>
            </a:endParaRPr>
          </a:p>
          <a:p>
            <a:pPr marL="914400" lvl="1" indent="-317500" algn="l" rtl="0">
              <a:spcBef>
                <a:spcPts val="0"/>
              </a:spcBef>
              <a:spcAft>
                <a:spcPts val="0"/>
              </a:spcAft>
              <a:buClr>
                <a:schemeClr val="dk1"/>
              </a:buClr>
              <a:buSzPts val="1400"/>
              <a:buChar char="○"/>
            </a:pPr>
            <a:r>
              <a:rPr lang="zh-CN">
                <a:solidFill>
                  <a:schemeClr val="dk1"/>
                </a:solidFill>
              </a:rPr>
              <a:t>Dataset level</a:t>
            </a:r>
            <a:endParaRPr>
              <a:solidFill>
                <a:schemeClr val="dk1"/>
              </a:solidFill>
            </a:endParaRPr>
          </a:p>
          <a:p>
            <a:pPr marL="914400" lvl="1" indent="-317500" algn="l" rtl="0">
              <a:spcBef>
                <a:spcPts val="0"/>
              </a:spcBef>
              <a:spcAft>
                <a:spcPts val="0"/>
              </a:spcAft>
              <a:buClr>
                <a:schemeClr val="dk1"/>
              </a:buClr>
              <a:buSzPts val="1400"/>
              <a:buChar char="○"/>
            </a:pPr>
            <a:r>
              <a:rPr lang="zh-CN">
                <a:solidFill>
                  <a:schemeClr val="dk1"/>
                </a:solidFill>
              </a:rPr>
              <a:t>Model level</a:t>
            </a:r>
            <a:endParaRPr>
              <a:solidFill>
                <a:schemeClr val="dk1"/>
              </a:solidFill>
            </a:endParaRPr>
          </a:p>
          <a:p>
            <a:pPr marL="457200" lvl="0" indent="0" algn="l" rtl="0">
              <a:spcBef>
                <a:spcPts val="0"/>
              </a:spcBef>
              <a:spcAft>
                <a:spcPts val="0"/>
              </a:spcAft>
              <a:buNone/>
            </a:pP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52" name="Shape 252"/>
        <p:cNvGrpSpPr/>
        <p:nvPr/>
      </p:nvGrpSpPr>
      <p:grpSpPr>
        <a:xfrm>
          <a:off x="0" y="0"/>
          <a:ext cx="0" cy="0"/>
          <a:chOff x="0" y="0"/>
          <a:chExt cx="0" cy="0"/>
        </a:xfrm>
      </p:grpSpPr>
      <p:sp>
        <p:nvSpPr>
          <p:cNvPr id="253" name="Google Shape;253;p35"/>
          <p:cNvSpPr txBox="1"/>
          <p:nvPr/>
        </p:nvSpPr>
        <p:spPr>
          <a:xfrm>
            <a:off x="0" y="0"/>
            <a:ext cx="38628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Mitigation Strategies</a:t>
            </a:r>
            <a:endParaRPr sz="2500">
              <a:solidFill>
                <a:schemeClr val="dk2"/>
              </a:solidFill>
            </a:endParaRPr>
          </a:p>
        </p:txBody>
      </p:sp>
      <p:pic>
        <p:nvPicPr>
          <p:cNvPr id="254" name="Google Shape;254;p35"/>
          <p:cNvPicPr preferRelativeResize="0"/>
          <p:nvPr/>
        </p:nvPicPr>
        <p:blipFill>
          <a:blip r:embed="rId1"/>
          <a:stretch>
            <a:fillRect/>
          </a:stretch>
        </p:blipFill>
        <p:spPr>
          <a:xfrm>
            <a:off x="0" y="1175925"/>
            <a:ext cx="5920250" cy="3967575"/>
          </a:xfrm>
          <a:prstGeom prst="rect">
            <a:avLst/>
          </a:prstGeom>
          <a:noFill/>
          <a:ln>
            <a:noFill/>
          </a:ln>
        </p:spPr>
      </p:pic>
      <p:sp>
        <p:nvSpPr>
          <p:cNvPr id="255" name="Google Shape;255;p35"/>
          <p:cNvSpPr txBox="1"/>
          <p:nvPr/>
        </p:nvSpPr>
        <p:spPr>
          <a:xfrm>
            <a:off x="5726575" y="0"/>
            <a:ext cx="3417300" cy="281051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0"/>
              </a:spcAft>
              <a:buNone/>
            </a:pPr>
            <a:r>
              <a:rPr lang="zh-CN">
                <a:solidFill>
                  <a:schemeClr val="dk1"/>
                </a:solidFill>
              </a:rPr>
              <a:t>Text- and dataset-level</a:t>
            </a:r>
            <a:endParaRPr>
              <a:solidFill>
                <a:schemeClr val="dk1"/>
              </a:solidFill>
            </a:endParaRPr>
          </a:p>
          <a:p>
            <a:pPr marL="457200" lvl="0" indent="-317500" algn="l" rtl="0">
              <a:lnSpc>
                <a:spcPct val="115000"/>
              </a:lnSpc>
              <a:spcBef>
                <a:spcPts val="1200"/>
              </a:spcBef>
              <a:spcAft>
                <a:spcPts val="0"/>
              </a:spcAft>
              <a:buClr>
                <a:schemeClr val="dk1"/>
              </a:buClr>
              <a:buSzPts val="1400"/>
              <a:buChar char="●"/>
            </a:pPr>
            <a:r>
              <a:rPr lang="zh-CN">
                <a:solidFill>
                  <a:schemeClr val="dk1"/>
                </a:solidFill>
              </a:rPr>
              <a:t>LLM-guided rewriting of user posts</a:t>
            </a:r>
            <a:endParaRPr>
              <a:solidFill>
                <a:schemeClr val="dk1"/>
              </a:solidFill>
            </a:endParaRPr>
          </a:p>
          <a:p>
            <a:pPr marL="914400" lvl="1" indent="-317500" algn="l" rtl="0">
              <a:lnSpc>
                <a:spcPct val="115000"/>
              </a:lnSpc>
              <a:spcBef>
                <a:spcPts val="0"/>
              </a:spcBef>
              <a:spcAft>
                <a:spcPts val="0"/>
              </a:spcAft>
              <a:buClr>
                <a:schemeClr val="dk1"/>
              </a:buClr>
              <a:buSzPts val="1400"/>
              <a:buChar char="○"/>
            </a:pPr>
            <a:r>
              <a:rPr lang="zh-CN">
                <a:solidFill>
                  <a:schemeClr val="dk1"/>
                </a:solidFill>
              </a:rPr>
              <a:t>Change sentiment, topic, or human values</a:t>
            </a:r>
            <a:endParaRPr>
              <a:solidFill>
                <a:schemeClr val="dk1"/>
              </a:solidFill>
            </a:endParaRPr>
          </a:p>
          <a:p>
            <a:pPr marL="914400" lvl="1" indent="-317500" algn="l" rtl="0">
              <a:lnSpc>
                <a:spcPct val="115000"/>
              </a:lnSpc>
              <a:spcBef>
                <a:spcPts val="0"/>
              </a:spcBef>
              <a:spcAft>
                <a:spcPts val="0"/>
              </a:spcAft>
              <a:buClr>
                <a:schemeClr val="dk1"/>
              </a:buClr>
              <a:buSzPts val="1400"/>
              <a:buChar char="○"/>
            </a:pPr>
            <a:r>
              <a:rPr lang="zh-CN">
                <a:solidFill>
                  <a:schemeClr val="dk1"/>
                </a:solidFill>
              </a:rPr>
              <a:t>Preserve core meaning and bot/human cues</a:t>
            </a:r>
            <a:br>
              <a:rPr lang="zh-CN">
                <a:solidFill>
                  <a:schemeClr val="dk1"/>
                </a:solidFill>
              </a:rPr>
            </a:b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zh-CN" b="1">
                <a:solidFill>
                  <a:schemeClr val="dk1"/>
                </a:solidFill>
              </a:rPr>
              <a:t>Mix</a:t>
            </a:r>
            <a:r>
              <a:rPr lang="zh-CN">
                <a:solidFill>
                  <a:schemeClr val="dk1"/>
                </a:solidFill>
              </a:rPr>
              <a:t> original and rewritten texts</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zh-CN" b="1">
                <a:solidFill>
                  <a:schemeClr val="dk1"/>
                </a:solidFill>
              </a:rPr>
              <a:t>Break statistical correlations </a:t>
            </a:r>
            <a:r>
              <a:rPr lang="zh-CN">
                <a:solidFill>
                  <a:schemeClr val="dk1"/>
                </a:solidFill>
              </a:rPr>
              <a:t>between shortcuts and labels</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59" name="Shape 259"/>
        <p:cNvGrpSpPr/>
        <p:nvPr/>
      </p:nvGrpSpPr>
      <p:grpSpPr>
        <a:xfrm>
          <a:off x="0" y="0"/>
          <a:ext cx="0" cy="0"/>
          <a:chOff x="0" y="0"/>
          <a:chExt cx="0" cy="0"/>
        </a:xfrm>
      </p:grpSpPr>
      <p:sp>
        <p:nvSpPr>
          <p:cNvPr id="260" name="Google Shape;260;p36"/>
          <p:cNvSpPr txBox="1"/>
          <p:nvPr/>
        </p:nvSpPr>
        <p:spPr>
          <a:xfrm>
            <a:off x="0" y="0"/>
            <a:ext cx="35832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Mitigation Strategies</a:t>
            </a:r>
            <a:endParaRPr sz="2500">
              <a:solidFill>
                <a:schemeClr val="dk2"/>
              </a:solidFill>
            </a:endParaRPr>
          </a:p>
        </p:txBody>
      </p:sp>
      <p:pic>
        <p:nvPicPr>
          <p:cNvPr id="261" name="Google Shape;261;p36"/>
          <p:cNvPicPr preferRelativeResize="0"/>
          <p:nvPr/>
        </p:nvPicPr>
        <p:blipFill>
          <a:blip r:embed="rId1"/>
          <a:stretch>
            <a:fillRect/>
          </a:stretch>
        </p:blipFill>
        <p:spPr>
          <a:xfrm>
            <a:off x="0" y="1175925"/>
            <a:ext cx="5920250" cy="3967575"/>
          </a:xfrm>
          <a:prstGeom prst="rect">
            <a:avLst/>
          </a:prstGeom>
          <a:noFill/>
          <a:ln>
            <a:noFill/>
          </a:ln>
        </p:spPr>
      </p:pic>
      <p:sp>
        <p:nvSpPr>
          <p:cNvPr id="262" name="Google Shape;262;p36"/>
          <p:cNvSpPr txBox="1"/>
          <p:nvPr/>
        </p:nvSpPr>
        <p:spPr>
          <a:xfrm>
            <a:off x="5798775" y="0"/>
            <a:ext cx="3345300" cy="1297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0"/>
              </a:spcAft>
              <a:buNone/>
            </a:pPr>
            <a:r>
              <a:rPr lang="zh-CN">
                <a:solidFill>
                  <a:schemeClr val="dk1"/>
                </a:solidFill>
              </a:rPr>
              <a:t>Model-level intervention</a:t>
            </a:r>
            <a:endParaRPr>
              <a:solidFill>
                <a:schemeClr val="dk1"/>
              </a:solidFill>
            </a:endParaRPr>
          </a:p>
          <a:p>
            <a:pPr marL="457200" lvl="0" indent="-317500" algn="l" rtl="0">
              <a:lnSpc>
                <a:spcPct val="115000"/>
              </a:lnSpc>
              <a:spcBef>
                <a:spcPts val="1200"/>
              </a:spcBef>
              <a:spcAft>
                <a:spcPts val="0"/>
              </a:spcAft>
              <a:buClr>
                <a:schemeClr val="dk1"/>
              </a:buClr>
              <a:buSzPts val="1400"/>
              <a:buChar char="●"/>
            </a:pPr>
            <a:r>
              <a:rPr lang="zh-CN">
                <a:solidFill>
                  <a:schemeClr val="dk1"/>
                </a:solidFill>
              </a:rPr>
              <a:t>Contrastive fine-tuning</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zh-CN">
                <a:solidFill>
                  <a:schemeClr val="dk1"/>
                </a:solidFill>
              </a:rPr>
              <a:t>Encourage ignoring shallow and irrelevant features</a:t>
            </a:r>
            <a:endParaRPr>
              <a:solidFill>
                <a:schemeClr val="dk1"/>
              </a:solidFill>
            </a:endParaRPr>
          </a:p>
        </p:txBody>
      </p:sp>
      <p:pic>
        <p:nvPicPr>
          <p:cNvPr id="263" name="Google Shape;263;p36"/>
          <p:cNvPicPr preferRelativeResize="0"/>
          <p:nvPr/>
        </p:nvPicPr>
        <p:blipFill>
          <a:blip r:embed="rId2"/>
          <a:stretch>
            <a:fillRect/>
          </a:stretch>
        </p:blipFill>
        <p:spPr>
          <a:xfrm>
            <a:off x="6293668" y="3814968"/>
            <a:ext cx="2850401" cy="661950"/>
          </a:xfrm>
          <a:prstGeom prst="rect">
            <a:avLst/>
          </a:prstGeom>
          <a:noFill/>
          <a:ln>
            <a:noFill/>
          </a:ln>
        </p:spPr>
      </p:pic>
      <p:pic>
        <p:nvPicPr>
          <p:cNvPr id="264" name="Google Shape;264;p36"/>
          <p:cNvPicPr preferRelativeResize="0"/>
          <p:nvPr/>
        </p:nvPicPr>
        <p:blipFill>
          <a:blip r:embed="rId3"/>
          <a:stretch>
            <a:fillRect/>
          </a:stretch>
        </p:blipFill>
        <p:spPr>
          <a:xfrm>
            <a:off x="6605025" y="2751225"/>
            <a:ext cx="1684725" cy="373500"/>
          </a:xfrm>
          <a:prstGeom prst="rect">
            <a:avLst/>
          </a:prstGeom>
          <a:noFill/>
          <a:ln>
            <a:noFill/>
          </a:ln>
        </p:spPr>
      </p:pic>
      <p:pic>
        <p:nvPicPr>
          <p:cNvPr id="265" name="Google Shape;265;p36"/>
          <p:cNvPicPr preferRelativeResize="0"/>
          <p:nvPr/>
        </p:nvPicPr>
        <p:blipFill>
          <a:blip r:embed="rId4"/>
          <a:stretch>
            <a:fillRect/>
          </a:stretch>
        </p:blipFill>
        <p:spPr>
          <a:xfrm>
            <a:off x="6509125" y="3532550"/>
            <a:ext cx="1578650" cy="2824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69" name="Shape 269"/>
        <p:cNvGrpSpPr/>
        <p:nvPr/>
      </p:nvGrpSpPr>
      <p:grpSpPr>
        <a:xfrm>
          <a:off x="0" y="0"/>
          <a:ext cx="0" cy="0"/>
          <a:chOff x="0" y="0"/>
          <a:chExt cx="0" cy="0"/>
        </a:xfrm>
      </p:grpSpPr>
      <p:sp>
        <p:nvSpPr>
          <p:cNvPr id="270" name="Google Shape;270;p37"/>
          <p:cNvSpPr txBox="1"/>
          <p:nvPr/>
        </p:nvSpPr>
        <p:spPr>
          <a:xfrm>
            <a:off x="0" y="0"/>
            <a:ext cx="31698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Mitigation Results</a:t>
            </a:r>
            <a:endParaRPr sz="2500">
              <a:solidFill>
                <a:schemeClr val="dk2"/>
              </a:solidFill>
            </a:endParaRPr>
          </a:p>
        </p:txBody>
      </p:sp>
      <p:pic>
        <p:nvPicPr>
          <p:cNvPr id="271" name="Google Shape;271;p37"/>
          <p:cNvPicPr preferRelativeResize="0"/>
          <p:nvPr/>
        </p:nvPicPr>
        <p:blipFill>
          <a:blip r:embed="rId1"/>
          <a:stretch>
            <a:fillRect/>
          </a:stretch>
        </p:blipFill>
        <p:spPr>
          <a:xfrm>
            <a:off x="129525" y="760800"/>
            <a:ext cx="6387850" cy="4230299"/>
          </a:xfrm>
          <a:prstGeom prst="rect">
            <a:avLst/>
          </a:prstGeom>
          <a:noFill/>
          <a:ln>
            <a:noFill/>
          </a:ln>
        </p:spPr>
      </p:pic>
      <p:sp>
        <p:nvSpPr>
          <p:cNvPr id="272" name="Google Shape;272;p37"/>
          <p:cNvSpPr txBox="1"/>
          <p:nvPr/>
        </p:nvSpPr>
        <p:spPr>
          <a:xfrm>
            <a:off x="6517375" y="718125"/>
            <a:ext cx="2626500" cy="1545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0"/>
              </a:spcAft>
              <a:buNone/>
            </a:pPr>
            <a:r>
              <a:rPr lang="zh-CN">
                <a:solidFill>
                  <a:schemeClr val="dk1"/>
                </a:solidFill>
              </a:rPr>
              <a:t>Performance gains</a:t>
            </a:r>
            <a:endParaRPr>
              <a:solidFill>
                <a:schemeClr val="dk1"/>
              </a:solidFill>
            </a:endParaRPr>
          </a:p>
          <a:p>
            <a:pPr marL="457200" lvl="0" indent="-317500" algn="l" rtl="0">
              <a:lnSpc>
                <a:spcPct val="115000"/>
              </a:lnSpc>
              <a:spcBef>
                <a:spcPts val="1200"/>
              </a:spcBef>
              <a:spcAft>
                <a:spcPts val="0"/>
              </a:spcAft>
              <a:buClr>
                <a:schemeClr val="dk1"/>
              </a:buClr>
              <a:buSzPts val="1400"/>
              <a:buChar char="●"/>
            </a:pPr>
            <a:r>
              <a:rPr lang="zh-CN">
                <a:solidFill>
                  <a:schemeClr val="dk1"/>
                </a:solidFill>
              </a:rPr>
              <a:t>Text models: +59% (relative average)</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zh-CN">
                <a:solidFill>
                  <a:schemeClr val="dk1"/>
                </a:solidFill>
              </a:rPr>
              <a:t>Graph models: +53% (relative average)</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76" name="Shape 276"/>
        <p:cNvGrpSpPr/>
        <p:nvPr/>
      </p:nvGrpSpPr>
      <p:grpSpPr>
        <a:xfrm>
          <a:off x="0" y="0"/>
          <a:ext cx="0" cy="0"/>
          <a:chOff x="0" y="0"/>
          <a:chExt cx="0" cy="0"/>
        </a:xfrm>
      </p:grpSpPr>
      <p:sp>
        <p:nvSpPr>
          <p:cNvPr id="277" name="Google Shape;277;p38"/>
          <p:cNvSpPr txBox="1"/>
          <p:nvPr/>
        </p:nvSpPr>
        <p:spPr>
          <a:xfrm>
            <a:off x="0" y="0"/>
            <a:ext cx="30111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Summary</a:t>
            </a:r>
            <a:endParaRPr sz="2500">
              <a:solidFill>
                <a:schemeClr val="dk2"/>
              </a:solidFill>
            </a:endParaRPr>
          </a:p>
        </p:txBody>
      </p:sp>
      <p:sp>
        <p:nvSpPr>
          <p:cNvPr id="278" name="Google Shape;278;p38"/>
          <p:cNvSpPr txBox="1"/>
          <p:nvPr/>
        </p:nvSpPr>
        <p:spPr>
          <a:xfrm>
            <a:off x="0" y="760800"/>
            <a:ext cx="4438800" cy="4283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zh-CN">
                <a:solidFill>
                  <a:schemeClr val="dk1"/>
                </a:solidFill>
              </a:rPr>
              <a:t>Our experimental results indicate that social media text indeed contains shallow features that are irrelevant to labels, yet strongly correlated with them.</a:t>
            </a:r>
            <a:endParaRPr>
              <a:solidFill>
                <a:schemeClr val="dk1"/>
              </a:solidFill>
            </a:endParaRPr>
          </a:p>
          <a:p>
            <a:pPr marL="0" lvl="0" indent="0" algn="l" rtl="0">
              <a:lnSpc>
                <a:spcPct val="115000"/>
              </a:lnSpc>
              <a:spcBef>
                <a:spcPts val="1200"/>
              </a:spcBef>
              <a:spcAft>
                <a:spcPts val="0"/>
              </a:spcAft>
              <a:buNone/>
            </a:pPr>
            <a:r>
              <a:rPr lang="zh-CN">
                <a:solidFill>
                  <a:schemeClr val="dk1"/>
                </a:solidFill>
              </a:rPr>
              <a:t>Under the influence of these features, social bot detection models tend to degenerate into sentiment or topic classifiers, instead of focusing on the desired bot-invariant signals.</a:t>
            </a:r>
            <a:endParaRPr>
              <a:solidFill>
                <a:schemeClr val="dk1"/>
              </a:solidFill>
            </a:endParaRPr>
          </a:p>
          <a:p>
            <a:pPr marL="0" lvl="0" indent="0" algn="l" rtl="0">
              <a:lnSpc>
                <a:spcPct val="115000"/>
              </a:lnSpc>
              <a:spcBef>
                <a:spcPts val="1200"/>
              </a:spcBef>
              <a:spcAft>
                <a:spcPts val="0"/>
              </a:spcAft>
              <a:buNone/>
            </a:pPr>
            <a:r>
              <a:rPr lang="zh-CN">
                <a:solidFill>
                  <a:schemeClr val="dk1"/>
                </a:solidFill>
              </a:rPr>
              <a:t>By leveraging LLM-based counterfactual rewriting for data augmentation, we are able to effectively mitigate this effect.</a:t>
            </a:r>
            <a:endParaRPr>
              <a:solidFill>
                <a:schemeClr val="dk1"/>
              </a:solidFill>
            </a:endParaRPr>
          </a:p>
          <a:p>
            <a:pPr marL="0" lvl="0" indent="0" algn="l" rtl="0">
              <a:lnSpc>
                <a:spcPct val="115000"/>
              </a:lnSpc>
              <a:spcBef>
                <a:spcPts val="1200"/>
              </a:spcBef>
              <a:spcAft>
                <a:spcPts val="0"/>
              </a:spcAft>
              <a:buNone/>
            </a:pPr>
            <a:r>
              <a:rPr lang="zh-CN">
                <a:solidFill>
                  <a:schemeClr val="dk1"/>
                </a:solidFill>
              </a:rPr>
              <a:t>Overall, this work not only reveals the challenges posed by shortcut learning, but also provides a practical and effective mitigation strategy.</a:t>
            </a:r>
            <a:endParaRPr>
              <a:solidFill>
                <a:schemeClr val="dk1"/>
              </a:solidFill>
            </a:endParaRPr>
          </a:p>
          <a:p>
            <a:pPr marL="0" lvl="0" indent="0" algn="l" rtl="0">
              <a:lnSpc>
                <a:spcPct val="115000"/>
              </a:lnSpc>
              <a:spcBef>
                <a:spcPts val="1200"/>
              </a:spcBef>
              <a:spcAft>
                <a:spcPts val="1200"/>
              </a:spcAft>
              <a:buNone/>
            </a:pPr>
            <a:endParaRPr sz="1700">
              <a:solidFill>
                <a:schemeClr val="dk1"/>
              </a:solidFill>
            </a:endParaRPr>
          </a:p>
        </p:txBody>
      </p:sp>
      <p:pic>
        <p:nvPicPr>
          <p:cNvPr id="279" name="Google Shape;279;p38"/>
          <p:cNvPicPr preferRelativeResize="0"/>
          <p:nvPr/>
        </p:nvPicPr>
        <p:blipFill>
          <a:blip r:embed="rId1"/>
          <a:stretch>
            <a:fillRect/>
          </a:stretch>
        </p:blipFill>
        <p:spPr>
          <a:xfrm>
            <a:off x="4961500" y="949262"/>
            <a:ext cx="1759626" cy="2480000"/>
          </a:xfrm>
          <a:prstGeom prst="rect">
            <a:avLst/>
          </a:prstGeom>
          <a:noFill/>
          <a:ln>
            <a:noFill/>
          </a:ln>
        </p:spPr>
      </p:pic>
      <p:pic>
        <p:nvPicPr>
          <p:cNvPr id="280" name="Google Shape;280;p38"/>
          <p:cNvPicPr preferRelativeResize="0"/>
          <p:nvPr/>
        </p:nvPicPr>
        <p:blipFill>
          <a:blip r:embed="rId2"/>
          <a:stretch>
            <a:fillRect/>
          </a:stretch>
        </p:blipFill>
        <p:spPr>
          <a:xfrm>
            <a:off x="6801900" y="949262"/>
            <a:ext cx="2235125" cy="26045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84" name="Shape 284"/>
        <p:cNvGrpSpPr/>
        <p:nvPr/>
      </p:nvGrpSpPr>
      <p:grpSpPr>
        <a:xfrm>
          <a:off x="0" y="0"/>
          <a:ext cx="0" cy="0"/>
          <a:chOff x="0" y="0"/>
          <a:chExt cx="0" cy="0"/>
        </a:xfrm>
      </p:grpSpPr>
      <p:sp>
        <p:nvSpPr>
          <p:cNvPr id="285" name="Google Shape;285;p39"/>
          <p:cNvSpPr txBox="1"/>
          <p:nvPr/>
        </p:nvSpPr>
        <p:spPr>
          <a:xfrm>
            <a:off x="129525" y="152400"/>
            <a:ext cx="30594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500">
                <a:solidFill>
                  <a:schemeClr val="dk2"/>
                </a:solidFill>
              </a:rPr>
              <a:t>Acknowledgments</a:t>
            </a:r>
            <a:endParaRPr sz="2500">
              <a:solidFill>
                <a:schemeClr val="dk2"/>
              </a:solidFill>
            </a:endParaRPr>
          </a:p>
        </p:txBody>
      </p:sp>
      <p:sp>
        <p:nvSpPr>
          <p:cNvPr id="286" name="Google Shape;286;p39"/>
          <p:cNvSpPr txBox="1"/>
          <p:nvPr/>
        </p:nvSpPr>
        <p:spPr>
          <a:xfrm>
            <a:off x="1320975" y="760800"/>
            <a:ext cx="6591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CN" sz="1700">
                <a:latin typeface="Times New Roman" panose="02020603050405020304"/>
                <a:ea typeface="Times New Roman" panose="02020603050405020304"/>
                <a:cs typeface="Times New Roman" panose="02020603050405020304"/>
                <a:sym typeface="Times New Roman" panose="02020603050405020304"/>
              </a:rPr>
              <a:t>We would like to express our gratitude to all the contributors to this work.</a:t>
            </a:r>
            <a:endParaRPr sz="17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90" name="Shape 290"/>
        <p:cNvGrpSpPr/>
        <p:nvPr/>
      </p:nvGrpSpPr>
      <p:grpSpPr>
        <a:xfrm>
          <a:off x="0" y="0"/>
          <a:ext cx="0" cy="0"/>
          <a:chOff x="0" y="0"/>
          <a:chExt cx="0" cy="0"/>
        </a:xfrm>
      </p:grpSpPr>
      <p:pic>
        <p:nvPicPr>
          <p:cNvPr id="291" name="Google Shape;291;p40"/>
          <p:cNvPicPr preferRelativeResize="0"/>
          <p:nvPr/>
        </p:nvPicPr>
        <p:blipFill>
          <a:blip r:embed="rId1"/>
          <a:stretch>
            <a:fillRect/>
          </a:stretch>
        </p:blipFill>
        <p:spPr>
          <a:xfrm>
            <a:off x="4494300" y="904250"/>
            <a:ext cx="4649700" cy="4239252"/>
          </a:xfrm>
          <a:prstGeom prst="rect">
            <a:avLst/>
          </a:prstGeom>
          <a:noFill/>
          <a:ln>
            <a:noFill/>
          </a:ln>
        </p:spPr>
      </p:pic>
      <p:pic>
        <p:nvPicPr>
          <p:cNvPr id="292" name="Google Shape;292;p40"/>
          <p:cNvPicPr preferRelativeResize="0"/>
          <p:nvPr/>
        </p:nvPicPr>
        <p:blipFill>
          <a:blip r:embed="rId2"/>
          <a:stretch>
            <a:fillRect/>
          </a:stretch>
        </p:blipFill>
        <p:spPr>
          <a:xfrm>
            <a:off x="1000675" y="1416524"/>
            <a:ext cx="3214725" cy="3214725"/>
          </a:xfrm>
          <a:prstGeom prst="rect">
            <a:avLst/>
          </a:prstGeom>
          <a:noFill/>
          <a:ln>
            <a:noFill/>
          </a:ln>
        </p:spPr>
      </p:pic>
      <p:sp>
        <p:nvSpPr>
          <p:cNvPr id="293" name="Google Shape;293;p40"/>
          <p:cNvSpPr txBox="1"/>
          <p:nvPr>
            <p:ph type="ctrTitle"/>
          </p:nvPr>
        </p:nvSpPr>
        <p:spPr>
          <a:xfrm>
            <a:off x="158850" y="243150"/>
            <a:ext cx="8826300" cy="1131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zh-CN" sz="3140">
                <a:latin typeface="Times New Roman" panose="02020603050405020304"/>
                <a:ea typeface="Times New Roman" panose="02020603050405020304"/>
                <a:cs typeface="Times New Roman" panose="02020603050405020304"/>
                <a:sym typeface="Times New Roman" panose="02020603050405020304"/>
              </a:rPr>
              <a:t>Bot Meets Shortcut: How </a:t>
            </a:r>
            <a:r>
              <a:rPr lang="zh-CN" sz="3140">
                <a:solidFill>
                  <a:srgbClr val="1F2328"/>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Can LLMs Aid in Handling Unknown Invariance OOD Scenarios?</a:t>
            </a:r>
            <a:endParaRPr sz="314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297" name="Shape 297"/>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301" name="Shape 301"/>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305" name="Shape 305"/>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309" name="Shape 309"/>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313" name="Shape 313"/>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317" name="Shape 317"/>
        <p:cNvGrpSpPr/>
        <p:nvPr/>
      </p:nvGrpSpPr>
      <p:grpSpPr>
        <a:xfrm>
          <a:off x="0" y="0"/>
          <a:ext cx="0" cy="0"/>
          <a:chOff x="0" y="0"/>
          <a:chExt cx="0" cy="0"/>
        </a:xfrm>
      </p:grpSpPr>
      <p:pic>
        <p:nvPicPr>
          <p:cNvPr id="318" name="Google Shape;318;p46"/>
          <p:cNvPicPr preferRelativeResize="0"/>
          <p:nvPr/>
        </p:nvPicPr>
        <p:blipFill>
          <a:blip r:embed="rId1"/>
          <a:stretch>
            <a:fillRect/>
          </a:stretch>
        </p:blipFill>
        <p:spPr>
          <a:xfrm>
            <a:off x="0" y="0"/>
            <a:ext cx="5840650" cy="3728674"/>
          </a:xfrm>
          <a:prstGeom prst="rect">
            <a:avLst/>
          </a:prstGeom>
          <a:noFill/>
          <a:ln>
            <a:noFill/>
          </a:ln>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322" name="Shape 322"/>
        <p:cNvGrpSpPr/>
        <p:nvPr/>
      </p:nvGrpSpPr>
      <p:grpSpPr>
        <a:xfrm>
          <a:off x="0" y="0"/>
          <a:ext cx="0" cy="0"/>
          <a:chOff x="0" y="0"/>
          <a:chExt cx="0" cy="0"/>
        </a:xfrm>
      </p:grpSpPr>
      <p:pic>
        <p:nvPicPr>
          <p:cNvPr id="323" name="Google Shape;323;p47"/>
          <p:cNvPicPr preferRelativeResize="0"/>
          <p:nvPr/>
        </p:nvPicPr>
        <p:blipFill>
          <a:blip r:embed="rId1"/>
          <a:stretch>
            <a:fillRect/>
          </a:stretch>
        </p:blipFill>
        <p:spPr>
          <a:xfrm>
            <a:off x="3775775" y="0"/>
            <a:ext cx="5368225" cy="3510076"/>
          </a:xfrm>
          <a:prstGeom prst="rect">
            <a:avLst/>
          </a:prstGeom>
          <a:noFill/>
          <a:ln>
            <a:noFill/>
          </a:ln>
        </p:spPr>
      </p:pic>
      <p:pic>
        <p:nvPicPr>
          <p:cNvPr id="324" name="Google Shape;324;p47"/>
          <p:cNvPicPr preferRelativeResize="0"/>
          <p:nvPr/>
        </p:nvPicPr>
        <p:blipFill>
          <a:blip r:embed="rId2"/>
          <a:stretch>
            <a:fillRect/>
          </a:stretch>
        </p:blipFill>
        <p:spPr>
          <a:xfrm>
            <a:off x="0" y="0"/>
            <a:ext cx="3775775" cy="2123875"/>
          </a:xfrm>
          <a:prstGeom prst="rect">
            <a:avLst/>
          </a:prstGeom>
          <a:noFill/>
          <a:ln>
            <a:noFill/>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328" name="Shape 328"/>
        <p:cNvGrpSpPr/>
        <p:nvPr/>
      </p:nvGrpSpPr>
      <p:grpSpPr>
        <a:xfrm>
          <a:off x="0" y="0"/>
          <a:ext cx="0" cy="0"/>
          <a:chOff x="0" y="0"/>
          <a:chExt cx="0" cy="0"/>
        </a:xfrm>
      </p:grpSpPr>
      <p:pic>
        <p:nvPicPr>
          <p:cNvPr id="329" name="Google Shape;329;p48"/>
          <p:cNvPicPr preferRelativeResize="0"/>
          <p:nvPr/>
        </p:nvPicPr>
        <p:blipFill>
          <a:blip r:embed="rId1"/>
          <a:stretch>
            <a:fillRect/>
          </a:stretch>
        </p:blipFill>
        <p:spPr>
          <a:xfrm>
            <a:off x="0" y="2571750"/>
            <a:ext cx="9143998" cy="2571750"/>
          </a:xfrm>
          <a:prstGeom prst="rect">
            <a:avLst/>
          </a:prstGeom>
          <a:noFill/>
          <a:ln>
            <a:noFill/>
          </a:ln>
        </p:spPr>
      </p:pic>
      <p:pic>
        <p:nvPicPr>
          <p:cNvPr id="330" name="Google Shape;330;p48"/>
          <p:cNvPicPr preferRelativeResize="0"/>
          <p:nvPr/>
        </p:nvPicPr>
        <p:blipFill>
          <a:blip r:embed="rId2"/>
          <a:stretch>
            <a:fillRect/>
          </a:stretch>
        </p:blipFill>
        <p:spPr>
          <a:xfrm>
            <a:off x="4572000" y="0"/>
            <a:ext cx="4572000" cy="2571750"/>
          </a:xfrm>
          <a:prstGeom prst="rect">
            <a:avLst/>
          </a:prstGeom>
          <a:noFill/>
          <a:ln>
            <a:noFill/>
          </a:ln>
        </p:spPr>
      </p:pic>
      <p:pic>
        <p:nvPicPr>
          <p:cNvPr id="331" name="Google Shape;331;p48"/>
          <p:cNvPicPr preferRelativeResize="0"/>
          <p:nvPr/>
        </p:nvPicPr>
        <p:blipFill>
          <a:blip r:embed="rId3"/>
          <a:stretch>
            <a:fillRect/>
          </a:stretch>
        </p:blipFill>
        <p:spPr>
          <a:xfrm>
            <a:off x="0" y="0"/>
            <a:ext cx="4572000" cy="2571749"/>
          </a:xfrm>
          <a:prstGeom prst="rect">
            <a:avLst/>
          </a:prstGeom>
          <a:noFill/>
          <a:ln>
            <a:noFill/>
          </a:ln>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335" name="Shape 335"/>
        <p:cNvGrpSpPr/>
        <p:nvPr/>
      </p:nvGrpSpPr>
      <p:grpSpPr>
        <a:xfrm>
          <a:off x="0" y="0"/>
          <a:ext cx="0" cy="0"/>
          <a:chOff x="0" y="0"/>
          <a:chExt cx="0" cy="0"/>
        </a:xfrm>
      </p:grpSpPr>
      <p:sp>
        <p:nvSpPr>
          <p:cNvPr id="336" name="Google Shape;336;p49"/>
          <p:cNvSpPr txBox="1"/>
          <p:nvPr/>
        </p:nvSpPr>
        <p:spPr>
          <a:xfrm>
            <a:off x="0" y="0"/>
            <a:ext cx="2672700" cy="49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a:solidFill>
                  <a:schemeClr val="dk2"/>
                </a:solidFill>
              </a:rPr>
              <a:t>De-Bias Method</a:t>
            </a:r>
            <a:endParaRPr sz="1800">
              <a:solidFill>
                <a:schemeClr val="dk2"/>
              </a:solidFill>
            </a:endParaRPr>
          </a:p>
        </p:txBody>
      </p:sp>
      <p:pic>
        <p:nvPicPr>
          <p:cNvPr id="337" name="Google Shape;337;p49"/>
          <p:cNvPicPr preferRelativeResize="0"/>
          <p:nvPr/>
        </p:nvPicPr>
        <p:blipFill>
          <a:blip r:embed="rId1"/>
          <a:stretch>
            <a:fillRect/>
          </a:stretch>
        </p:blipFill>
        <p:spPr>
          <a:xfrm>
            <a:off x="0" y="1428750"/>
            <a:ext cx="6189450" cy="3350825"/>
          </a:xfrm>
          <a:prstGeom prst="rect">
            <a:avLst/>
          </a:prstGeom>
          <a:noFill/>
          <a:ln>
            <a:noFill/>
          </a:ln>
        </p:spPr>
      </p:pic>
      <p:pic>
        <p:nvPicPr>
          <p:cNvPr id="338" name="Google Shape;338;p49"/>
          <p:cNvPicPr preferRelativeResize="0"/>
          <p:nvPr/>
        </p:nvPicPr>
        <p:blipFill>
          <a:blip r:embed="rId2"/>
          <a:stretch>
            <a:fillRect/>
          </a:stretch>
        </p:blipFill>
        <p:spPr>
          <a:xfrm>
            <a:off x="5595297" y="0"/>
            <a:ext cx="3548703" cy="2419350"/>
          </a:xfrm>
          <a:prstGeom prst="rect">
            <a:avLst/>
          </a:prstGeom>
          <a:noFill/>
          <a:ln>
            <a:noFill/>
          </a:ln>
        </p:spPr>
      </p:pic>
      <p:sp>
        <p:nvSpPr>
          <p:cNvPr id="339" name="Google Shape;339;p49"/>
          <p:cNvSpPr txBox="1"/>
          <p:nvPr/>
        </p:nvSpPr>
        <p:spPr>
          <a:xfrm>
            <a:off x="5637200" y="2419350"/>
            <a:ext cx="3507000" cy="903000"/>
          </a:xfrm>
          <a:prstGeom prst="rect">
            <a:avLst/>
          </a:prstGeom>
          <a:noFill/>
          <a:ln>
            <a:noFill/>
          </a:ln>
        </p:spPr>
        <p:txBody>
          <a:bodyPr spcFirstLastPara="1" wrap="square" lIns="91425" tIns="91425" rIns="91425" bIns="91425" anchor="ctr" anchorCtr="0">
            <a:noAutofit/>
          </a:bodyPr>
          <a:lstStyle/>
          <a:p>
            <a:pPr marL="0" marR="952500" lvl="0" indent="0" algn="l" rtl="0">
              <a:lnSpc>
                <a:spcPct val="100000"/>
              </a:lnSpc>
              <a:spcBef>
                <a:spcPts val="0"/>
              </a:spcBef>
              <a:spcAft>
                <a:spcPts val="0"/>
              </a:spcAft>
              <a:buNone/>
            </a:pPr>
            <a:r>
              <a:rPr lang="zh-CN" sz="900">
                <a:solidFill>
                  <a:srgbClr val="1A0DAB"/>
                </a:solidFill>
                <a:highlight>
                  <a:srgbClr val="FFFFFF"/>
                </a:highlight>
                <a:uFill>
                  <a:noFill/>
                </a:uFill>
                <a:hlinkClick r:id="rId3"/>
              </a:rPr>
              <a:t>Learning causally invariant representations for out-of-distribution generalization on graphs</a:t>
            </a:r>
            <a:endParaRPr sz="900"/>
          </a:p>
          <a:p>
            <a:pPr marL="0" lvl="0" indent="0" algn="l" rtl="0">
              <a:lnSpc>
                <a:spcPct val="100000"/>
              </a:lnSpc>
              <a:spcBef>
                <a:spcPts val="200"/>
              </a:spcBef>
              <a:spcAft>
                <a:spcPts val="0"/>
              </a:spcAft>
              <a:buNone/>
            </a:pPr>
            <a:endParaRPr sz="900"/>
          </a:p>
          <a:p>
            <a:pPr marL="0" lvl="0" indent="0" algn="l" rtl="0">
              <a:lnSpc>
                <a:spcPct val="100000"/>
              </a:lnSpc>
              <a:spcBef>
                <a:spcPts val="0"/>
              </a:spcBef>
              <a:spcAft>
                <a:spcPts val="0"/>
              </a:spcAft>
              <a:buNone/>
            </a:pPr>
            <a:r>
              <a:rPr lang="zh-CN" sz="900"/>
              <a:t>https://proceedings.neurips.cc/paper_files/paper/2022/file/8b21a7ea42cbcd1c29a7a88c444cce45-Paper-Conference.pdf</a:t>
            </a:r>
            <a:endParaRPr sz="900"/>
          </a:p>
        </p:txBody>
      </p:sp>
    </p:spTree>
  </p:cSld>
  <p:clrMapOvr>
    <a:masterClrMapping/>
  </p:clrMapOvr>
  <p:transition/>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6543</Words>
  <Application>WPS 演示</Application>
  <PresentationFormat/>
  <Paragraphs>215</Paragraphs>
  <Slides>36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36</vt:i4>
      </vt:variant>
    </vt:vector>
  </HeadingPairs>
  <TitlesOfParts>
    <vt:vector size="44" baseType="lpstr">
      <vt:lpstr>Arial</vt:lpstr>
      <vt:lpstr>宋体</vt:lpstr>
      <vt:lpstr>Wingdings</vt:lpstr>
      <vt:lpstr>Arial</vt:lpstr>
      <vt:lpstr>Times New Roman</vt:lpstr>
      <vt:lpstr>微软雅黑</vt:lpstr>
      <vt:lpstr>Arial Unicode MS</vt:lpstr>
      <vt:lpstr>Simple Light</vt:lpstr>
      <vt:lpstr>Bot Meets Shortcut: How Can LLMs Aid in Handling Unknown Invariance OOD Scenarios?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Bot Meets Shortcut: How Can LLMs Aid in Handling Unknown Invariance OOD Scenarios?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Bot Meets Shortcut: How Can LLMs Aid in Handling Unknown Invariance OOD Scenarios?</dc:title>
  <dc:creator/>
  <cp:lastModifiedBy>WPS_1656573681</cp:lastModifiedBy>
  <cp:revision>16</cp:revision>
  <dcterms:created xsi:type="dcterms:W3CDTF">2025-12-29T12:01:41Z</dcterms:created>
  <dcterms:modified xsi:type="dcterms:W3CDTF">2025-12-29T13:36:18Z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EF566956E6AA4A2387B94D48EDD56A01_12</vt:lpwstr>
  </property>
</Properties>
</file>