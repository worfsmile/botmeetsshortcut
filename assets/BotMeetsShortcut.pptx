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307" r:id="rId5"/>
    <p:sldId id="302" r:id="rId6"/>
    <p:sldId id="294" r:id="rId7"/>
    <p:sldId id="303" r:id="rId8"/>
    <p:sldId id="304" r:id="rId9"/>
    <p:sldId id="268" r:id="rId10"/>
    <p:sldId id="308" r:id="rId11"/>
    <p:sldId id="311" r:id="rId12"/>
    <p:sldId id="295" r:id="rId13"/>
    <p:sldId id="312" r:id="rId14"/>
    <p:sldId id="313" r:id="rId15"/>
    <p:sldId id="305" r:id="rId16"/>
    <p:sldId id="296" r:id="rId17"/>
    <p:sldId id="273" r:id="rId18"/>
    <p:sldId id="299" r:id="rId19"/>
    <p:sldId id="277" r:id="rId20"/>
    <p:sldId id="278" r:id="rId21"/>
    <p:sldId id="279" r:id="rId22"/>
    <p:sldId id="280" r:id="rId23"/>
    <p:sldId id="300" r:id="rId24"/>
    <p:sldId id="298" r:id="rId25"/>
    <p:sldId id="297" r:id="rId2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554" autoAdjust="0"/>
  </p:normalViewPr>
  <p:slideViewPr>
    <p:cSldViewPr snapToGrid="0" showGuides="1">
      <p:cViewPr varScale="1">
        <p:scale>
          <a:sx n="106" d="100"/>
          <a:sy n="106" d="100"/>
        </p:scale>
        <p:origin x="1764"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highlight>
                  <a:srgbClr val="000000">
                    <a:alpha val="0"/>
                  </a:srgbClr>
                </a:highlight>
                <a:sym typeface="+mn-ea"/>
              </a:rPr>
              <a:t>Good afternoon, everyone!</a:t>
            </a:r>
            <a:endParaRPr sz="1200">
              <a:solidFill>
                <a:srgbClr val="333333"/>
              </a:solidFill>
              <a:highlight>
                <a:srgbClr val="000000">
                  <a:alpha val="0"/>
                </a:srgbClr>
              </a:highlight>
            </a:endParaRPr>
          </a:p>
          <a:p>
            <a:pPr marL="0" lvl="0" indent="0" algn="l" rtl="0">
              <a:spcBef>
                <a:spcPts val="0"/>
              </a:spcBef>
              <a:spcAft>
                <a:spcPts val="0"/>
              </a:spcAft>
              <a:buNone/>
            </a:pPr>
            <a:r>
              <a:rPr lang="zh-CN" sz="1200">
                <a:solidFill>
                  <a:srgbClr val="333333"/>
                </a:solidFill>
                <a:highlight>
                  <a:srgbClr val="000000">
                    <a:alpha val="0"/>
                  </a:srgbClr>
                </a:highlight>
                <a:sym typeface="+mn-ea"/>
              </a:rPr>
              <a:t>It’s a great pleasure to be here today and have the opportunity to share our work </a:t>
            </a:r>
            <a:endParaRPr lang="zh-CN" sz="1200">
              <a:solidFill>
                <a:srgbClr val="333333"/>
              </a:solidFill>
              <a:highlight>
                <a:srgbClr val="000000">
                  <a:alpha val="0"/>
                </a:srgbClr>
              </a:highlight>
            </a:endParaRPr>
          </a:p>
          <a:p>
            <a:pPr marL="0" lvl="0" indent="0" algn="l" rtl="0">
              <a:spcBef>
                <a:spcPts val="0"/>
              </a:spcBef>
              <a:spcAft>
                <a:spcPts val="0"/>
              </a:spcAft>
              <a:buNone/>
            </a:pPr>
            <a:r>
              <a:rPr lang="zh-CN" sz="1200">
                <a:solidFill>
                  <a:srgbClr val="333333"/>
                </a:solidFill>
                <a:highlight>
                  <a:srgbClr val="000000">
                    <a:alpha val="0"/>
                  </a:srgbClr>
                </a:highlight>
                <a:sym typeface="+mn-ea"/>
              </a:rPr>
              <a:t>"Bot Meets Shortcut" </a:t>
            </a:r>
            <a:r>
              <a:rPr lang="en-US" altLang="zh-CN" sz="1200">
                <a:solidFill>
                  <a:srgbClr val="333333"/>
                </a:solidFill>
                <a:highlight>
                  <a:srgbClr val="000000">
                    <a:alpha val="0"/>
                  </a:srgbClr>
                </a:highlight>
                <a:sym typeface="+mn-ea"/>
              </a:rPr>
              <a:t>with you</a:t>
            </a:r>
            <a:endParaRPr sz="1200">
              <a:solidFill>
                <a:srgbClr val="333333"/>
              </a:solidFill>
              <a:highlight>
                <a:srgbClr val="000000">
                  <a:alpha val="0"/>
                </a:srgbClr>
              </a:highlight>
            </a:endParaRPr>
          </a:p>
          <a:p>
            <a:pPr marL="0" lvl="0" indent="0" algn="l" rtl="0">
              <a:spcBef>
                <a:spcPts val="0"/>
              </a:spcBef>
              <a:spcAft>
                <a:spcPts val="0"/>
              </a:spcAft>
              <a:buNone/>
            </a:pPr>
            <a:r>
              <a:rPr lang="zh-CN" sz="1200">
                <a:solidFill>
                  <a:srgbClr val="333333"/>
                </a:solidFill>
                <a:highlight>
                  <a:srgbClr val="000000">
                    <a:alpha val="0"/>
                  </a:srgbClr>
                </a:highlight>
                <a:sym typeface="+mn-ea"/>
              </a:rPr>
              <a:t>Our team comes from Xi'an Jiaotong University and Beijing Institute of Technology.</a:t>
            </a:r>
            <a:endParaRPr sz="1200">
              <a:solidFill>
                <a:srgbClr val="333333"/>
              </a:solidFill>
              <a:highlight>
                <a:srgbClr val="000000">
                  <a:alpha val="0"/>
                </a:srgbClr>
              </a:highlight>
            </a:endParaRPr>
          </a:p>
          <a:p>
            <a:pPr marL="0" lvl="0" indent="0" algn="l" rtl="0">
              <a:spcBef>
                <a:spcPts val="0"/>
              </a:spcBef>
              <a:spcAft>
                <a:spcPts val="0"/>
              </a:spcAft>
              <a:buNone/>
            </a:pPr>
            <a:r>
              <a:rPr lang="zh-CN" sz="1200">
                <a:solidFill>
                  <a:srgbClr val="333333"/>
                </a:solidFill>
                <a:highlight>
                  <a:srgbClr val="000000">
                    <a:alpha val="0"/>
                  </a:srgbClr>
                </a:highlight>
                <a:sym typeface="+mn-ea"/>
              </a:rPr>
              <a:t>I am Zheng Shiyan.</a:t>
            </a:r>
            <a:endParaRPr lang="zh-CN" sz="1200">
              <a:solidFill>
                <a:srgbClr val="333333"/>
              </a:solidFill>
              <a:highlight>
                <a:srgbClr val="000000">
                  <a:alpha val="0"/>
                </a:srgbClr>
              </a:highlight>
            </a:endParaRPr>
          </a:p>
          <a:p>
            <a:pPr marL="0" lvl="0" indent="0" algn="l" rtl="0">
              <a:spcBef>
                <a:spcPts val="0"/>
              </a:spcBef>
              <a:spcAft>
                <a:spcPts val="0"/>
              </a:spcAft>
              <a:buNone/>
            </a:pPr>
            <a:endParaRPr lang="zh-CN" sz="1200" dirty="0">
              <a:solidFill>
                <a:srgbClr val="333333"/>
              </a:solidFill>
              <a:highlight>
                <a:srgbClr val="000000">
                  <a:alpha val="0"/>
                </a:srgbClr>
              </a:highlight>
            </a:endParaRPr>
          </a:p>
          <a:p>
            <a:pPr marL="0" lvl="0" indent="0" algn="l" rtl="0">
              <a:spcBef>
                <a:spcPts val="0"/>
              </a:spcBef>
              <a:spcAft>
                <a:spcPts val="0"/>
              </a:spcAft>
              <a:buNone/>
            </a:pPr>
            <a:endParaRPr lang="zh-CN" sz="1200" dirty="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Good afternoon, everyone! //</a:t>
            </a:r>
            <a:endParaRPr lang="en-US" altLang="zh-CN" sz="1200" dirty="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It’s a great pleasure to be here today, /</a:t>
            </a:r>
            <a:endParaRPr lang="en-US" altLang="zh-CN" sz="1200" dirty="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and to have the opportunity to share our work, /</a:t>
            </a:r>
            <a:endParaRPr lang="en-US" altLang="zh-CN" sz="1200" dirty="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“Bot Meets Shrtcut,” /</a:t>
            </a:r>
            <a:endParaRPr lang="en-US" altLang="zh-CN" sz="1200" dirty="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with you. //</a:t>
            </a:r>
            <a:endParaRPr lang="en-US" altLang="zh-CN" sz="1200" dirty="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Our team comes from /</a:t>
            </a:r>
            <a:endParaRPr lang="en-US" altLang="zh-CN" sz="1200" dirty="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Xi’an Jiaotong University /</a:t>
            </a:r>
            <a:endParaRPr lang="en-US" altLang="zh-CN" sz="1200" dirty="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and Beijing Institute of Technology. //</a:t>
            </a:r>
            <a:endParaRPr lang="en-US" altLang="zh-CN" sz="1200" dirty="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I am Zheng Shiyan. //</a:t>
            </a:r>
            <a:endParaRPr lang="en-US" altLang="zh-CN" sz="1200" dirty="0">
              <a:solidFill>
                <a:srgbClr val="333333"/>
              </a:solidFill>
              <a:highlight>
                <a:srgbClr val="000000">
                  <a:alpha val="0"/>
                </a:srgbClr>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g3b3a8f46d61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b3a8f46d6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altLang="zh-CN" sz="1200">
                <a:solidFill>
                  <a:srgbClr val="333333"/>
                </a:solidFill>
                <a:highlight>
                  <a:srgbClr val="000000">
                    <a:alpha val="0"/>
                  </a:srgbClr>
                </a:highlight>
                <a:sym typeface="+mn-ea"/>
              </a:rPr>
              <a:t>Nowadays</a:t>
            </a:r>
            <a:r>
              <a:rPr lang="zh-CN" sz="1200">
                <a:solidFill>
                  <a:srgbClr val="333333"/>
                </a:solidFill>
                <a:highlight>
                  <a:srgbClr val="000000">
                    <a:alpha val="0"/>
                  </a:srgbClr>
                </a:highlight>
                <a:sym typeface="+mn-ea"/>
              </a:rPr>
              <a:t>, with this widespread presence of social networks, </a:t>
            </a:r>
            <a:r>
              <a:rPr lang="en-US" altLang="zh-CN" sz="1200" dirty="0">
                <a:solidFill>
                  <a:srgbClr val="333333"/>
                </a:solidFill>
                <a:highlight>
                  <a:srgbClr val="000000">
                    <a:alpha val="0"/>
                  </a:srgbClr>
                </a:highlight>
                <a:sym typeface="+mn-ea"/>
              </a:rPr>
              <a:t>social bots have evolved and become more diverse. At the same time, large language models further amplify this issue, enabling bots to generate content that sound like real users with just a simple prompt.</a:t>
            </a:r>
            <a:endParaRPr lang="en-US" altLang="zh-CN" sz="1200" dirty="0">
              <a:solidFill>
                <a:srgbClr val="333333"/>
              </a:solidFill>
              <a:highlight>
                <a:srgbClr val="000000">
                  <a:alpha val="0"/>
                </a:srgbClr>
              </a:highlight>
              <a:sym typeface="+mn-ea"/>
            </a:endParaRPr>
          </a:p>
          <a:p>
            <a:pPr marL="0" lvl="0" indent="0" algn="l" rtl="0">
              <a:spcBef>
                <a:spcPts val="0"/>
              </a:spcBef>
              <a:spcAft>
                <a:spcPts val="0"/>
              </a:spcAft>
              <a:buClr>
                <a:schemeClr val="dk1"/>
              </a:buClr>
              <a:buSzPts val="1100"/>
              <a:buFont typeface="Arial" panose="020B0604020202020204"/>
              <a:buNone/>
            </a:pPr>
            <a:endParaRPr lang="en-US" altLang="zh-CN" sz="1200" dirty="0">
              <a:solidFill>
                <a:srgbClr val="333333"/>
              </a:solidFill>
              <a:highlight>
                <a:srgbClr val="000000">
                  <a:alpha val="0"/>
                </a:srgbClr>
              </a:highlight>
              <a:sym typeface="+mn-ea"/>
            </a:endParaRPr>
          </a:p>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sym typeface="+mn-ea"/>
              </a:rPr>
              <a:t>Nowadays, with the widespread use of social networks, /</a:t>
            </a:r>
            <a:endParaRPr lang="en-US" altLang="zh-CN" sz="1200" dirty="0">
              <a:solidFill>
                <a:srgbClr val="333333"/>
              </a:solidFill>
              <a:highlight>
                <a:srgbClr val="000000">
                  <a:alpha val="0"/>
                </a:srgbClr>
              </a:highlight>
              <a:sym typeface="+mn-ea"/>
            </a:endParaRPr>
          </a:p>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sym typeface="+mn-ea"/>
              </a:rPr>
              <a:t>social bots have evolved and become increasingly diverse. //</a:t>
            </a:r>
            <a:endParaRPr lang="en-US" altLang="zh-CN" sz="1200" dirty="0">
              <a:solidFill>
                <a:srgbClr val="333333"/>
              </a:solidFill>
              <a:highlight>
                <a:srgbClr val="000000">
                  <a:alpha val="0"/>
                </a:srgbClr>
              </a:highlight>
              <a:sym typeface="+mn-ea"/>
            </a:endParaRPr>
          </a:p>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sym typeface="+mn-ea"/>
              </a:rPr>
              <a:t>At the same time, /</a:t>
            </a:r>
            <a:endParaRPr lang="en-US" altLang="zh-CN" sz="1200" dirty="0">
              <a:solidFill>
                <a:srgbClr val="333333"/>
              </a:solidFill>
              <a:highlight>
                <a:srgbClr val="000000">
                  <a:alpha val="0"/>
                </a:srgbClr>
              </a:highlight>
              <a:sym typeface="+mn-ea"/>
            </a:endParaRPr>
          </a:p>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sym typeface="+mn-ea"/>
              </a:rPr>
              <a:t>large language models further amplify this issue, /</a:t>
            </a:r>
            <a:endParaRPr lang="en-US" altLang="zh-CN" sz="1200" dirty="0">
              <a:solidFill>
                <a:srgbClr val="333333"/>
              </a:solidFill>
              <a:highlight>
                <a:srgbClr val="000000">
                  <a:alpha val="0"/>
                </a:srgbClr>
              </a:highlight>
              <a:sym typeface="+mn-ea"/>
            </a:endParaRPr>
          </a:p>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sym typeface="+mn-ea"/>
              </a:rPr>
              <a:t>enabling bots/ to generate content/ that sounds like real users, /</a:t>
            </a:r>
            <a:endParaRPr lang="en-US" altLang="zh-CN" sz="1200" dirty="0">
              <a:solidFill>
                <a:srgbClr val="333333"/>
              </a:solidFill>
              <a:highlight>
                <a:srgbClr val="000000">
                  <a:alpha val="0"/>
                </a:srgbClr>
              </a:highlight>
              <a:sym typeface="+mn-ea"/>
            </a:endParaRPr>
          </a:p>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sym typeface="+mn-ea"/>
              </a:rPr>
              <a:t>with just a simple prompt. //</a:t>
            </a:r>
            <a:endParaRPr lang="en-US" altLang="zh-CN" sz="1200" dirty="0">
              <a:solidFill>
                <a:srgbClr val="333333"/>
              </a:solidFill>
              <a:highlight>
                <a:srgbClr val="000000">
                  <a:alpha val="0"/>
                </a:srgbClr>
              </a:highlight>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g3b3a8f46d61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b3a8f46d6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panose="020B0604020202020204"/>
              <a:buNone/>
              <a:defRPr/>
            </a:pPr>
            <a:r>
              <a:rPr lang="en-US" altLang="zh-CN" sz="1200" dirty="0">
                <a:solidFill>
                  <a:srgbClr val="333333"/>
                </a:solidFill>
                <a:highlight>
                  <a:srgbClr val="000000">
                    <a:alpha val="0"/>
                  </a:srgbClr>
                </a:highlight>
              </a:rPr>
              <a:t>What’s more, social bots are widely employed/ in diverse fields, </a:t>
            </a:r>
            <a:endParaRPr lang="en-US" altLang="zh-CN" sz="1200" dirty="0">
              <a:solidFill>
                <a:srgbClr val="333333"/>
              </a:solidFill>
              <a:highlight>
                <a:srgbClr val="000000">
                  <a:alpha val="0"/>
                </a:srgbClr>
              </a:highlight>
            </a:endParaRPr>
          </a:p>
          <a:p>
            <a:pPr marL="0" marR="0" lvl="0" indent="0" algn="l" defTabSz="914400" rtl="0" eaLnBrk="1" fontAlgn="auto" latinLnBrk="0" hangingPunct="1">
              <a:lnSpc>
                <a:spcPct val="100000"/>
              </a:lnSpc>
              <a:spcBef>
                <a:spcPts val="0"/>
              </a:spcBef>
              <a:spcAft>
                <a:spcPts val="0"/>
              </a:spcAft>
              <a:buClr>
                <a:schemeClr val="dk1"/>
              </a:buClr>
              <a:buSzPts val="1100"/>
              <a:buFont typeface="Arial" panose="020B0604020202020204"/>
              <a:buNone/>
              <a:defRPr/>
            </a:pPr>
            <a:r>
              <a:rPr lang="en-US" altLang="zh-CN" sz="1200" dirty="0">
                <a:solidFill>
                  <a:srgbClr val="333333"/>
                </a:solidFill>
                <a:highlight>
                  <a:srgbClr val="000000">
                    <a:alpha val="0"/>
                  </a:srgbClr>
                </a:highlight>
              </a:rPr>
              <a:t>from political campaigns/ to information operations, </a:t>
            </a:r>
            <a:endParaRPr lang="en-US" altLang="zh-CN" sz="1200" dirty="0">
              <a:solidFill>
                <a:srgbClr val="333333"/>
              </a:solidFill>
              <a:highlight>
                <a:srgbClr val="000000">
                  <a:alpha val="0"/>
                </a:srgbClr>
              </a:highlight>
            </a:endParaRPr>
          </a:p>
          <a:p>
            <a:pPr marL="0" marR="0" lvl="0" indent="0" algn="l" defTabSz="914400" rtl="0" eaLnBrk="1" fontAlgn="auto" latinLnBrk="0" hangingPunct="1">
              <a:lnSpc>
                <a:spcPct val="100000"/>
              </a:lnSpc>
              <a:spcBef>
                <a:spcPts val="0"/>
              </a:spcBef>
              <a:spcAft>
                <a:spcPts val="0"/>
              </a:spcAft>
              <a:buClr>
                <a:schemeClr val="dk1"/>
              </a:buClr>
              <a:buSzPts val="1100"/>
              <a:buFont typeface="Arial" panose="020B0604020202020204"/>
              <a:buNone/>
              <a:defRPr/>
            </a:pPr>
            <a:r>
              <a:rPr lang="en-US" altLang="zh-CN" sz="1200" dirty="0">
                <a:solidFill>
                  <a:srgbClr val="333333"/>
                </a:solidFill>
                <a:highlight>
                  <a:srgbClr val="000000">
                    <a:alpha val="0"/>
                  </a:srgbClr>
                </a:highlight>
              </a:rPr>
              <a:t>with their presence growing, adapting to environments/ and evading detection.</a:t>
            </a:r>
            <a:endParaRPr lang="en-US" altLang="zh-CN" sz="1200" dirty="0">
              <a:solidFill>
                <a:srgbClr val="333333"/>
              </a:solidFill>
              <a:highlight>
                <a:srgbClr val="000000">
                  <a:alpha val="0"/>
                </a:srgbClr>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g3b3a8f46d61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b3a8f46d6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altLang="zh-CN" sz="1200">
                <a:solidFill>
                  <a:srgbClr val="333333"/>
                </a:solidFill>
                <a:highlight>
                  <a:srgbClr val="000000">
                    <a:alpha val="0"/>
                  </a:srgbClr>
                </a:highlight>
                <a:sym typeface="+mn-ea"/>
              </a:rPr>
              <a:t>Motivated by these challenges, </a:t>
            </a:r>
            <a:endParaRPr lang="en-US" altLang="zh-CN" sz="1200">
              <a:solidFill>
                <a:srgbClr val="333333"/>
              </a:solidFill>
              <a:highlight>
                <a:srgbClr val="000000">
                  <a:alpha val="0"/>
                </a:srgbClr>
              </a:highlight>
              <a:sym typeface="+mn-ea"/>
            </a:endParaRPr>
          </a:p>
          <a:p>
            <a:pPr marL="0" lvl="0" indent="0" algn="l" rtl="0">
              <a:spcBef>
                <a:spcPts val="0"/>
              </a:spcBef>
              <a:spcAft>
                <a:spcPts val="0"/>
              </a:spcAft>
              <a:buClr>
                <a:schemeClr val="dk1"/>
              </a:buClr>
              <a:buSzPts val="1100"/>
              <a:buFont typeface="Arial" panose="020B0604020202020204"/>
              <a:buNone/>
            </a:pPr>
            <a:r>
              <a:rPr lang="en-US" altLang="zh-CN" sz="1200">
                <a:solidFill>
                  <a:srgbClr val="333333"/>
                </a:solidFill>
                <a:highlight>
                  <a:srgbClr val="000000">
                    <a:alpha val="0"/>
                  </a:srgbClr>
                </a:highlight>
                <a:sym typeface="+mn-ea"/>
              </a:rPr>
              <a:t>we study the complexity of social bots/ and explore shortcut features/ </a:t>
            </a:r>
            <a:r>
              <a:rPr lang="zh-CN" sz="1200">
                <a:solidFill>
                  <a:srgbClr val="333333"/>
                </a:solidFill>
                <a:highlight>
                  <a:srgbClr val="000000">
                    <a:alpha val="0"/>
                  </a:srgbClr>
                </a:highlight>
                <a:sym typeface="+mn-ea"/>
              </a:rPr>
              <a:t>that could impact social bot detection. </a:t>
            </a:r>
            <a:endParaRPr lang="en-US" altLang="zh-CN" sz="1200">
              <a:solidFill>
                <a:srgbClr val="333333"/>
              </a:solidFill>
              <a:highlight>
                <a:srgbClr val="000000">
                  <a:alpha val="0"/>
                </a:srgbClr>
              </a:highlight>
            </a:endParaRPr>
          </a:p>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rPr>
              <a:t>To detect social bots effectively, /</a:t>
            </a:r>
            <a:endParaRPr lang="en-US" altLang="zh-CN" sz="1200" dirty="0">
              <a:solidFill>
                <a:srgbClr val="333333"/>
              </a:solidFill>
              <a:highlight>
                <a:srgbClr val="000000">
                  <a:alpha val="0"/>
                </a:srgbClr>
              </a:highlight>
            </a:endParaRPr>
          </a:p>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rPr>
              <a:t>detectors must focus on deep causal cues /rather than superficial /</a:t>
            </a:r>
            <a:r>
              <a:rPr lang="en-US" altLang="en-US" sz="1200" dirty="0">
                <a:solidFill>
                  <a:srgbClr val="333333"/>
                </a:solidFill>
                <a:highlight>
                  <a:srgbClr val="000000">
                    <a:alpha val="0"/>
                  </a:srgbClr>
                </a:highlight>
              </a:rPr>
              <a:t>ˌ</a:t>
            </a:r>
            <a:r>
              <a:rPr lang="en-US" altLang="zh-CN" sz="1200" dirty="0">
                <a:solidFill>
                  <a:srgbClr val="333333"/>
                </a:solidFill>
                <a:highlight>
                  <a:srgbClr val="000000">
                    <a:alpha val="0"/>
                  </a:srgbClr>
                </a:highlight>
              </a:rPr>
              <a:t>su</a:t>
            </a:r>
            <a:r>
              <a:rPr lang="en-US" altLang="en-US" sz="1200" dirty="0">
                <a:solidFill>
                  <a:srgbClr val="333333"/>
                </a:solidFill>
                <a:highlight>
                  <a:srgbClr val="000000">
                    <a:alpha val="0"/>
                  </a:srgbClr>
                </a:highlight>
              </a:rPr>
              <a:t>ː</a:t>
            </a:r>
            <a:r>
              <a:rPr lang="en-US" altLang="zh-CN" sz="1200" dirty="0">
                <a:solidFill>
                  <a:srgbClr val="333333"/>
                </a:solidFill>
                <a:highlight>
                  <a:srgbClr val="000000">
                    <a:alpha val="0"/>
                  </a:srgbClr>
                </a:highlight>
              </a:rPr>
              <a:t>p</a:t>
            </a:r>
            <a:r>
              <a:rPr lang="en-US" altLang="en-US" sz="1200" dirty="0">
                <a:solidFill>
                  <a:srgbClr val="333333"/>
                </a:solidFill>
                <a:highlight>
                  <a:srgbClr val="000000">
                    <a:alpha val="0"/>
                  </a:srgbClr>
                </a:highlight>
              </a:rPr>
              <a:t>əˈ</a:t>
            </a:r>
            <a:r>
              <a:rPr lang="en-US" altLang="zh-CN" sz="1200" dirty="0">
                <a:solidFill>
                  <a:srgbClr val="333333"/>
                </a:solidFill>
                <a:highlight>
                  <a:srgbClr val="000000">
                    <a:alpha val="0"/>
                  </a:srgbClr>
                </a:highlight>
              </a:rPr>
              <a:t>f</a:t>
            </a:r>
            <a:r>
              <a:rPr lang="en-US" altLang="en-US" sz="1200" dirty="0">
                <a:solidFill>
                  <a:srgbClr val="333333"/>
                </a:solidFill>
                <a:highlight>
                  <a:srgbClr val="000000">
                    <a:alpha val="0"/>
                  </a:srgbClr>
                </a:highlight>
              </a:rPr>
              <a:t>ɪʃə</a:t>
            </a:r>
            <a:r>
              <a:rPr lang="en-US" altLang="zh-CN" sz="1200" dirty="0">
                <a:solidFill>
                  <a:srgbClr val="333333"/>
                </a:solidFill>
                <a:highlight>
                  <a:srgbClr val="000000">
                    <a:alpha val="0"/>
                  </a:srgbClr>
                </a:highlight>
              </a:rPr>
              <a:t>l/</a:t>
            </a:r>
            <a:r>
              <a:rPr lang="en-US" altLang="zh-CN" sz="1200" dirty="0">
                <a:solidFill>
                  <a:srgbClr val="333333"/>
                </a:solidFill>
                <a:highlight>
                  <a:srgbClr val="000000">
                    <a:alpha val="0"/>
                  </a:srgbClr>
                </a:highlight>
              </a:rPr>
              <a:t> shortcuts.</a:t>
            </a:r>
            <a:endParaRPr lang="en-US" altLang="zh-CN" sz="1200" dirty="0">
              <a:solidFill>
                <a:srgbClr val="333333"/>
              </a:solidFill>
              <a:highlight>
                <a:srgbClr val="000000">
                  <a:alpha val="0"/>
                </a:srgbClr>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g3b3a8f46d61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b3a8f46d6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rPr>
              <a:t>For example, /in real-world scenarios, /we can't assume that angry accounts /are bots or happy ones /are humans. </a:t>
            </a:r>
            <a:endParaRPr lang="en-US" altLang="zh-CN" sz="1200" dirty="0">
              <a:solidFill>
                <a:srgbClr val="333333"/>
              </a:solidFill>
              <a:highlight>
                <a:srgbClr val="000000">
                  <a:alpha val="0"/>
                </a:srgbClr>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g3b3a8f46d61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b3a8f46d61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altLang="zh-CN" sz="1200" dirty="0">
                <a:solidFill>
                  <a:srgbClr val="333333"/>
                </a:solidFill>
                <a:highlight>
                  <a:srgbClr val="000000">
                    <a:alpha val="0"/>
                  </a:srgbClr>
                </a:highlight>
              </a:rPr>
              <a:t>However, detectors may still learn these shortcuts, which raises the question: /how does shortcut learning /impact detectors’ performance?</a:t>
            </a:r>
            <a:endParaRPr lang="en-US" altLang="zh-CN" sz="1200" dirty="0">
              <a:solidFill>
                <a:srgbClr val="333333"/>
              </a:solidFill>
              <a:highlight>
                <a:srgbClr val="000000">
                  <a:alpha val="0"/>
                </a:srgbClr>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0"/>
        <p:cNvGrpSpPr/>
        <p:nvPr/>
      </p:nvGrpSpPr>
      <p:grpSpPr>
        <a:xfrm>
          <a:off x="0" y="0"/>
          <a:ext cx="0" cy="0"/>
          <a:chOff x="0" y="0"/>
          <a:chExt cx="0" cy="0"/>
        </a:xfrm>
      </p:grpSpPr>
      <p:sp>
        <p:nvSpPr>
          <p:cNvPr id="161" name="Google Shape;161;g3b2e702bf0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b2e702bf0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ym typeface="+mn-ea"/>
              </a:rPr>
              <a:t>So, to study model behavior under shortcut features, we</a:t>
            </a:r>
            <a:r>
              <a:rPr lang="en-US" altLang="zh-CN" sz="1200">
                <a:sym typeface="+mn-ea"/>
              </a:rPr>
              <a:t>/</a:t>
            </a:r>
            <a:r>
              <a:rPr lang="zh-CN" sz="1200">
                <a:sym typeface="+mn-ea"/>
              </a:rPr>
              <a:t> construct controlled scenarios. </a:t>
            </a:r>
            <a:endParaRPr lang="zh-CN" sz="1200"/>
          </a:p>
          <a:p>
            <a:pPr marL="0" lvl="0" indent="0" algn="l" rtl="0">
              <a:spcBef>
                <a:spcPts val="0"/>
              </a:spcBef>
              <a:spcAft>
                <a:spcPts val="0"/>
              </a:spcAft>
              <a:buNone/>
            </a:pPr>
            <a:r>
              <a:rPr lang="en-US" altLang="zh-CN" sz="1200">
                <a:sym typeface="+mn-ea"/>
              </a:rPr>
              <a:t>W</a:t>
            </a:r>
            <a:r>
              <a:rPr lang="zh-CN" sz="1200">
                <a:sym typeface="+mn-ea"/>
              </a:rPr>
              <a:t>e focus on text, </a:t>
            </a:r>
            <a:r>
              <a:rPr lang="en-US" altLang="zh-CN" sz="1200">
                <a:sym typeface="+mn-ea"/>
              </a:rPr>
              <a:t>/</a:t>
            </a:r>
            <a:r>
              <a:rPr lang="zh-CN" sz="1200">
                <a:sym typeface="+mn-ea"/>
              </a:rPr>
              <a:t>since it is the primary medium </a:t>
            </a:r>
            <a:r>
              <a:rPr lang="en-US" altLang="zh-CN" sz="1200">
                <a:sym typeface="+mn-ea"/>
              </a:rPr>
              <a:t>/</a:t>
            </a:r>
            <a:r>
              <a:rPr lang="zh-CN" sz="1200">
                <a:sym typeface="+mn-ea"/>
              </a:rPr>
              <a:t>of social interaction, </a:t>
            </a:r>
            <a:endParaRPr sz="1200" dirty="0">
              <a:solidFill>
                <a:srgbClr val="333333"/>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0"/>
        <p:cNvGrpSpPr/>
        <p:nvPr/>
      </p:nvGrpSpPr>
      <p:grpSpPr>
        <a:xfrm>
          <a:off x="0" y="0"/>
          <a:ext cx="0" cy="0"/>
          <a:chOff x="0" y="0"/>
          <a:chExt cx="0" cy="0"/>
        </a:xfrm>
      </p:grpSpPr>
      <p:sp>
        <p:nvSpPr>
          <p:cNvPr id="161" name="Google Shape;161;g3b2e702bf0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b2e702bf0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sym typeface="+mn-ea"/>
              </a:rPr>
              <a:t>We identify candidate shortcut features </a:t>
            </a:r>
            <a:r>
              <a:rPr lang="en-US" altLang="zh-CN" sz="1200">
                <a:solidFill>
                  <a:srgbClr val="333333"/>
                </a:solidFill>
                <a:sym typeface="+mn-ea"/>
              </a:rPr>
              <a:t>/</a:t>
            </a:r>
            <a:r>
              <a:rPr lang="zh-CN" sz="1200">
                <a:solidFill>
                  <a:srgbClr val="333333"/>
                </a:solidFill>
                <a:sym typeface="+mn-ea"/>
              </a:rPr>
              <a:t>and</a:t>
            </a:r>
            <a:r>
              <a:rPr lang="en-US" altLang="zh-CN" sz="1200">
                <a:solidFill>
                  <a:srgbClr val="333333"/>
                </a:solidFill>
                <a:sym typeface="+mn-ea"/>
              </a:rPr>
              <a:t> d</a:t>
            </a:r>
            <a:r>
              <a:rPr lang="zh-CN" sz="1200">
                <a:solidFill>
                  <a:srgbClr val="333333"/>
                </a:solidFill>
                <a:sym typeface="+mn-ea"/>
              </a:rPr>
              <a:t>uring training, </a:t>
            </a:r>
            <a:r>
              <a:rPr lang="en-US" altLang="zh-CN" sz="1200">
                <a:solidFill>
                  <a:srgbClr val="333333"/>
                </a:solidFill>
                <a:sym typeface="+mn-ea"/>
              </a:rPr>
              <a:t>/</a:t>
            </a:r>
            <a:r>
              <a:rPr lang="zh-CN" sz="1200">
                <a:solidFill>
                  <a:srgbClr val="333333"/>
                </a:solidFill>
                <a:sym typeface="+mn-ea"/>
              </a:rPr>
              <a:t>we artificially correlate feature</a:t>
            </a:r>
            <a:r>
              <a:rPr lang="en-US" altLang="zh-CN" sz="1200">
                <a:solidFill>
                  <a:srgbClr val="333333"/>
                </a:solidFill>
                <a:sym typeface="+mn-ea"/>
              </a:rPr>
              <a:t>s</a:t>
            </a:r>
            <a:r>
              <a:rPr lang="zh-CN" sz="1200">
                <a:solidFill>
                  <a:srgbClr val="333333"/>
                </a:solidFill>
                <a:sym typeface="+mn-ea"/>
              </a:rPr>
              <a:t> </a:t>
            </a:r>
            <a:r>
              <a:rPr lang="en-US" altLang="zh-CN" sz="1200">
                <a:solidFill>
                  <a:srgbClr val="333333"/>
                </a:solidFill>
                <a:sym typeface="+mn-ea"/>
              </a:rPr>
              <a:t>/</a:t>
            </a:r>
            <a:r>
              <a:rPr lang="zh-CN" sz="1200">
                <a:solidFill>
                  <a:srgbClr val="333333"/>
                </a:solidFill>
                <a:sym typeface="+mn-ea"/>
              </a:rPr>
              <a:t>with the bot or human label, </a:t>
            </a:r>
            <a:endParaRPr sz="1200">
              <a:solidFill>
                <a:srgbClr val="333333"/>
              </a:solidFill>
            </a:endParaRPr>
          </a:p>
          <a:p>
            <a:pPr marL="0" lvl="0" indent="0" algn="l" rtl="0">
              <a:spcBef>
                <a:spcPts val="0"/>
              </a:spcBef>
              <a:spcAft>
                <a:spcPts val="0"/>
              </a:spcAft>
              <a:buNone/>
            </a:pPr>
            <a:r>
              <a:rPr lang="zh-CN" sz="1200">
                <a:solidFill>
                  <a:srgbClr val="333333"/>
                </a:solidFill>
                <a:sym typeface="+mn-ea"/>
              </a:rPr>
              <a:t>and during testing, we remove this correlation </a:t>
            </a:r>
            <a:r>
              <a:rPr lang="en-US" altLang="zh-CN" sz="1200">
                <a:solidFill>
                  <a:srgbClr val="333333"/>
                </a:solidFill>
                <a:sym typeface="+mn-ea"/>
              </a:rPr>
              <a:t>/</a:t>
            </a:r>
            <a:r>
              <a:rPr lang="zh-CN" sz="1200">
                <a:solidFill>
                  <a:srgbClr val="333333"/>
                </a:solidFill>
                <a:sym typeface="+mn-ea"/>
              </a:rPr>
              <a:t>to evaluate </a:t>
            </a:r>
            <a:r>
              <a:rPr lang="en-US" altLang="zh-CN" sz="1200">
                <a:solidFill>
                  <a:srgbClr val="333333"/>
                </a:solidFill>
                <a:sym typeface="+mn-ea"/>
              </a:rPr>
              <a:t>/</a:t>
            </a:r>
            <a:r>
              <a:rPr lang="zh-CN" sz="1200">
                <a:solidFill>
                  <a:srgbClr val="333333"/>
                </a:solidFill>
                <a:sym typeface="+mn-ea"/>
              </a:rPr>
              <a:t>whether the model relies on shortcuts.</a:t>
            </a:r>
            <a:endParaRPr sz="1200" dirty="0">
              <a:solidFill>
                <a:srgbClr val="333333"/>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0"/>
        <p:cNvGrpSpPr/>
        <p:nvPr/>
      </p:nvGrpSpPr>
      <p:grpSpPr>
        <a:xfrm>
          <a:off x="0" y="0"/>
          <a:ext cx="0" cy="0"/>
          <a:chOff x="0" y="0"/>
          <a:chExt cx="0" cy="0"/>
        </a:xfrm>
      </p:grpSpPr>
      <p:sp>
        <p:nvSpPr>
          <p:cNvPr id="161" name="Google Shape;161;g3b2e702bf0b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b2e702bf0b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dirty="0">
                <a:solidFill>
                  <a:srgbClr val="333333"/>
                </a:solidFill>
                <a:sym typeface="+mn-ea"/>
              </a:rPr>
              <a:t>For example, /we train the model with </a:t>
            </a:r>
            <a:r>
              <a:rPr lang="en-US" altLang="zh-CN" sz="1200" dirty="0">
                <a:solidFill>
                  <a:srgbClr val="333333"/>
                </a:solidFill>
                <a:sym typeface="+mn-ea"/>
              </a:rPr>
              <a:t>negative bots and positive humans</a:t>
            </a:r>
            <a:r>
              <a:rPr lang="en-US" altLang="zh-CN" sz="1200" dirty="0">
                <a:solidFill>
                  <a:srgbClr val="333333"/>
                </a:solidFill>
                <a:sym typeface="+mn-ea"/>
              </a:rPr>
              <a:t>, /then evaluate it /on </a:t>
            </a:r>
            <a:r>
              <a:rPr lang="en-US" altLang="zh-CN" sz="1200" dirty="0">
                <a:solidFill>
                  <a:srgbClr val="333333"/>
                </a:solidFill>
                <a:sym typeface="+mn-ea"/>
              </a:rPr>
              <a:t>positive bots and negative humans</a:t>
            </a:r>
            <a:r>
              <a:rPr lang="en-US" altLang="zh-CN" sz="1200" dirty="0">
                <a:solidFill>
                  <a:srgbClr val="333333"/>
                </a:solidFill>
                <a:sym typeface="+mn-ea"/>
              </a:rPr>
              <a:t>. /If the model is vulnerable /</a:t>
            </a:r>
            <a:r>
              <a:rPr lang="en-US" altLang="en-US" sz="1200" dirty="0">
                <a:solidFill>
                  <a:srgbClr val="333333"/>
                </a:solidFill>
                <a:sym typeface="+mn-ea"/>
              </a:rPr>
              <a:t>ˈ</a:t>
            </a:r>
            <a:r>
              <a:rPr lang="en-US" altLang="zh-CN" sz="1200" dirty="0">
                <a:solidFill>
                  <a:srgbClr val="333333"/>
                </a:solidFill>
                <a:sym typeface="+mn-ea"/>
              </a:rPr>
              <a:t>v</a:t>
            </a:r>
            <a:r>
              <a:rPr lang="en-US" altLang="en-US" sz="1200" dirty="0">
                <a:solidFill>
                  <a:srgbClr val="333333"/>
                </a:solidFill>
                <a:sym typeface="+mn-ea"/>
              </a:rPr>
              <a:t>ʌ</a:t>
            </a:r>
            <a:r>
              <a:rPr lang="en-US" altLang="zh-CN" sz="1200" dirty="0">
                <a:solidFill>
                  <a:srgbClr val="333333"/>
                </a:solidFill>
                <a:sym typeface="+mn-ea"/>
              </a:rPr>
              <a:t>ln</a:t>
            </a:r>
            <a:r>
              <a:rPr lang="en-US" altLang="en-US" sz="1200" dirty="0">
                <a:solidFill>
                  <a:srgbClr val="333333"/>
                </a:solidFill>
                <a:sym typeface="+mn-ea"/>
              </a:rPr>
              <a:t>ə</a:t>
            </a:r>
            <a:r>
              <a:rPr lang="en-US" altLang="zh-CN" sz="1200" dirty="0">
                <a:solidFill>
                  <a:srgbClr val="333333"/>
                </a:solidFill>
                <a:sym typeface="+mn-ea"/>
              </a:rPr>
              <a:t>r</a:t>
            </a:r>
            <a:r>
              <a:rPr lang="en-US" altLang="en-US" sz="1200" dirty="0">
                <a:solidFill>
                  <a:srgbClr val="333333"/>
                </a:solidFill>
                <a:sym typeface="+mn-ea"/>
              </a:rPr>
              <a:t>ə</a:t>
            </a:r>
            <a:r>
              <a:rPr lang="en-US" altLang="zh-CN" sz="1200" dirty="0">
                <a:solidFill>
                  <a:srgbClr val="333333"/>
                </a:solidFill>
                <a:sym typeface="+mn-ea"/>
              </a:rPr>
              <a:t>bl/ to sentiment-based shortcuts, its performance /will degrade significantly.</a:t>
            </a:r>
            <a:endParaRPr sz="1200" dirty="0">
              <a:solidFill>
                <a:srgbClr val="333333"/>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7"/>
        <p:cNvGrpSpPr/>
        <p:nvPr/>
      </p:nvGrpSpPr>
      <p:grpSpPr>
        <a:xfrm>
          <a:off x="0" y="0"/>
          <a:ext cx="0" cy="0"/>
          <a:chOff x="0" y="0"/>
          <a:chExt cx="0" cy="0"/>
        </a:xfrm>
      </p:grpSpPr>
      <p:sp>
        <p:nvSpPr>
          <p:cNvPr id="168" name="Google Shape;168;g3b3a8f46d61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3a8f46d61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US" altLang="zh-CN" sz="1200">
                <a:solidFill>
                  <a:srgbClr val="333333"/>
                </a:solidFill>
                <a:sym typeface="+mn-ea"/>
              </a:rPr>
              <a:t>We </a:t>
            </a:r>
            <a:r>
              <a:rPr lang="zh-CN" sz="1200">
                <a:solidFill>
                  <a:srgbClr val="333333"/>
                </a:solidFill>
                <a:sym typeface="+mn-ea"/>
              </a:rPr>
              <a:t>consider</a:t>
            </a:r>
            <a:r>
              <a:rPr lang="en-US" altLang="zh-CN" sz="1200">
                <a:solidFill>
                  <a:srgbClr val="333333"/>
                </a:solidFill>
                <a:sym typeface="+mn-ea"/>
              </a:rPr>
              <a:t>s</a:t>
            </a:r>
            <a:r>
              <a:rPr lang="zh-CN" sz="1200">
                <a:solidFill>
                  <a:srgbClr val="333333"/>
                </a:solidFill>
                <a:sym typeface="+mn-ea"/>
              </a:rPr>
              <a:t> inherent</a:t>
            </a:r>
            <a:r>
              <a:rPr lang="en-US" altLang="zh-CN" sz="1200">
                <a:solidFill>
                  <a:srgbClr val="333333"/>
                </a:solidFill>
                <a:sym typeface="+mn-ea"/>
              </a:rPr>
              <a:t> /</a:t>
            </a:r>
            <a:r>
              <a:rPr lang="en-US" altLang="en-US" sz="1200">
                <a:solidFill>
                  <a:srgbClr val="333333"/>
                </a:solidFill>
                <a:sym typeface="+mn-ea"/>
              </a:rPr>
              <a:t>ɪ</a:t>
            </a:r>
            <a:r>
              <a:rPr lang="en-US" altLang="zh-CN" sz="1200">
                <a:solidFill>
                  <a:srgbClr val="333333"/>
                </a:solidFill>
                <a:sym typeface="+mn-ea"/>
              </a:rPr>
              <a:t>n</a:t>
            </a:r>
            <a:r>
              <a:rPr lang="en-US" altLang="en-US" sz="1200">
                <a:solidFill>
                  <a:srgbClr val="333333"/>
                </a:solidFill>
                <a:sym typeface="+mn-ea"/>
              </a:rPr>
              <a:t>ˈ</a:t>
            </a:r>
            <a:r>
              <a:rPr lang="en-US" altLang="zh-CN" sz="1200">
                <a:solidFill>
                  <a:srgbClr val="333333"/>
                </a:solidFill>
                <a:sym typeface="+mn-ea"/>
              </a:rPr>
              <a:t>h</a:t>
            </a:r>
            <a:r>
              <a:rPr lang="en-US" altLang="en-US" sz="1200">
                <a:solidFill>
                  <a:srgbClr val="333333"/>
                </a:solidFill>
                <a:sym typeface="+mn-ea"/>
              </a:rPr>
              <a:t>ɪə</a:t>
            </a:r>
            <a:r>
              <a:rPr lang="en-US" altLang="zh-CN" sz="1200">
                <a:solidFill>
                  <a:srgbClr val="333333"/>
                </a:solidFill>
                <a:sym typeface="+mn-ea"/>
              </a:rPr>
              <a:t>r</a:t>
            </a:r>
            <a:r>
              <a:rPr lang="en-US" altLang="en-US" sz="1200">
                <a:solidFill>
                  <a:srgbClr val="333333"/>
                </a:solidFill>
                <a:sym typeface="+mn-ea"/>
              </a:rPr>
              <a:t>ə</a:t>
            </a:r>
            <a:r>
              <a:rPr lang="en-US" altLang="zh-CN" sz="1200">
                <a:solidFill>
                  <a:srgbClr val="333333"/>
                </a:solidFill>
                <a:sym typeface="+mn-ea"/>
              </a:rPr>
              <a:t>nt/</a:t>
            </a:r>
            <a:r>
              <a:rPr lang="zh-CN" sz="1200">
                <a:solidFill>
                  <a:srgbClr val="333333"/>
                </a:solidFill>
                <a:sym typeface="+mn-ea"/>
              </a:rPr>
              <a:t> textual features</a:t>
            </a:r>
            <a:r>
              <a:rPr lang="en-US" altLang="zh-CN" sz="1200">
                <a:solidFill>
                  <a:srgbClr val="333333"/>
                </a:solidFill>
                <a:sym typeface="+mn-ea"/>
              </a:rPr>
              <a:t>/</a:t>
            </a:r>
            <a:r>
              <a:rPr lang="zh-CN" sz="1200">
                <a:solidFill>
                  <a:srgbClr val="333333"/>
                </a:solidFill>
                <a:sym typeface="+mn-ea"/>
              </a:rPr>
              <a:t> </a:t>
            </a:r>
            <a:r>
              <a:rPr lang="en-US" altLang="zh-CN" sz="1200">
                <a:solidFill>
                  <a:srgbClr val="333333"/>
                </a:solidFill>
                <a:sym typeface="+mn-ea"/>
              </a:rPr>
              <a:t>such as </a:t>
            </a:r>
            <a:r>
              <a:rPr lang="zh-CN" sz="1200">
                <a:solidFill>
                  <a:srgbClr val="333333"/>
                </a:solidFill>
                <a:sym typeface="+mn-ea"/>
              </a:rPr>
              <a:t>sentiment, topic, human values, and emotion</a:t>
            </a:r>
            <a:r>
              <a:rPr lang="en-US" altLang="zh-CN" sz="1200">
                <a:solidFill>
                  <a:srgbClr val="333333"/>
                </a:solidFill>
                <a:sym typeface="+mn-ea"/>
              </a:rPr>
              <a:t> /</a:t>
            </a:r>
            <a:r>
              <a:rPr lang="zh-CN" sz="1200">
                <a:solidFill>
                  <a:srgbClr val="333333"/>
                </a:solidFill>
                <a:sym typeface="+mn-ea"/>
              </a:rPr>
              <a:t>that</a:t>
            </a:r>
            <a:r>
              <a:rPr lang="en-US" altLang="zh-CN" sz="1200">
                <a:solidFill>
                  <a:srgbClr val="333333"/>
                </a:solidFill>
                <a:sym typeface="+mn-ea"/>
              </a:rPr>
              <a:t> </a:t>
            </a:r>
            <a:r>
              <a:rPr lang="zh-CN" sz="1200">
                <a:solidFill>
                  <a:srgbClr val="333333"/>
                </a:solidFill>
                <a:sym typeface="+mn-ea"/>
              </a:rPr>
              <a:t>can act as shortcuts, which are not intended </a:t>
            </a:r>
            <a:r>
              <a:rPr lang="en-US" altLang="zh-CN" sz="1200">
                <a:solidFill>
                  <a:srgbClr val="333333"/>
                </a:solidFill>
                <a:sym typeface="+mn-ea"/>
              </a:rPr>
              <a:t>/</a:t>
            </a:r>
            <a:r>
              <a:rPr lang="zh-CN" sz="1200">
                <a:solidFill>
                  <a:srgbClr val="333333"/>
                </a:solidFill>
                <a:sym typeface="+mn-ea"/>
              </a:rPr>
              <a:t>to be used as the actual decision </a:t>
            </a:r>
            <a:r>
              <a:rPr lang="en-US" altLang="zh-CN" sz="1200">
                <a:solidFill>
                  <a:srgbClr val="333333"/>
                </a:solidFill>
                <a:sym typeface="+mn-ea"/>
              </a:rPr>
              <a:t>cues</a:t>
            </a:r>
            <a:r>
              <a:rPr lang="zh-CN" sz="1200">
                <a:solidFill>
                  <a:srgbClr val="333333"/>
                </a:solidFill>
                <a:sym typeface="+mn-ea"/>
              </a:rPr>
              <a:t>.</a:t>
            </a:r>
            <a:endParaRPr lang="en-US" altLang="zh-CN" sz="1200" dirty="0">
              <a:solidFill>
                <a:srgbClr val="333333"/>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7"/>
        <p:cNvGrpSpPr/>
        <p:nvPr/>
      </p:nvGrpSpPr>
      <p:grpSpPr>
        <a:xfrm>
          <a:off x="0" y="0"/>
          <a:ext cx="0" cy="0"/>
          <a:chOff x="0" y="0"/>
          <a:chExt cx="0" cy="0"/>
        </a:xfrm>
      </p:grpSpPr>
      <p:sp>
        <p:nvSpPr>
          <p:cNvPr id="168" name="Google Shape;168;g3b3a8f46d61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3a8f46d61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US" altLang="zh-CN" sz="1200" dirty="0">
                <a:solidFill>
                  <a:srgbClr val="333333"/>
                </a:solidFill>
              </a:rPr>
              <a:t>For example, there is no significant difference /between the topic distributions /of human and bot texts, indicating that /topic features should not /be exploited as cues /by detectors.</a:t>
            </a:r>
            <a:endParaRPr lang="en-US" altLang="zh-CN" sz="1200" dirty="0">
              <a:solidFill>
                <a:srgbClr val="333333"/>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g3b3a8f46d61_0_1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b3a8f46d61_0_1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1000"/>
              </a:spcAft>
              <a:buNone/>
            </a:pPr>
            <a:r>
              <a:rPr lang="en-US" altLang="zh-CN" sz="1200">
                <a:sym typeface="+mn-ea"/>
              </a:rPr>
              <a:t>These text feature dimensions /are interpretable /and can be easily correlated with labels /in datasets.</a:t>
            </a:r>
            <a:endParaRPr lang="en-US" altLang="zh-CN" sz="1200">
              <a:solidFill>
                <a:srgbClr val="333333"/>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g3b3a8f46d61_0_14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b3a8f46d61_0_1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1000"/>
              </a:spcAft>
              <a:buNone/>
            </a:pPr>
            <a:r>
              <a:rPr lang="en-US" altLang="zh-CN" sz="1200">
                <a:sym typeface="+mn-ea"/>
              </a:rPr>
              <a:t>We use</a:t>
            </a:r>
            <a:r>
              <a:rPr lang="zh-CN" sz="1200">
                <a:sym typeface="+mn-ea"/>
              </a:rPr>
              <a:t> specialized feature analysis models</a:t>
            </a:r>
            <a:r>
              <a:rPr lang="en-US" altLang="zh-CN" sz="1200">
                <a:sym typeface="+mn-ea"/>
              </a:rPr>
              <a:t> /and</a:t>
            </a:r>
            <a:r>
              <a:rPr lang="zh-CN" sz="1200">
                <a:sym typeface="+mn-ea"/>
              </a:rPr>
              <a:t> construct shortcut scenarios </a:t>
            </a:r>
            <a:r>
              <a:rPr lang="en-US" altLang="zh-CN" sz="1200">
                <a:sym typeface="+mn-ea"/>
              </a:rPr>
              <a:t>/</a:t>
            </a:r>
            <a:r>
              <a:rPr lang="zh-CN" sz="1200">
                <a:sym typeface="+mn-ea"/>
              </a:rPr>
              <a:t>from real-world data</a:t>
            </a:r>
            <a:r>
              <a:rPr lang="en-US" altLang="zh-CN" sz="1200">
                <a:sym typeface="+mn-ea"/>
              </a:rPr>
              <a:t>sets</a:t>
            </a:r>
            <a:r>
              <a:rPr lang="zh-CN" sz="1200">
                <a:sym typeface="+mn-ea"/>
              </a:rPr>
              <a:t>. </a:t>
            </a:r>
            <a:endParaRPr lang="en-US" altLang="zh-CN" sz="1200">
              <a:solidFill>
                <a:srgbClr val="333333"/>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7"/>
        <p:cNvGrpSpPr/>
        <p:nvPr/>
      </p:nvGrpSpPr>
      <p:grpSpPr>
        <a:xfrm>
          <a:off x="0" y="0"/>
          <a:ext cx="0" cy="0"/>
          <a:chOff x="0" y="0"/>
          <a:chExt cx="0" cy="0"/>
        </a:xfrm>
      </p:grpSpPr>
      <p:sp>
        <p:nvSpPr>
          <p:cNvPr id="168" name="Google Shape;168;g3b3a8f46d61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3a8f46d61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1000"/>
              </a:spcBef>
              <a:spcAft>
                <a:spcPts val="0"/>
              </a:spcAft>
              <a:buNone/>
            </a:pPr>
            <a:r>
              <a:rPr lang="en-US" altLang="zh-CN" sz="1200" dirty="0">
                <a:solidFill>
                  <a:srgbClr val="333333"/>
                </a:solidFill>
              </a:rPr>
              <a:t>Then we evaluate /two representative detection models, a text-based RoBERTa classifier /and a graph-based method, alongside representative /debiasing methods, on widely </a:t>
            </a:r>
            <a:r>
              <a:rPr lang="en-US" altLang="zh-CN" sz="1200" dirty="0">
                <a:solidFill>
                  <a:srgbClr val="333333"/>
                </a:solidFill>
              </a:rPr>
              <a:t>used /social bot detection benchmarks</a:t>
            </a:r>
            <a:endParaRPr lang="en-US" altLang="zh-CN" sz="1200" dirty="0">
              <a:solidFill>
                <a:srgbClr val="333333"/>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3"/>
        <p:cNvGrpSpPr/>
        <p:nvPr/>
      </p:nvGrpSpPr>
      <p:grpSpPr>
        <a:xfrm>
          <a:off x="0" y="0"/>
          <a:ext cx="0" cy="0"/>
          <a:chOff x="0" y="0"/>
          <a:chExt cx="0" cy="0"/>
        </a:xfrm>
      </p:grpSpPr>
      <p:sp>
        <p:nvSpPr>
          <p:cNvPr id="214" name="Google Shape;214;g3a841257f8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a841257f8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solidFill>
                  <a:srgbClr val="333333"/>
                </a:solidFill>
                <a:highlight>
                  <a:srgbClr val="000000">
                    <a:alpha val="0"/>
                  </a:srgbClr>
                </a:highlight>
                <a:sym typeface="+mn-ea"/>
              </a:rPr>
              <a:t>The results show that /all methods are affected /by shortcut learning.</a:t>
            </a:r>
            <a:endParaRPr lang="en-US" altLang="zh-CN" sz="1200">
              <a:solidFill>
                <a:srgbClr val="333333"/>
              </a:solidFill>
              <a:highlight>
                <a:srgbClr val="000000">
                  <a:alpha val="0"/>
                </a:srgbClr>
              </a:highlight>
            </a:endParaRPr>
          </a:p>
          <a:p>
            <a:pPr marL="0" lvl="0" indent="0" algn="l" rtl="0">
              <a:spcBef>
                <a:spcPts val="0"/>
              </a:spcBef>
              <a:spcAft>
                <a:spcPts val="0"/>
              </a:spcAft>
              <a:buNone/>
            </a:pPr>
            <a:r>
              <a:rPr lang="en-US" altLang="zh-CN" sz="1200">
                <a:solidFill>
                  <a:srgbClr val="333333"/>
                </a:solidFill>
                <a:highlight>
                  <a:srgbClr val="000000">
                    <a:alpha val="0"/>
                  </a:srgbClr>
                </a:highlight>
                <a:sym typeface="+mn-ea"/>
              </a:rPr>
              <a:t>For text-based models, shortcut testing /leads to an average accuracy drop /of about 50%, </a:t>
            </a:r>
            <a:endParaRPr lang="en-US" altLang="zh-CN" sz="1200">
              <a:solidFill>
                <a:srgbClr val="333333"/>
              </a:solidFill>
              <a:highlight>
                <a:srgbClr val="000000">
                  <a:alpha val="0"/>
                </a:srgbClr>
              </a:highlight>
            </a:endParaRPr>
          </a:p>
          <a:p>
            <a:pPr marL="0" lvl="0" indent="0" algn="l" rtl="0">
              <a:spcBef>
                <a:spcPts val="0"/>
              </a:spcBef>
              <a:spcAft>
                <a:spcPts val="0"/>
              </a:spcAft>
              <a:buNone/>
            </a:pPr>
            <a:r>
              <a:rPr lang="en-US" altLang="zh-CN" sz="1200">
                <a:solidFill>
                  <a:srgbClr val="333333"/>
                </a:solidFill>
                <a:highlight>
                  <a:srgbClr val="000000">
                    <a:alpha val="0"/>
                  </a:srgbClr>
                </a:highlight>
                <a:sym typeface="+mn-ea"/>
              </a:rPr>
              <a:t>with extreme cases /reaching over 90%, demonstrating strong vulnerability /to shortcut features.</a:t>
            </a:r>
            <a:endParaRPr lang="en-US" altLang="zh-CN" sz="1200">
              <a:solidFill>
                <a:srgbClr val="333333"/>
              </a:solidFill>
              <a:highlight>
                <a:srgbClr val="000000">
                  <a:alpha val="0"/>
                </a:srgbClr>
              </a:highlight>
            </a:endParaRPr>
          </a:p>
          <a:p>
            <a:pPr marL="0" lvl="0" indent="0" algn="l" rtl="0">
              <a:spcBef>
                <a:spcPts val="0"/>
              </a:spcBef>
              <a:spcAft>
                <a:spcPts val="0"/>
              </a:spcAft>
              <a:buNone/>
            </a:pPr>
            <a:r>
              <a:rPr lang="en-US" altLang="zh-CN" sz="1200" dirty="0">
                <a:solidFill>
                  <a:srgbClr val="333333"/>
                </a:solidFill>
                <a:highlight>
                  <a:srgbClr val="000000">
                    <a:alpha val="0"/>
                  </a:srgbClr>
                </a:highlight>
              </a:rPr>
              <a:t>graph-based model /also showed a similar performance drop /under the shortcut setting.</a:t>
            </a:r>
            <a:endParaRPr lang="en-US" altLang="zh-CN" sz="1200" dirty="0">
              <a:solidFill>
                <a:srgbClr val="333333"/>
              </a:solidFill>
              <a:highlight>
                <a:srgbClr val="000000">
                  <a:alpha val="0"/>
                </a:srgbClr>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3"/>
        <p:cNvGrpSpPr/>
        <p:nvPr/>
      </p:nvGrpSpPr>
      <p:grpSpPr>
        <a:xfrm>
          <a:off x="0" y="0"/>
          <a:ext cx="0" cy="0"/>
          <a:chOff x="0" y="0"/>
          <a:chExt cx="0" cy="0"/>
        </a:xfrm>
      </p:grpSpPr>
      <p:sp>
        <p:nvSpPr>
          <p:cNvPr id="214" name="Google Shape;214;g3a841257f8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a841257f8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dirty="0">
                <a:solidFill>
                  <a:srgbClr val="333333"/>
                </a:solidFill>
                <a:highlight>
                  <a:srgbClr val="000000">
                    <a:alpha val="0"/>
                  </a:srgbClr>
                </a:highlight>
              </a:rPr>
              <a:t>We also evaluate calibration /and find that models trained under the shortcut setting /are more confident, yet less accurate.</a:t>
            </a:r>
            <a:endParaRPr lang="en-US" altLang="zh-CN" sz="1200" dirty="0">
              <a:solidFill>
                <a:srgbClr val="333333"/>
              </a:solidFill>
              <a:highlight>
                <a:srgbClr val="000000">
                  <a:alpha val="0"/>
                </a:srgbClr>
              </a:highligh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2"/>
        <p:cNvGrpSpPr/>
        <p:nvPr/>
      </p:nvGrpSpPr>
      <p:grpSpPr>
        <a:xfrm>
          <a:off x="0" y="0"/>
          <a:ext cx="0" cy="0"/>
          <a:chOff x="0" y="0"/>
          <a:chExt cx="0" cy="0"/>
        </a:xfrm>
      </p:grpSpPr>
      <p:sp>
        <p:nvSpPr>
          <p:cNvPr id="243" name="Google Shape;243;g3a841257f8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a841257f8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dirty="0">
                <a:solidFill>
                  <a:srgbClr val="333333"/>
                </a:solidFill>
              </a:rPr>
              <a:t>After identify /shortcut learning problem, our overall mitigation strategy /can be summarized in two aspects. </a:t>
            </a:r>
            <a:endParaRPr lang="en-US" altLang="zh-CN" sz="1200" dirty="0">
              <a:solidFill>
                <a:srgbClr val="333333"/>
              </a:solidFill>
            </a:endParaRPr>
          </a:p>
          <a:p>
            <a:pPr marL="0" lvl="0" indent="0" algn="l" rtl="0">
              <a:spcBef>
                <a:spcPts val="0"/>
              </a:spcBef>
              <a:spcAft>
                <a:spcPts val="0"/>
              </a:spcAft>
              <a:buNone/>
            </a:pPr>
            <a:r>
              <a:rPr lang="en-US" altLang="zh-CN" sz="1200" dirty="0">
                <a:solidFill>
                  <a:srgbClr val="333333"/>
                </a:solidFill>
              </a:rPr>
              <a:t>First, we perform Counterfactual /</a:t>
            </a:r>
            <a:r>
              <a:rPr lang="en-US" altLang="en-US" sz="1200" dirty="0">
                <a:solidFill>
                  <a:srgbClr val="333333"/>
                </a:solidFill>
              </a:rPr>
              <a:t>ˌ</a:t>
            </a:r>
            <a:r>
              <a:rPr lang="en-US" altLang="zh-CN" sz="1200" dirty="0">
                <a:solidFill>
                  <a:srgbClr val="333333"/>
                </a:solidFill>
              </a:rPr>
              <a:t>ka</a:t>
            </a:r>
            <a:r>
              <a:rPr lang="en-US" altLang="en-US" sz="1200" dirty="0">
                <a:solidFill>
                  <a:srgbClr val="333333"/>
                </a:solidFill>
              </a:rPr>
              <a:t>ʊ</a:t>
            </a:r>
            <a:r>
              <a:rPr lang="en-US" altLang="zh-CN" sz="1200" dirty="0">
                <a:solidFill>
                  <a:srgbClr val="333333"/>
                </a:solidFill>
              </a:rPr>
              <a:t>nt</a:t>
            </a:r>
            <a:r>
              <a:rPr lang="en-US" altLang="en-US" sz="1200" dirty="0">
                <a:solidFill>
                  <a:srgbClr val="333333"/>
                </a:solidFill>
              </a:rPr>
              <a:t>ə</a:t>
            </a:r>
            <a:r>
              <a:rPr lang="en-US" altLang="en-US" sz="1200" dirty="0">
                <a:solidFill>
                  <a:srgbClr val="333333"/>
                </a:solidFill>
              </a:rPr>
              <a:t>ˈ</a:t>
            </a:r>
            <a:r>
              <a:rPr lang="en-US" altLang="zh-CN" sz="1200" dirty="0">
                <a:solidFill>
                  <a:srgbClr val="333333"/>
                </a:solidFill>
              </a:rPr>
              <a:t>f</a:t>
            </a:r>
            <a:r>
              <a:rPr lang="en-US" altLang="en-US" sz="1200" dirty="0">
                <a:solidFill>
                  <a:srgbClr val="333333"/>
                </a:solidFill>
              </a:rPr>
              <a:t>æ</a:t>
            </a:r>
            <a:r>
              <a:rPr lang="en-US" altLang="zh-CN" sz="1200" dirty="0">
                <a:solidFill>
                  <a:srgbClr val="333333"/>
                </a:solidFill>
              </a:rPr>
              <a:t>k.t</a:t>
            </a:r>
            <a:r>
              <a:rPr lang="en-US" altLang="en-US" sz="1200" dirty="0">
                <a:solidFill>
                  <a:srgbClr val="333333"/>
                </a:solidFill>
              </a:rPr>
              <a:t>ʃ</a:t>
            </a:r>
            <a:r>
              <a:rPr lang="en-US" altLang="zh-CN" sz="1200" dirty="0">
                <a:solidFill>
                  <a:srgbClr val="333333"/>
                </a:solidFill>
              </a:rPr>
              <a:t>u.</a:t>
            </a:r>
            <a:r>
              <a:rPr lang="en-US" altLang="en-US" sz="1200" dirty="0">
                <a:solidFill>
                  <a:srgbClr val="333333"/>
                </a:solidFill>
              </a:rPr>
              <a:t>ə</a:t>
            </a:r>
            <a:r>
              <a:rPr lang="en-US" altLang="zh-CN" sz="1200" dirty="0">
                <a:solidFill>
                  <a:srgbClr val="333333"/>
                </a:solidFill>
              </a:rPr>
              <a:t>l/</a:t>
            </a:r>
            <a:r>
              <a:rPr lang="en-US" altLang="zh-CN" sz="1200" dirty="0">
                <a:solidFill>
                  <a:srgbClr val="333333"/>
                </a:solidFill>
              </a:rPr>
              <a:t> data augmentation/ on the training set /by rewriting texts /to reverse or neutralize specific features, </a:t>
            </a:r>
            <a:endParaRPr lang="en-US" altLang="zh-CN" sz="1200" dirty="0">
              <a:solidFill>
                <a:srgbClr val="333333"/>
              </a:solidFill>
            </a:endParaRPr>
          </a:p>
          <a:p>
            <a:pPr marL="0" lvl="0" indent="0" algn="l" rtl="0">
              <a:spcBef>
                <a:spcPts val="0"/>
              </a:spcBef>
              <a:spcAft>
                <a:spcPts val="0"/>
              </a:spcAft>
              <a:buNone/>
            </a:pPr>
            <a:r>
              <a:rPr lang="en-US" altLang="zh-CN" sz="1200" dirty="0">
                <a:solidFill>
                  <a:srgbClr val="333333"/>
                </a:solidFill>
              </a:rPr>
              <a:t>while keeping the original semantics /s</a:t>
            </a:r>
            <a:r>
              <a:rPr lang="en-US" altLang="en-US" sz="1200" dirty="0">
                <a:solidFill>
                  <a:srgbClr val="333333"/>
                </a:solidFill>
              </a:rPr>
              <a:t>ɪ</a:t>
            </a:r>
            <a:r>
              <a:rPr lang="en-US" altLang="en-US" sz="1200" dirty="0">
                <a:solidFill>
                  <a:srgbClr val="333333"/>
                </a:solidFill>
              </a:rPr>
              <a:t>ˈ</a:t>
            </a:r>
            <a:r>
              <a:rPr lang="en-US" altLang="zh-CN" sz="1200" dirty="0">
                <a:solidFill>
                  <a:srgbClr val="333333"/>
                </a:solidFill>
              </a:rPr>
              <a:t>m</a:t>
            </a:r>
            <a:r>
              <a:rPr lang="en-US" altLang="en-US" sz="1200" dirty="0">
                <a:solidFill>
                  <a:srgbClr val="333333"/>
                </a:solidFill>
              </a:rPr>
              <a:t>æ</a:t>
            </a:r>
            <a:r>
              <a:rPr lang="en-US" altLang="zh-CN" sz="1200" dirty="0">
                <a:solidFill>
                  <a:srgbClr val="333333"/>
                </a:solidFill>
              </a:rPr>
              <a:t>n.t</a:t>
            </a:r>
            <a:r>
              <a:rPr lang="en-US" altLang="en-US" sz="1200" dirty="0">
                <a:solidFill>
                  <a:srgbClr val="333333"/>
                </a:solidFill>
              </a:rPr>
              <a:t>ɪ</a:t>
            </a:r>
            <a:r>
              <a:rPr lang="en-US" altLang="zh-CN" sz="1200" dirty="0">
                <a:solidFill>
                  <a:srgbClr val="333333"/>
                </a:solidFill>
              </a:rPr>
              <a:t>ks/ </a:t>
            </a:r>
            <a:r>
              <a:rPr lang="en-US" altLang="zh-CN" sz="1200" dirty="0">
                <a:solidFill>
                  <a:srgbClr val="333333"/>
                </a:solidFill>
              </a:rPr>
              <a:t>and causal cues. </a:t>
            </a:r>
            <a:endParaRPr lang="en-US" altLang="zh-CN" sz="1200" dirty="0">
              <a:solidFill>
                <a:srgbClr val="333333"/>
              </a:solidFill>
            </a:endParaRPr>
          </a:p>
          <a:p>
            <a:pPr marL="0" lvl="0" indent="0" algn="l" rtl="0">
              <a:spcBef>
                <a:spcPts val="0"/>
              </a:spcBef>
              <a:spcAft>
                <a:spcPts val="0"/>
              </a:spcAft>
              <a:buNone/>
            </a:pPr>
            <a:r>
              <a:rPr lang="en-US" altLang="zh-CN" sz="1200" dirty="0">
                <a:solidFill>
                  <a:srgbClr val="333333"/>
                </a:solidFill>
              </a:rPr>
              <a:t>Second, we weaken shortcut-induced/ correlations /across multiple levels.</a:t>
            </a:r>
            <a:endParaRPr lang="en-US" altLang="zh-CN" sz="1200" dirty="0">
              <a:solidFill>
                <a:srgbClr val="333333"/>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9"/>
        <p:cNvGrpSpPr/>
        <p:nvPr/>
      </p:nvGrpSpPr>
      <p:grpSpPr>
        <a:xfrm>
          <a:off x="0" y="0"/>
          <a:ext cx="0" cy="0"/>
          <a:chOff x="0" y="0"/>
          <a:chExt cx="0" cy="0"/>
        </a:xfrm>
      </p:grpSpPr>
      <p:sp>
        <p:nvSpPr>
          <p:cNvPr id="250" name="Google Shape;250;g3a841257f82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a841257f82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solidFill>
                  <a:srgbClr val="333333"/>
                </a:solidFill>
                <a:sym typeface="+mn-ea"/>
              </a:rPr>
              <a:t>We mitigate shortcut learning /using LLMs-based counterfactual rewriting/ at </a:t>
            </a:r>
            <a:r>
              <a:rPr lang="en-US" altLang="zh-CN" sz="1200">
                <a:solidFill>
                  <a:srgbClr val="333333"/>
                </a:solidFill>
                <a:sym typeface="+mn-ea"/>
              </a:rPr>
              <a:t>three levels.</a:t>
            </a:r>
            <a:endParaRPr lang="en-US" altLang="zh-CN" sz="1200">
              <a:solidFill>
                <a:srgbClr val="333333"/>
              </a:solidFill>
            </a:endParaRPr>
          </a:p>
          <a:p>
            <a:pPr marL="0" lvl="0" indent="0" algn="l" rtl="0">
              <a:spcBef>
                <a:spcPts val="0"/>
              </a:spcBef>
              <a:spcAft>
                <a:spcPts val="0"/>
              </a:spcAft>
              <a:buNone/>
            </a:pPr>
            <a:r>
              <a:rPr lang="en-US" altLang="zh-CN" sz="1200">
                <a:solidFill>
                  <a:srgbClr val="333333"/>
                </a:solidFill>
                <a:sym typeface="+mn-ea"/>
              </a:rPr>
              <a:t>At the text level, we mix original/ and rewritten posts /within each user /to balance shortcut features.</a:t>
            </a:r>
            <a:endParaRPr lang="en-US" altLang="zh-CN" sz="1200">
              <a:solidFill>
                <a:srgbClr val="333333"/>
              </a:solidFill>
            </a:endParaRPr>
          </a:p>
          <a:p>
            <a:pPr marL="0" lvl="0" indent="0" algn="l" rtl="0">
              <a:spcBef>
                <a:spcPts val="0"/>
              </a:spcBef>
              <a:spcAft>
                <a:spcPts val="0"/>
              </a:spcAft>
              <a:buNone/>
            </a:pPr>
            <a:r>
              <a:rPr lang="en-US" altLang="zh-CN" sz="1200">
                <a:solidFill>
                  <a:srgbClr val="333333"/>
                </a:solidFill>
                <a:sym typeface="+mn-ea"/>
              </a:rPr>
              <a:t>At the dataset level, we mix users /with different shortcut-feature distributions/ to break shortcut correlations.</a:t>
            </a:r>
            <a:endParaRPr lang="en-US" altLang="zh-CN" sz="1200" dirty="0">
              <a:solidFill>
                <a:srgbClr val="333333"/>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6"/>
        <p:cNvGrpSpPr/>
        <p:nvPr/>
      </p:nvGrpSpPr>
      <p:grpSpPr>
        <a:xfrm>
          <a:off x="0" y="0"/>
          <a:ext cx="0" cy="0"/>
          <a:chOff x="0" y="0"/>
          <a:chExt cx="0" cy="0"/>
        </a:xfrm>
      </p:grpSpPr>
      <p:sp>
        <p:nvSpPr>
          <p:cNvPr id="257" name="Google Shape;257;g3a841257f82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a841257f82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200">
                <a:solidFill>
                  <a:srgbClr val="333333"/>
                </a:solidFill>
                <a:sym typeface="+mn-ea"/>
              </a:rPr>
              <a:t>Finally, at the model level, we fine-tune </a:t>
            </a:r>
            <a:r>
              <a:rPr lang="en-US" altLang="zh-CN" sz="1200">
                <a:solidFill>
                  <a:srgbClr val="333333"/>
                </a:solidFill>
                <a:sym typeface="+mn-ea"/>
              </a:rPr>
              <a:t>/text-feature extractor</a:t>
            </a:r>
            <a:r>
              <a:rPr lang="zh-CN" sz="1200">
                <a:solidFill>
                  <a:srgbClr val="333333"/>
                </a:solidFill>
                <a:sym typeface="+mn-ea"/>
              </a:rPr>
              <a:t> </a:t>
            </a:r>
            <a:r>
              <a:rPr lang="en-US" altLang="zh-CN" sz="1200">
                <a:solidFill>
                  <a:srgbClr val="333333"/>
                </a:solidFill>
                <a:sym typeface="+mn-ea"/>
              </a:rPr>
              <a:t>/</a:t>
            </a:r>
            <a:r>
              <a:rPr lang="zh-CN" sz="1200">
                <a:solidFill>
                  <a:srgbClr val="333333"/>
                </a:solidFill>
                <a:sym typeface="+mn-ea"/>
              </a:rPr>
              <a:t>using contrastive learning.</a:t>
            </a:r>
            <a:endParaRPr sz="1200">
              <a:solidFill>
                <a:srgbClr val="333333"/>
              </a:solidFill>
            </a:endParaRPr>
          </a:p>
          <a:p>
            <a:pPr marL="0" lvl="0" indent="0" algn="l" rtl="0">
              <a:lnSpc>
                <a:spcPct val="115000"/>
              </a:lnSpc>
              <a:spcBef>
                <a:spcPts val="1000"/>
              </a:spcBef>
              <a:spcAft>
                <a:spcPts val="0"/>
              </a:spcAft>
              <a:buClr>
                <a:schemeClr val="dk1"/>
              </a:buClr>
              <a:buSzPts val="1100"/>
              <a:buFont typeface="Arial" panose="020B0604020202020204"/>
              <a:buNone/>
            </a:pPr>
            <a:r>
              <a:rPr lang="zh-CN" sz="1200">
                <a:solidFill>
                  <a:srgbClr val="333333"/>
                </a:solidFill>
                <a:sym typeface="+mn-ea"/>
              </a:rPr>
              <a:t>This allows us </a:t>
            </a:r>
            <a:r>
              <a:rPr lang="en-US" altLang="zh-CN" sz="1200">
                <a:solidFill>
                  <a:srgbClr val="333333"/>
                </a:solidFill>
                <a:sym typeface="+mn-ea"/>
              </a:rPr>
              <a:t>/</a:t>
            </a:r>
            <a:r>
              <a:rPr lang="zh-CN" sz="1200">
                <a:solidFill>
                  <a:srgbClr val="333333"/>
                </a:solidFill>
                <a:sym typeface="+mn-ea"/>
              </a:rPr>
              <a:t>to preserve semantic consistency, </a:t>
            </a:r>
            <a:r>
              <a:rPr lang="en-US" altLang="zh-CN" sz="1200">
                <a:solidFill>
                  <a:srgbClr val="333333"/>
                </a:solidFill>
              </a:rPr>
              <a:t>while explicitly /</a:t>
            </a:r>
            <a:r>
              <a:rPr lang="en-US" altLang="en-US" sz="1200">
                <a:solidFill>
                  <a:srgbClr val="333333"/>
                </a:solidFill>
              </a:rPr>
              <a:t>ɪ</a:t>
            </a:r>
            <a:r>
              <a:rPr lang="en-US" altLang="zh-CN" sz="1200">
                <a:solidFill>
                  <a:srgbClr val="333333"/>
                </a:solidFill>
              </a:rPr>
              <a:t>k</a:t>
            </a:r>
            <a:r>
              <a:rPr lang="en-US" altLang="en-US" sz="1200">
                <a:solidFill>
                  <a:srgbClr val="333333"/>
                </a:solidFill>
              </a:rPr>
              <a:t>ˈ</a:t>
            </a:r>
            <a:r>
              <a:rPr lang="en-US" altLang="zh-CN" sz="1200">
                <a:solidFill>
                  <a:srgbClr val="333333"/>
                </a:solidFill>
              </a:rPr>
              <a:t>spl</a:t>
            </a:r>
            <a:r>
              <a:rPr lang="en-US" altLang="en-US" sz="1200">
                <a:solidFill>
                  <a:srgbClr val="333333"/>
                </a:solidFill>
              </a:rPr>
              <a:t>ɪ</a:t>
            </a:r>
            <a:r>
              <a:rPr lang="en-US" altLang="zh-CN" sz="1200">
                <a:solidFill>
                  <a:srgbClr val="333333"/>
                </a:solidFill>
              </a:rPr>
              <a:t>s.</a:t>
            </a:r>
            <a:r>
              <a:rPr lang="en-US" altLang="en-US" sz="1200">
                <a:solidFill>
                  <a:srgbClr val="333333"/>
                </a:solidFill>
              </a:rPr>
              <a:t>ɪ</a:t>
            </a:r>
            <a:r>
              <a:rPr lang="en-US" altLang="zh-CN" sz="1200">
                <a:solidFill>
                  <a:srgbClr val="333333"/>
                </a:solidFill>
              </a:rPr>
              <a:t>t.li/ </a:t>
            </a:r>
            <a:r>
              <a:rPr lang="en-US" altLang="zh-CN" sz="1200">
                <a:solidFill>
                  <a:srgbClr val="333333"/>
                </a:solidFill>
              </a:rPr>
              <a:t>reducing the influence /of shortcut features in the embedding space.</a:t>
            </a:r>
            <a:endParaRPr lang="en-US" altLang="zh-CN" sz="1200">
              <a:solidFill>
                <a:srgbClr val="333333"/>
              </a:solidFill>
            </a:endParaRPr>
          </a:p>
          <a:p>
            <a:pPr marL="0" lvl="0" indent="0" algn="l" rtl="0">
              <a:lnSpc>
                <a:spcPct val="115000"/>
              </a:lnSpc>
              <a:spcBef>
                <a:spcPts val="1000"/>
              </a:spcBef>
              <a:spcAft>
                <a:spcPts val="0"/>
              </a:spcAft>
              <a:buClr>
                <a:schemeClr val="dk1"/>
              </a:buClr>
              <a:buSzPts val="1100"/>
              <a:buFont typeface="Arial" panose="020B0604020202020204"/>
              <a:buNone/>
            </a:pPr>
            <a:r>
              <a:rPr lang="zh-CN" sz="1200">
                <a:solidFill>
                  <a:srgbClr val="333333"/>
                </a:solidFill>
                <a:sym typeface="+mn-ea"/>
              </a:rPr>
              <a:t>As a result, the model is encouraged </a:t>
            </a:r>
            <a:r>
              <a:rPr lang="en-US" altLang="zh-CN" sz="1200">
                <a:solidFill>
                  <a:srgbClr val="333333"/>
                </a:solidFill>
                <a:sym typeface="+mn-ea"/>
              </a:rPr>
              <a:t>/</a:t>
            </a:r>
            <a:r>
              <a:rPr lang="zh-CN" sz="1200">
                <a:solidFill>
                  <a:srgbClr val="333333"/>
                </a:solidFill>
                <a:sym typeface="+mn-ea"/>
              </a:rPr>
              <a:t>to focus more </a:t>
            </a:r>
            <a:r>
              <a:rPr lang="en-US" altLang="zh-CN" sz="1200">
                <a:solidFill>
                  <a:srgbClr val="333333"/>
                </a:solidFill>
                <a:sym typeface="+mn-ea"/>
              </a:rPr>
              <a:t>/</a:t>
            </a:r>
            <a:r>
              <a:rPr lang="zh-CN" sz="1200">
                <a:solidFill>
                  <a:srgbClr val="333333"/>
                </a:solidFill>
                <a:sym typeface="+mn-ea"/>
              </a:rPr>
              <a:t>on causally relevant signals.</a:t>
            </a:r>
            <a:endParaRPr sz="1200" dirty="0">
              <a:solidFill>
                <a:srgbClr val="333333"/>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g3b3a8f46d61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b3a8f46d61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solidFill>
                  <a:srgbClr val="333333"/>
                </a:solidFill>
                <a:highlight>
                  <a:srgbClr val="000000">
                    <a:alpha val="0"/>
                  </a:srgbClr>
                </a:highlight>
                <a:sym typeface="+mn-ea"/>
              </a:rPr>
              <a:t>Here, we evaluate the effectiveness /of our mitigation strategy.</a:t>
            </a:r>
            <a:endParaRPr lang="en-US" altLang="zh-CN" sz="1200">
              <a:solidFill>
                <a:srgbClr val="333333"/>
              </a:solidFill>
              <a:highlight>
                <a:srgbClr val="000000">
                  <a:alpha val="0"/>
                </a:srgbClr>
              </a:highlight>
            </a:endParaRPr>
          </a:p>
          <a:p>
            <a:pPr marL="0" lvl="0" indent="0" algn="l" rtl="0">
              <a:spcBef>
                <a:spcPts val="0"/>
              </a:spcBef>
              <a:spcAft>
                <a:spcPts val="0"/>
              </a:spcAft>
              <a:buNone/>
            </a:pPr>
            <a:r>
              <a:rPr lang="en-US" altLang="zh-CN" sz="1200">
                <a:solidFill>
                  <a:srgbClr val="333333"/>
                </a:solidFill>
                <a:highlight>
                  <a:srgbClr val="000000">
                    <a:alpha val="0"/>
                  </a:srgbClr>
                </a:highlight>
                <a:sym typeface="+mn-ea"/>
              </a:rPr>
              <a:t>Compared to the baseline model and existing debiasing methods, </a:t>
            </a:r>
            <a:endParaRPr lang="en-US" altLang="zh-CN" sz="1200">
              <a:solidFill>
                <a:srgbClr val="333333"/>
              </a:solidFill>
              <a:highlight>
                <a:srgbClr val="000000">
                  <a:alpha val="0"/>
                </a:srgbClr>
              </a:highlight>
            </a:endParaRPr>
          </a:p>
          <a:p>
            <a:pPr marL="0" lvl="0" indent="0" algn="l" rtl="0">
              <a:spcBef>
                <a:spcPts val="0"/>
              </a:spcBef>
              <a:spcAft>
                <a:spcPts val="0"/>
              </a:spcAft>
              <a:buNone/>
            </a:pPr>
            <a:r>
              <a:rPr lang="en-US" altLang="zh-CN" sz="1200">
                <a:solidFill>
                  <a:srgbClr val="333333"/>
                </a:solidFill>
                <a:highlight>
                  <a:srgbClr val="000000">
                    <a:alpha val="0"/>
                  </a:srgbClr>
                </a:highlight>
                <a:sym typeface="+mn-ea"/>
              </a:rPr>
              <a:t>our approach achieves /an average relative improvement /over 50% in both methods.</a:t>
            </a:r>
            <a:endParaRPr lang="en-US" altLang="zh-CN" sz="1200" dirty="0">
              <a:solidFill>
                <a:srgbClr val="333333"/>
              </a:solidFill>
              <a:highlight>
                <a:srgbClr val="000000">
                  <a:alpha val="0"/>
                </a:srgbClr>
              </a:highlight>
              <a:sym typeface="+mn-e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g3b3a8f46d61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b3a8f46d61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dirty="0">
                <a:solidFill>
                  <a:srgbClr val="333333"/>
                </a:solidFill>
                <a:highlight>
                  <a:srgbClr val="000000">
                    <a:alpha val="0"/>
                  </a:srgbClr>
                </a:highlight>
              </a:rPr>
              <a:t>And building on prior work, we confirm that /LLMs can effectively preserve /user labels /while rewriting text, with a token-level edit similarity /above 0.7 and /cosine similarity over 0.9, ensuring minimal /surface changes and high /semantic consistency /in the rewritten texts.</a:t>
            </a:r>
            <a:endParaRPr lang="en-US" altLang="zh-CN" sz="1200" dirty="0">
              <a:solidFill>
                <a:srgbClr val="333333"/>
              </a:solidFill>
              <a:highlight>
                <a:srgbClr val="000000">
                  <a:alpha val="0"/>
                </a:srgbClr>
              </a:highlight>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g3b3a8f46d61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b3a8f46d61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sym typeface="+mn-ea"/>
              </a:rPr>
              <a:t>In a nutshell, t</a:t>
            </a:r>
            <a:r>
              <a:rPr lang="zh-CN" sz="1200">
                <a:sym typeface="+mn-ea"/>
              </a:rPr>
              <a:t>his work identifies shortcut learning as a challenge in social bot detection </a:t>
            </a:r>
            <a:r>
              <a:rPr lang="en-US" altLang="zh-CN" sz="1200">
                <a:sym typeface="+mn-ea"/>
              </a:rPr>
              <a:t>/</a:t>
            </a:r>
            <a:r>
              <a:rPr lang="zh-CN" sz="1200">
                <a:sym typeface="+mn-ea"/>
              </a:rPr>
              <a:t>and</a:t>
            </a:r>
            <a:r>
              <a:rPr lang="en-US" altLang="zh-CN" sz="1200">
                <a:sym typeface="+mn-ea"/>
              </a:rPr>
              <a:t> </a:t>
            </a:r>
            <a:r>
              <a:rPr lang="zh-CN" sz="1200">
                <a:sym typeface="+mn-ea"/>
              </a:rPr>
              <a:t>demonstrates that </a:t>
            </a:r>
            <a:r>
              <a:rPr lang="en-US" altLang="zh-CN" sz="1200">
                <a:sym typeface="+mn-ea"/>
              </a:rPr>
              <a:t>/</a:t>
            </a:r>
            <a:r>
              <a:rPr lang="zh-CN" sz="1200">
                <a:sym typeface="+mn-ea"/>
              </a:rPr>
              <a:t>LLM</a:t>
            </a:r>
            <a:r>
              <a:rPr lang="en-US" altLang="zh-CN" sz="1200">
                <a:sym typeface="+mn-ea"/>
              </a:rPr>
              <a:t>s</a:t>
            </a:r>
            <a:r>
              <a:rPr lang="zh-CN" sz="1200">
                <a:sym typeface="+mn-ea"/>
              </a:rPr>
              <a:t>-based counterfactual data augmentation </a:t>
            </a:r>
            <a:r>
              <a:rPr lang="en-US" altLang="zh-CN" sz="1200">
                <a:sym typeface="+mn-ea"/>
              </a:rPr>
              <a:t>/</a:t>
            </a:r>
            <a:r>
              <a:rPr lang="zh-CN" sz="1200">
                <a:sym typeface="+mn-ea"/>
              </a:rPr>
              <a:t>provides a practical and effective</a:t>
            </a:r>
            <a:r>
              <a:rPr lang="en-US" altLang="zh-CN" sz="1200">
                <a:sym typeface="+mn-ea"/>
              </a:rPr>
              <a:t>/</a:t>
            </a:r>
            <a:r>
              <a:rPr lang="zh-CN" sz="1200">
                <a:sym typeface="+mn-ea"/>
              </a:rPr>
              <a:t> mitigation strategy</a:t>
            </a:r>
            <a:r>
              <a:rPr lang="en-US" altLang="zh-CN" sz="1200">
                <a:sym typeface="+mn-ea"/>
              </a:rPr>
              <a:t>.</a:t>
            </a:r>
            <a:endParaRPr lang="zh-CN" sz="1200"/>
          </a:p>
          <a:p>
            <a:pPr marL="0" lvl="0" indent="0" algn="l" rtl="0">
              <a:spcBef>
                <a:spcPts val="0"/>
              </a:spcBef>
              <a:spcAft>
                <a:spcPts val="0"/>
              </a:spcAft>
              <a:buNone/>
            </a:pPr>
            <a:endParaRPr lang="zh-CN" altLang="zh-CN" sz="1200" dirty="0">
              <a:solidFill>
                <a:srgbClr val="333333"/>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highlight>
                  <a:srgbClr val="000000">
                    <a:alpha val="0"/>
                  </a:srgbClr>
                </a:highlight>
                <a:latin typeface="Times New Roman" panose="02020603050405020304"/>
                <a:ea typeface="Times New Roman" panose="02020603050405020304"/>
                <a:cs typeface="Times New Roman" panose="02020603050405020304"/>
                <a:sym typeface="Times New Roman" panose="02020603050405020304"/>
              </a:rPr>
              <a:t>Thank you for your interest!</a:t>
            </a:r>
            <a:endParaRPr lang="en-US" sz="1200" dirty="0">
              <a:highlight>
                <a:srgbClr val="000000">
                  <a:alpha val="0"/>
                </a:srgbClr>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sz="1200" dirty="0">
              <a:solidFill>
                <a:srgbClr val="333333"/>
              </a:solidFill>
              <a:highlight>
                <a:srgbClr val="000000">
                  <a:alpha val="0"/>
                </a:srgbClr>
              </a:highlight>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lt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3" Type="http://schemas.openxmlformats.org/officeDocument/2006/relationships/notesSlide" Target="../notesSlides/notesSlide13.xml"/><Relationship Id="rId12" Type="http://schemas.openxmlformats.org/officeDocument/2006/relationships/slideLayout" Target="../slideLayouts/slideLayout1.xml"/><Relationship Id="rId11"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9" Type="http://schemas.openxmlformats.org/officeDocument/2006/relationships/hyperlink" Target="https://proceedings.neurips.cc/paper_files/paper/2022/hash/8b21a7ea42cbcd1c29a7a88c444cce45-Abstract-Conference.html" TargetMode="External"/><Relationship Id="rId8" Type="http://schemas.openxmlformats.org/officeDocument/2006/relationships/image" Target="../media/image33.png"/><Relationship Id="rId7" Type="http://schemas.openxmlformats.org/officeDocument/2006/relationships/hyperlink" Target="https://huggingface.co/docs/transformers/model_doc/roberta" TargetMode="Externa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hyperlink" Target="https://dl.acm.org/doi/abs/10.1145/3487351.3488336" TargetMode="External"/><Relationship Id="rId11" Type="http://schemas.openxmlformats.org/officeDocument/2006/relationships/notesSlide" Target="../notesSlides/notesSlide14.xml"/><Relationship Id="rId10" Type="http://schemas.openxmlformats.org/officeDocument/2006/relationships/slideLayout" Target="../slideLayouts/slideLayout1.xml"/><Relationship Id="rId1" Type="http://schemas.openxmlformats.org/officeDocument/2006/relationships/image" Target="../media/image28.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38.png"/><Relationship Id="rId1"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0.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xml"/><Relationship Id="rId4" Type="http://schemas.openxmlformats.org/officeDocument/2006/relationships/image" Target="../media/image40.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45.png"/><Relationship Id="rId1" Type="http://schemas.openxmlformats.org/officeDocument/2006/relationships/image" Target="../media/image44.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22.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png"/><Relationship Id="rId7" Type="http://schemas.openxmlformats.org/officeDocument/2006/relationships/image" Target="../media/image50.png"/><Relationship Id="rId6" Type="http://schemas.openxmlformats.org/officeDocument/2006/relationships/tags" Target="../tags/tag5.xml"/><Relationship Id="rId5" Type="http://schemas.openxmlformats.org/officeDocument/2006/relationships/image" Target="../media/image49.png"/><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22.xml"/><Relationship Id="rId12" Type="http://schemas.openxmlformats.org/officeDocument/2006/relationships/slideLayout" Target="../slideLayouts/slideLayout1.xml"/><Relationship Id="rId11" Type="http://schemas.openxmlformats.org/officeDocument/2006/relationships/image" Target="../media/image54.png"/><Relationship Id="rId10" Type="http://schemas.openxmlformats.org/officeDocument/2006/relationships/image" Target="../media/image53.png"/><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tags" Target="../tags/tag10.xml"/><Relationship Id="rId7" Type="http://schemas.openxmlformats.org/officeDocument/2006/relationships/image" Target="../media/image49.png"/><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image" Target="../media/image2.png"/><Relationship Id="rId13" Type="http://schemas.openxmlformats.org/officeDocument/2006/relationships/notesSlide" Target="../notesSlides/notesSlide23.xml"/><Relationship Id="rId12" Type="http://schemas.openxmlformats.org/officeDocument/2006/relationships/slideLayout" Target="../slideLayouts/slideLayout1.xml"/><Relationship Id="rId11" Type="http://schemas.openxmlformats.org/officeDocument/2006/relationships/image" Target="../media/image53.png"/><Relationship Id="rId10" Type="http://schemas.openxmlformats.org/officeDocument/2006/relationships/image" Target="../media/image54.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36900" y="744575"/>
            <a:ext cx="8826300" cy="11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zh-CN" sz="3140" dirty="0">
                <a:latin typeface="Times New Roman" panose="02020603050405020304"/>
                <a:ea typeface="Times New Roman" panose="02020603050405020304"/>
                <a:cs typeface="Times New Roman" panose="02020603050405020304"/>
                <a:sym typeface="Times New Roman" panose="02020603050405020304"/>
              </a:rPr>
              <a:t>Bot Meets Shortcut: How </a:t>
            </a:r>
            <a:r>
              <a:rPr lang="zh-CN" sz="3140" dirty="0">
                <a:solidFill>
                  <a:srgbClr val="1F2328"/>
                </a:solidFill>
                <a:latin typeface="Times New Roman" panose="02020603050405020304"/>
                <a:ea typeface="Times New Roman" panose="02020603050405020304"/>
                <a:cs typeface="Times New Roman" panose="02020603050405020304"/>
                <a:sym typeface="Times New Roman" panose="02020603050405020304"/>
              </a:rPr>
              <a:t>Can LLMs Aid in Handling Unknown Invariance OOD Scenarios?</a:t>
            </a:r>
            <a:endParaRPr lang="zh-CN" sz="3140" dirty="0">
              <a:solidFill>
                <a:srgbClr val="1F2328"/>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 name="Google Shape;55;p13"/>
          <p:cNvSpPr txBox="1">
            <a:spLocks noGrp="1"/>
          </p:cNvSpPr>
          <p:nvPr>
            <p:ph type="subTitle" idx="1"/>
          </p:nvPr>
        </p:nvSpPr>
        <p:spPr>
          <a:xfrm>
            <a:off x="289750" y="2077819"/>
            <a:ext cx="8520600" cy="1788171"/>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zh-CN" sz="2260" dirty="0">
                <a:latin typeface="Times New Roman" panose="02020603050405020304"/>
                <a:ea typeface="Times New Roman" panose="02020603050405020304"/>
                <a:cs typeface="Times New Roman" panose="02020603050405020304"/>
                <a:sym typeface="Times New Roman" panose="02020603050405020304"/>
              </a:rPr>
              <a:t>Shiyan Zheng</a:t>
            </a:r>
            <a:r>
              <a:rPr lang="en-US" altLang="zh-CN" sz="2260" baseline="30000" dirty="0">
                <a:latin typeface="Times New Roman" panose="02020603050405020304"/>
                <a:ea typeface="Times New Roman" panose="02020603050405020304"/>
                <a:cs typeface="Times New Roman" panose="02020603050405020304"/>
                <a:sym typeface="Times New Roman" panose="02020603050405020304"/>
              </a:rPr>
              <a:t>1</a:t>
            </a:r>
            <a:r>
              <a:rPr lang="zh-CN" sz="2260" dirty="0">
                <a:latin typeface="Times New Roman" panose="02020603050405020304"/>
                <a:ea typeface="Times New Roman" panose="02020603050405020304"/>
                <a:cs typeface="Times New Roman" panose="02020603050405020304"/>
                <a:sym typeface="Times New Roman" panose="02020603050405020304"/>
              </a:rPr>
              <a:t>, Herun Wan</a:t>
            </a:r>
            <a:r>
              <a:rPr lang="en-US" altLang="zh-CN" sz="2260" baseline="30000" dirty="0">
                <a:latin typeface="Times New Roman" panose="02020603050405020304"/>
                <a:ea typeface="Times New Roman" panose="02020603050405020304"/>
                <a:cs typeface="Times New Roman" panose="02020603050405020304"/>
                <a:sym typeface="Times New Roman" panose="02020603050405020304"/>
              </a:rPr>
              <a:t>1</a:t>
            </a:r>
            <a:r>
              <a:rPr lang="zh-CN" sz="2260" dirty="0">
                <a:latin typeface="Times New Roman" panose="02020603050405020304"/>
                <a:ea typeface="Times New Roman" panose="02020603050405020304"/>
                <a:cs typeface="Times New Roman" panose="02020603050405020304"/>
                <a:sym typeface="Times New Roman" panose="02020603050405020304"/>
              </a:rPr>
              <a:t>, Minnan Luo</a:t>
            </a:r>
            <a:r>
              <a:rPr lang="en-US" altLang="zh-CN" sz="2260" baseline="30000" dirty="0">
                <a:latin typeface="Times New Roman" panose="02020603050405020304"/>
                <a:ea typeface="Times New Roman" panose="02020603050405020304"/>
                <a:cs typeface="Times New Roman" panose="02020603050405020304"/>
                <a:sym typeface="Times New Roman" panose="02020603050405020304"/>
              </a:rPr>
              <a:t>1</a:t>
            </a:r>
            <a:r>
              <a:rPr lang="zh-CN" altLang="en-US" sz="2260" baseline="30000" dirty="0">
                <a:latin typeface="Times New Roman" panose="02020603050405020304"/>
                <a:ea typeface="Times New Roman" panose="02020603050405020304"/>
                <a:cs typeface="Times New Roman" panose="02020603050405020304"/>
                <a:sym typeface="Times New Roman" panose="02020603050405020304"/>
              </a:rPr>
              <a:t>📧</a:t>
            </a:r>
            <a:r>
              <a:rPr lang="zh-CN" sz="2260" dirty="0">
                <a:latin typeface="Times New Roman" panose="02020603050405020304"/>
                <a:ea typeface="Times New Roman" panose="02020603050405020304"/>
                <a:cs typeface="Times New Roman" panose="02020603050405020304"/>
                <a:sym typeface="Times New Roman" panose="02020603050405020304"/>
              </a:rPr>
              <a:t>, Junhang Huang</a:t>
            </a:r>
            <a:r>
              <a:rPr lang="en-US" altLang="zh-CN" sz="2260" baseline="30000" dirty="0">
                <a:latin typeface="Times New Roman" panose="02020603050405020304"/>
                <a:ea typeface="Times New Roman" panose="02020603050405020304"/>
                <a:cs typeface="Times New Roman" panose="02020603050405020304"/>
                <a:sym typeface="Times New Roman" panose="02020603050405020304"/>
              </a:rPr>
              <a:t>2</a:t>
            </a:r>
            <a:endParaRPr sz="2260" baseline="30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sz="2260" dirty="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altLang="zh-CN" sz="2000" baseline="30000" dirty="0">
                <a:latin typeface="Times New Roman" panose="02020603050405020304"/>
                <a:ea typeface="Times New Roman" panose="02020603050405020304"/>
                <a:cs typeface="Times New Roman" panose="02020603050405020304"/>
                <a:sym typeface="Times New Roman" panose="02020603050405020304"/>
              </a:rPr>
              <a:t>1</a:t>
            </a:r>
            <a:r>
              <a:rPr lang="zh-CN" sz="2000" dirty="0">
                <a:latin typeface="Times New Roman" panose="02020603050405020304"/>
                <a:ea typeface="Times New Roman" panose="02020603050405020304"/>
                <a:cs typeface="Times New Roman" panose="02020603050405020304"/>
                <a:sym typeface="Times New Roman" panose="02020603050405020304"/>
              </a:rPr>
              <a:t>Xi’an JiaoTong University</a:t>
            </a:r>
            <a:endParaRPr sz="2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altLang="zh-CN" sz="2000" baseline="30000" dirty="0">
                <a:latin typeface="Times New Roman" panose="02020603050405020304"/>
                <a:ea typeface="Times New Roman" panose="02020603050405020304"/>
                <a:cs typeface="Times New Roman" panose="02020603050405020304"/>
                <a:sym typeface="Times New Roman" panose="02020603050405020304"/>
              </a:rPr>
              <a:t>2</a:t>
            </a:r>
            <a:r>
              <a:rPr lang="zh-CN" sz="2000" dirty="0">
                <a:latin typeface="Times New Roman" panose="02020603050405020304"/>
                <a:ea typeface="Times New Roman" panose="02020603050405020304"/>
                <a:cs typeface="Times New Roman" panose="02020603050405020304"/>
                <a:sym typeface="Times New Roman" panose="02020603050405020304"/>
              </a:rPr>
              <a:t>Beijing Institute of Technology</a:t>
            </a:r>
            <a:endParaRPr lang="zh-CN" sz="20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62" name="Google Shape;62;p13"/>
          <p:cNvPicPr preferRelativeResize="0"/>
          <p:nvPr/>
        </p:nvPicPr>
        <p:blipFill>
          <a:blip r:embed="rId1"/>
          <a:stretch>
            <a:fillRect/>
          </a:stretch>
        </p:blipFill>
        <p:spPr>
          <a:xfrm>
            <a:off x="342694" y="3907061"/>
            <a:ext cx="8458611" cy="912770"/>
          </a:xfrm>
          <a:prstGeom prst="rect">
            <a:avLst/>
          </a:prstGeom>
          <a:noFill/>
          <a:ln>
            <a:noFill/>
          </a:ln>
        </p:spPr>
      </p:pic>
      <p:pic>
        <p:nvPicPr>
          <p:cNvPr id="3" name="图片 2"/>
          <p:cNvPicPr>
            <a:picLocks noChangeAspect="1"/>
          </p:cNvPicPr>
          <p:nvPr/>
        </p:nvPicPr>
        <p:blipFill>
          <a:blip r:embed="rId2"/>
          <a:stretch>
            <a:fillRect/>
          </a:stretch>
        </p:blipFill>
        <p:spPr>
          <a:xfrm>
            <a:off x="861695" y="0"/>
            <a:ext cx="1202901" cy="7638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0" name="Google Shape;80;p15"/>
          <p:cNvSpPr txBox="1"/>
          <p:nvPr/>
        </p:nvSpPr>
        <p:spPr>
          <a:xfrm>
            <a:off x="398780" y="386080"/>
            <a:ext cx="8581390" cy="151193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800">
                <a:sym typeface="+mn-ea"/>
              </a:rPr>
              <a:t>Widespread Presence of Social Networks</a:t>
            </a:r>
            <a:endParaRPr lang="en-US" altLang="zh-CN" sz="1800" dirty="0">
              <a:solidFill>
                <a:schemeClr val="tx1"/>
              </a:solidFill>
            </a:endParaRPr>
          </a:p>
          <a:p>
            <a:pPr marL="0" lvl="0" indent="0" algn="l" rtl="0">
              <a:spcBef>
                <a:spcPts val="0"/>
              </a:spcBef>
              <a:spcAft>
                <a:spcPts val="0"/>
              </a:spcAft>
              <a:buNone/>
            </a:pPr>
            <a:r>
              <a:rPr lang="en-US" altLang="zh-CN" sz="1800" dirty="0">
                <a:solidFill>
                  <a:schemeClr val="tx1"/>
                </a:solidFill>
              </a:rPr>
              <a:t>The social bots are evolving, and the social bot environment is becoming diverse. The development of large language models amplifies it.</a:t>
            </a:r>
            <a:endParaRPr lang="en-US" altLang="zh-CN" sz="1800" dirty="0">
              <a:solidFill>
                <a:schemeClr val="tx1"/>
              </a:solidFill>
            </a:endParaRPr>
          </a:p>
          <a:p>
            <a:pPr marL="285750" lvl="0" indent="-285750" algn="l" rtl="0">
              <a:spcBef>
                <a:spcPts val="0"/>
              </a:spcBef>
              <a:spcAft>
                <a:spcPts val="0"/>
              </a:spcAft>
              <a:buFontTx/>
              <a:buChar char="-"/>
            </a:pPr>
            <a:r>
              <a:rPr lang="en-US" altLang="zh-CN" sz="1800" dirty="0">
                <a:solidFill>
                  <a:schemeClr val="tx1"/>
                </a:solidFill>
                <a:sym typeface="+mn-ea"/>
              </a:rPr>
              <a:t>A simple prompt could generate hard-to-detect social bots.</a:t>
            </a:r>
            <a:endParaRPr lang="en-US" sz="1800" dirty="0">
              <a:solidFill>
                <a:schemeClr val="tx1"/>
              </a:solidFill>
            </a:endParaRPr>
          </a:p>
          <a:p>
            <a:pPr lvl="0" algn="l" rtl="0">
              <a:spcBef>
                <a:spcPts val="0"/>
              </a:spcBef>
              <a:spcAft>
                <a:spcPts val="0"/>
              </a:spcAft>
            </a:pPr>
            <a:r>
              <a:rPr lang="en-US" sz="1800" i="1" dirty="0">
                <a:solidFill>
                  <a:schemeClr val="tx1"/>
                </a:solidFill>
                <a:sym typeface="+mn-ea"/>
              </a:rPr>
              <a:t>Please rewrite the tweets of this bot account to sound like a genuine user</a:t>
            </a:r>
            <a:endParaRPr lang="en-US" sz="1800" i="1" dirty="0">
              <a:solidFill>
                <a:schemeClr val="tx1"/>
              </a:solidFill>
            </a:endParaRPr>
          </a:p>
          <a:p>
            <a:pPr marL="0" lvl="0" indent="0" algn="l" rtl="0">
              <a:spcBef>
                <a:spcPts val="0"/>
              </a:spcBef>
              <a:spcAft>
                <a:spcPts val="0"/>
              </a:spcAft>
              <a:buNone/>
            </a:pPr>
            <a:endParaRPr lang="en-US" sz="1800" dirty="0">
              <a:solidFill>
                <a:schemeClr val="tx1"/>
              </a:solidFill>
            </a:endParaRPr>
          </a:p>
        </p:txBody>
      </p:sp>
      <p:sp>
        <p:nvSpPr>
          <p:cNvPr id="81" name="Google Shape;81;p15"/>
          <p:cNvSpPr txBox="1"/>
          <p:nvPr/>
        </p:nvSpPr>
        <p:spPr>
          <a:xfrm>
            <a:off x="8890" y="-2540"/>
            <a:ext cx="2813685" cy="38862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200" b="1" dirty="0">
                <a:solidFill>
                  <a:schemeClr val="tx1"/>
                </a:solidFill>
              </a:rPr>
              <a:t>Background</a:t>
            </a:r>
            <a:endParaRPr sz="2200" b="1" dirty="0">
              <a:solidFill>
                <a:schemeClr val="tx1"/>
              </a:solidFill>
            </a:endParaRPr>
          </a:p>
        </p:txBody>
      </p:sp>
      <p:sp>
        <p:nvSpPr>
          <p:cNvPr id="3" name="文本框 2"/>
          <p:cNvSpPr txBox="1"/>
          <p:nvPr/>
        </p:nvSpPr>
        <p:spPr>
          <a:xfrm>
            <a:off x="2470244" y="4712762"/>
            <a:ext cx="3889612" cy="415498"/>
          </a:xfrm>
          <a:prstGeom prst="rect">
            <a:avLst/>
          </a:prstGeom>
          <a:noFill/>
        </p:spPr>
        <p:txBody>
          <a:bodyPr wrap="square" rtlCol="0">
            <a:spAutoFit/>
          </a:bodyPr>
          <a:lstStyle/>
          <a:p>
            <a:r>
              <a:rPr lang="en-US" altLang="zh-CN" sz="1000" b="0" i="0" dirty="0">
                <a:solidFill>
                  <a:srgbClr val="222222"/>
                </a:solidFill>
                <a:effectLst/>
                <a:latin typeface="Times New Roman" panose="02020603050405020304" pitchFamily="18" charset="0"/>
                <a:cs typeface="Times New Roman" panose="02020603050405020304" pitchFamily="18" charset="0"/>
              </a:rPr>
              <a:t>Feng S, et al. "What Does the Bot Say? Opportunities and Risks of Large Language Models in Social Media Bot Detection." ACL 2024.</a:t>
            </a:r>
            <a:endParaRPr lang="zh-CN" altLang="en-US" sz="10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2345690" y="1911350"/>
            <a:ext cx="4213225" cy="2787650"/>
          </a:xfrm>
          <a:prstGeom prst="rect">
            <a:avLst/>
          </a:prstGeom>
        </p:spPr>
      </p:pic>
      <p:pic>
        <p:nvPicPr>
          <p:cNvPr id="10" name="图片 9" descr="抖音"/>
          <p:cNvPicPr>
            <a:picLocks noChangeAspect="1"/>
          </p:cNvPicPr>
          <p:nvPr/>
        </p:nvPicPr>
        <p:blipFill>
          <a:blip r:embed="rId2"/>
          <a:stretch>
            <a:fillRect/>
          </a:stretch>
        </p:blipFill>
        <p:spPr>
          <a:xfrm>
            <a:off x="1306830" y="4309110"/>
            <a:ext cx="519430" cy="519430"/>
          </a:xfrm>
          <a:prstGeom prst="rect">
            <a:avLst/>
          </a:prstGeom>
        </p:spPr>
      </p:pic>
      <p:pic>
        <p:nvPicPr>
          <p:cNvPr id="11" name="图片 10" descr="平台推特X"/>
          <p:cNvPicPr>
            <a:picLocks noChangeAspect="1"/>
          </p:cNvPicPr>
          <p:nvPr/>
        </p:nvPicPr>
        <p:blipFill>
          <a:blip r:embed="rId3"/>
          <a:stretch>
            <a:fillRect/>
          </a:stretch>
        </p:blipFill>
        <p:spPr>
          <a:xfrm>
            <a:off x="267970" y="3380105"/>
            <a:ext cx="546100" cy="546100"/>
          </a:xfrm>
          <a:prstGeom prst="rect">
            <a:avLst/>
          </a:prstGeom>
        </p:spPr>
      </p:pic>
      <p:pic>
        <p:nvPicPr>
          <p:cNvPr id="12" name="图片 11" descr="微博"/>
          <p:cNvPicPr>
            <a:picLocks noChangeAspect="1"/>
          </p:cNvPicPr>
          <p:nvPr/>
        </p:nvPicPr>
        <p:blipFill>
          <a:blip r:embed="rId4"/>
          <a:stretch>
            <a:fillRect/>
          </a:stretch>
        </p:blipFill>
        <p:spPr>
          <a:xfrm>
            <a:off x="951230" y="3613785"/>
            <a:ext cx="545465" cy="5454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1"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200" b="1" dirty="0">
                <a:solidFill>
                  <a:schemeClr val="tx1"/>
                </a:solidFill>
              </a:rPr>
              <a:t>Background</a:t>
            </a:r>
            <a:endParaRPr sz="2200" b="1" dirty="0">
              <a:solidFill>
                <a:schemeClr val="tx1"/>
              </a:solidFill>
            </a:endParaRPr>
          </a:p>
        </p:txBody>
      </p:sp>
      <p:pic>
        <p:nvPicPr>
          <p:cNvPr id="8" name="图片 7" descr="pandemicd3_01(3)"/>
          <p:cNvPicPr>
            <a:picLocks noChangeAspect="1"/>
          </p:cNvPicPr>
          <p:nvPr/>
        </p:nvPicPr>
        <p:blipFill>
          <a:blip r:embed="rId1"/>
          <a:stretch>
            <a:fillRect/>
          </a:stretch>
        </p:blipFill>
        <p:spPr>
          <a:xfrm>
            <a:off x="1373505" y="1637030"/>
            <a:ext cx="5693410" cy="3284220"/>
          </a:xfrm>
          <a:prstGeom prst="rect">
            <a:avLst/>
          </a:prstGeom>
        </p:spPr>
      </p:pic>
      <p:sp>
        <p:nvSpPr>
          <p:cNvPr id="9" name="Google Shape;80;p15"/>
          <p:cNvSpPr txBox="1"/>
          <p:nvPr/>
        </p:nvSpPr>
        <p:spPr>
          <a:xfrm>
            <a:off x="398780" y="485775"/>
            <a:ext cx="8581390" cy="1252220"/>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Tx/>
              <a:buChar char="-"/>
            </a:pPr>
            <a:r>
              <a:rPr lang="en-US" altLang="zh-CN" sz="1800" dirty="0">
                <a:solidFill>
                  <a:schemeClr val="bg1">
                    <a:lumMod val="85000"/>
                  </a:schemeClr>
                </a:solidFill>
              </a:rPr>
              <a:t>A simple prompt could generate hard-to-detect social bots.</a:t>
            </a:r>
            <a:endParaRPr lang="en-US" altLang="zh-CN" sz="1800" dirty="0">
              <a:solidFill>
                <a:schemeClr val="bg1">
                  <a:lumMod val="85000"/>
                </a:schemeClr>
              </a:solidFill>
            </a:endParaRPr>
          </a:p>
          <a:p>
            <a:pPr marL="285750" marR="0" lvl="0" indent="-285750" algn="l" defTabSz="914400" rtl="0" eaLnBrk="1" fontAlgn="auto" latinLnBrk="0" hangingPunct="1">
              <a:lnSpc>
                <a:spcPct val="100000"/>
              </a:lnSpc>
              <a:spcBef>
                <a:spcPts val="0"/>
              </a:spcBef>
              <a:spcAft>
                <a:spcPts val="0"/>
              </a:spcAft>
              <a:buClr>
                <a:srgbClr val="000000"/>
              </a:buClr>
              <a:buSzTx/>
              <a:buFontTx/>
              <a:buChar char="-"/>
              <a:defRPr/>
            </a:pPr>
            <a:r>
              <a:rPr kumimoji="0" lang="en-US" altLang="zh-CN" sz="18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Social bots are widely employed in diverse fields, </a:t>
            </a:r>
            <a:r>
              <a:rPr lang="en-US" altLang="zh-CN" sz="1800" dirty="0">
                <a:solidFill>
                  <a:srgbClr val="333333"/>
                </a:solidFill>
                <a:highlight>
                  <a:srgbClr val="000000">
                    <a:alpha val="0"/>
                  </a:srgbClr>
                </a:highlight>
                <a:sym typeface="+mn-ea"/>
              </a:rPr>
              <a:t>with their presence growing, adapt</a:t>
            </a:r>
            <a:r>
              <a:rPr lang="en-US" altLang="zh-CN" sz="1800" dirty="0">
                <a:solidFill>
                  <a:srgbClr val="333333"/>
                </a:solidFill>
                <a:highlight>
                  <a:srgbClr val="000000">
                    <a:alpha val="0"/>
                  </a:srgbClr>
                </a:highlight>
                <a:sym typeface="+mn-ea"/>
              </a:rPr>
              <a:t>ing to environments and evading detection</a:t>
            </a:r>
            <a:endParaRPr lang="en-US" sz="1800" dirty="0">
              <a:solidFill>
                <a:schemeClr val="tx1"/>
              </a:solidFill>
            </a:endParaRPr>
          </a:p>
        </p:txBody>
      </p:sp>
      <p:sp>
        <p:nvSpPr>
          <p:cNvPr id="10" name="文本框 9"/>
          <p:cNvSpPr txBox="1"/>
          <p:nvPr/>
        </p:nvSpPr>
        <p:spPr>
          <a:xfrm>
            <a:off x="2042795" y="4878070"/>
            <a:ext cx="4602480" cy="245110"/>
          </a:xfrm>
          <a:prstGeom prst="rect">
            <a:avLst/>
          </a:prstGeom>
          <a:noFill/>
        </p:spPr>
        <p:txBody>
          <a:bodyPr wrap="square" rtlCol="0">
            <a:spAutoFit/>
          </a:bodyPr>
          <a:lstStyle/>
          <a:p>
            <a:r>
              <a:rPr lang="en-US" altLang="zh-CN" sz="1000" b="0" i="0" dirty="0">
                <a:solidFill>
                  <a:srgbClr val="222222"/>
                </a:solidFill>
                <a:effectLst/>
                <a:latin typeface="Times New Roman" panose="02020603050405020304" pitchFamily="18" charset="0"/>
                <a:cs typeface="Times New Roman" panose="02020603050405020304" pitchFamily="18" charset="0"/>
              </a:rPr>
              <a:t>S Cresci, et al. </a:t>
            </a:r>
            <a:r>
              <a:rPr lang="en-US" altLang="zh-CN" sz="1000" dirty="0">
                <a:solidFill>
                  <a:srgbClr val="222222"/>
                </a:solidFill>
                <a:effectLst/>
                <a:latin typeface="Times New Roman" panose="02020603050405020304" pitchFamily="18" charset="0"/>
                <a:cs typeface="Times New Roman" panose="02020603050405020304" pitchFamily="18" charset="0"/>
                <a:sym typeface="+mn-ea"/>
              </a:rPr>
              <a:t>"A decade of social bot detection."</a:t>
            </a:r>
            <a:r>
              <a:rPr lang="en-US" altLang="zh-CN" sz="1000" b="0" i="0" dirty="0">
                <a:solidFill>
                  <a:srgbClr val="222222"/>
                </a:solidFill>
                <a:effectLst/>
                <a:latin typeface="Times New Roman" panose="02020603050405020304" pitchFamily="18" charset="0"/>
                <a:cs typeface="Times New Roman" panose="02020603050405020304" pitchFamily="18" charset="0"/>
              </a:rPr>
              <a:t> Communications of the ACM, 2020.</a:t>
            </a:r>
            <a:endParaRPr lang="zh-CN" altLang="en-US" sz="1000"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631825" y="3849370"/>
            <a:ext cx="1997075" cy="328295"/>
          </a:xfrm>
          <a:prstGeom prst="rect">
            <a:avLst/>
          </a:prstGeom>
        </p:spPr>
        <p:txBody>
          <a:bodyPr wrap="square">
            <a:noAutofit/>
          </a:bodyPr>
          <a:p>
            <a:pPr marL="0" indent="0"/>
            <a:r>
              <a:rPr lang="en-US" altLang="zh-CN" sz="1600" b="0" i="0">
                <a:solidFill>
                  <a:srgbClr val="333333"/>
                </a:solidFill>
                <a:latin typeface="Times New Roman" panose="02020603050405020304" pitchFamily="18" charset="0"/>
                <a:ea typeface="Open Sans"/>
                <a:cs typeface="Times New Roman" panose="02020603050405020304" pitchFamily="18" charset="0"/>
              </a:rPr>
              <a:t>Political Campaigns</a:t>
            </a:r>
            <a:endParaRPr lang="en-US" altLang="zh-CN" sz="1600" b="0" i="0">
              <a:solidFill>
                <a:srgbClr val="333333"/>
              </a:solidFill>
              <a:latin typeface="Times New Roman" panose="02020603050405020304" pitchFamily="18" charset="0"/>
              <a:ea typeface="Open Sans"/>
              <a:cs typeface="Times New Roman" panose="02020603050405020304" pitchFamily="18" charset="0"/>
            </a:endParaRPr>
          </a:p>
        </p:txBody>
      </p:sp>
      <p:sp>
        <p:nvSpPr>
          <p:cNvPr id="12" name="文本框 11"/>
          <p:cNvSpPr txBox="1"/>
          <p:nvPr/>
        </p:nvSpPr>
        <p:spPr>
          <a:xfrm>
            <a:off x="5845175" y="4186555"/>
            <a:ext cx="2794000" cy="337185"/>
          </a:xfrm>
          <a:prstGeom prst="rect">
            <a:avLst/>
          </a:prstGeom>
        </p:spPr>
        <p:txBody>
          <a:bodyPr wrap="square">
            <a:spAutoFit/>
          </a:bodyPr>
          <a:p>
            <a:pPr marL="0" indent="0"/>
            <a:r>
              <a:rPr lang="en-US" altLang="zh-CN" sz="1600" b="0" i="0">
                <a:solidFill>
                  <a:srgbClr val="333333"/>
                </a:solidFill>
                <a:latin typeface="Times New Roman" panose="02020603050405020304" pitchFamily="18" charset="0"/>
                <a:ea typeface="Open Sans"/>
                <a:cs typeface="Times New Roman" panose="02020603050405020304" pitchFamily="18" charset="0"/>
              </a:rPr>
              <a:t>Information Operations</a:t>
            </a:r>
            <a:endParaRPr lang="en-US" altLang="zh-CN" sz="1600" b="0" i="0">
              <a:solidFill>
                <a:srgbClr val="333333"/>
              </a:solidFill>
              <a:latin typeface="Times New Roman" panose="02020603050405020304" pitchFamily="18" charset="0"/>
              <a:ea typeface="Open Sans"/>
              <a:cs typeface="Times New Roman" panose="02020603050405020304" pitchFamily="18" charset="0"/>
            </a:endParaRPr>
          </a:p>
        </p:txBody>
      </p:sp>
      <p:pic>
        <p:nvPicPr>
          <p:cNvPr id="13" name="图片 12" descr="对抗-VS"/>
          <p:cNvPicPr>
            <a:picLocks noChangeAspect="1"/>
          </p:cNvPicPr>
          <p:nvPr/>
        </p:nvPicPr>
        <p:blipFill>
          <a:blip r:embed="rId2"/>
          <a:stretch>
            <a:fillRect/>
          </a:stretch>
        </p:blipFill>
        <p:spPr>
          <a:xfrm>
            <a:off x="7066915" y="1637030"/>
            <a:ext cx="609600" cy="609600"/>
          </a:xfrm>
          <a:prstGeom prst="rect">
            <a:avLst/>
          </a:prstGeom>
        </p:spPr>
      </p:pic>
      <p:sp>
        <p:nvSpPr>
          <p:cNvPr id="14" name="文本框 13"/>
          <p:cNvSpPr txBox="1"/>
          <p:nvPr/>
        </p:nvSpPr>
        <p:spPr>
          <a:xfrm>
            <a:off x="7638415" y="1680845"/>
            <a:ext cx="1253490" cy="521970"/>
          </a:xfrm>
          <a:prstGeom prst="rect">
            <a:avLst/>
          </a:prstGeom>
          <a:noFill/>
        </p:spPr>
        <p:txBody>
          <a:bodyPr wrap="square" rtlCol="0">
            <a:spAutoFit/>
          </a:bodyPr>
          <a:p>
            <a:r>
              <a:rPr lang="en-US" altLang="zh-CN">
                <a:solidFill>
                  <a:srgbClr val="FF0000"/>
                </a:solidFill>
              </a:rPr>
              <a:t>Evade Detection</a:t>
            </a:r>
            <a:endParaRPr lang="en-US" altLang="zh-CN">
              <a:solidFill>
                <a:srgbClr val="FF0000"/>
              </a:solidFill>
            </a:endParaRPr>
          </a:p>
        </p:txBody>
      </p:sp>
      <p:pic>
        <p:nvPicPr>
          <p:cNvPr id="15" name="图片 14" descr="政治"/>
          <p:cNvPicPr>
            <a:picLocks noChangeAspect="1"/>
          </p:cNvPicPr>
          <p:nvPr/>
        </p:nvPicPr>
        <p:blipFill>
          <a:blip r:embed="rId3"/>
          <a:stretch>
            <a:fillRect/>
          </a:stretch>
        </p:blipFill>
        <p:spPr>
          <a:xfrm>
            <a:off x="398780" y="3853180"/>
            <a:ext cx="324485" cy="324485"/>
          </a:xfrm>
          <a:prstGeom prst="rect">
            <a:avLst/>
          </a:prstGeom>
        </p:spPr>
      </p:pic>
      <p:pic>
        <p:nvPicPr>
          <p:cNvPr id="16" name="图片 15" descr="信息空心"/>
          <p:cNvPicPr>
            <a:picLocks noChangeAspect="1"/>
          </p:cNvPicPr>
          <p:nvPr/>
        </p:nvPicPr>
        <p:blipFill>
          <a:blip r:embed="rId4"/>
          <a:stretch>
            <a:fillRect/>
          </a:stretch>
        </p:blipFill>
        <p:spPr>
          <a:xfrm>
            <a:off x="5610225" y="4213860"/>
            <a:ext cx="292100" cy="292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0" name="Google Shape;80;p15"/>
          <p:cNvSpPr txBox="1"/>
          <p:nvPr/>
        </p:nvSpPr>
        <p:spPr>
          <a:xfrm>
            <a:off x="0" y="513715"/>
            <a:ext cx="3999865" cy="241998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800" dirty="0">
                <a:solidFill>
                  <a:schemeClr val="tx1"/>
                </a:solidFill>
              </a:rPr>
              <a:t>Study the complex characteristics of social bots by exploring shortcut features that could impact social bot detection</a:t>
            </a:r>
            <a:endParaRPr lang="en-US" altLang="zh-CN" sz="1800" dirty="0">
              <a:solidFill>
                <a:schemeClr val="tx1"/>
              </a:solidFill>
            </a:endParaRPr>
          </a:p>
          <a:p>
            <a:pPr marL="0" lvl="0" indent="0" algn="l" rtl="0">
              <a:spcBef>
                <a:spcPts val="0"/>
              </a:spcBef>
              <a:spcAft>
                <a:spcPts val="0"/>
              </a:spcAft>
              <a:buNone/>
            </a:pPr>
            <a:endParaRPr lang="en-US" altLang="zh-CN" sz="1800" dirty="0">
              <a:solidFill>
                <a:schemeClr val="tx1"/>
              </a:solidFill>
            </a:endParaRPr>
          </a:p>
          <a:p>
            <a:pPr marL="0" lvl="0" indent="0" algn="l" rtl="0">
              <a:spcBef>
                <a:spcPts val="0"/>
              </a:spcBef>
              <a:spcAft>
                <a:spcPts val="0"/>
              </a:spcAft>
              <a:buNone/>
            </a:pPr>
            <a:r>
              <a:rPr lang="en-US" altLang="zh-CN" sz="1800" dirty="0">
                <a:solidFill>
                  <a:schemeClr val="tx1"/>
                </a:solidFill>
              </a:rPr>
              <a:t>To detect social bots effectively, detectors must focus on deep causal cues rather than superficial shortcuts.</a:t>
            </a:r>
            <a:endParaRPr lang="en-US" altLang="zh-CN" sz="1800" dirty="0">
              <a:solidFill>
                <a:schemeClr val="tx1"/>
              </a:solidFill>
            </a:endParaRPr>
          </a:p>
        </p:txBody>
      </p:sp>
      <p:sp>
        <p:nvSpPr>
          <p:cNvPr id="81"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Motivation</a:t>
            </a:r>
            <a:endParaRPr sz="2200" b="1" dirty="0">
              <a:solidFill>
                <a:schemeClr val="dk2"/>
              </a:solidFill>
            </a:endParaRPr>
          </a:p>
        </p:txBody>
      </p:sp>
      <p:pic>
        <p:nvPicPr>
          <p:cNvPr id="4" name="Google Shape;133;p21"/>
          <p:cNvPicPr preferRelativeResize="0"/>
          <p:nvPr/>
        </p:nvPicPr>
        <p:blipFill>
          <a:blip r:embed="rId1"/>
          <a:stretch>
            <a:fillRect/>
          </a:stretch>
        </p:blipFill>
        <p:spPr>
          <a:xfrm>
            <a:off x="4199255" y="4445"/>
            <a:ext cx="490347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0" name="Google Shape;80;p15"/>
          <p:cNvSpPr txBox="1"/>
          <p:nvPr/>
        </p:nvSpPr>
        <p:spPr>
          <a:xfrm>
            <a:off x="0" y="509270"/>
            <a:ext cx="4017010" cy="240157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800" dirty="0">
                <a:solidFill>
                  <a:schemeClr val="tx1"/>
                </a:solidFill>
              </a:rPr>
              <a:t>To effectively detect social bots across diverse environments, detectors must learn deep semantics rather than relying on superficial cues.</a:t>
            </a:r>
            <a:endParaRPr lang="en-US" altLang="zh-CN" sz="1800" dirty="0">
              <a:solidFill>
                <a:schemeClr val="tx1"/>
              </a:solidFill>
            </a:endParaRPr>
          </a:p>
          <a:p>
            <a:pPr marL="0" lvl="0" indent="0" algn="l" rtl="0">
              <a:spcBef>
                <a:spcPts val="0"/>
              </a:spcBef>
              <a:spcAft>
                <a:spcPts val="0"/>
              </a:spcAft>
              <a:buNone/>
            </a:pPr>
            <a:endParaRPr lang="en-US" altLang="zh-CN" sz="1800" dirty="0">
              <a:solidFill>
                <a:schemeClr val="tx1"/>
              </a:solidFill>
            </a:endParaRPr>
          </a:p>
          <a:p>
            <a:pPr marL="285750" lvl="0" indent="-285750" algn="l" rtl="0">
              <a:spcBef>
                <a:spcPts val="0"/>
              </a:spcBef>
              <a:spcAft>
                <a:spcPts val="0"/>
              </a:spcAft>
              <a:buFont typeface="Arial" panose="020B0604020202020204" pitchFamily="34" charset="0"/>
              <a:buChar char="•"/>
            </a:pPr>
            <a:r>
              <a:rPr lang="en-US" altLang="zh-CN" sz="1600" i="1" dirty="0">
                <a:solidFill>
                  <a:schemeClr val="tx1"/>
                </a:solidFill>
              </a:rPr>
              <a:t>e.g.,</a:t>
            </a:r>
            <a:r>
              <a:rPr lang="en-US" altLang="zh-CN" sz="1600" dirty="0">
                <a:solidFill>
                  <a:schemeClr val="tx1"/>
                </a:solidFill>
              </a:rPr>
              <a:t> in real-world scenarios, we can not </a:t>
            </a:r>
            <a:r>
              <a:rPr lang="en-US" altLang="zh-CN" sz="1600" dirty="0">
                <a:solidFill>
                  <a:srgbClr val="333333"/>
                </a:solidFill>
                <a:highlight>
                  <a:srgbClr val="FFFFFF"/>
                </a:highlight>
                <a:sym typeface="+mn-ea"/>
              </a:rPr>
              <a:t>assume that angry accounts are bots or happy ones are humans. </a:t>
            </a:r>
            <a:endParaRPr lang="en-US" altLang="zh-CN" sz="1600" dirty="0">
              <a:solidFill>
                <a:schemeClr val="tx1"/>
              </a:solidFill>
            </a:endParaRPr>
          </a:p>
        </p:txBody>
      </p:sp>
      <p:sp>
        <p:nvSpPr>
          <p:cNvPr id="81"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Motivation</a:t>
            </a:r>
            <a:endParaRPr sz="2200" b="1" dirty="0">
              <a:solidFill>
                <a:schemeClr val="dk2"/>
              </a:solidFill>
            </a:endParaRPr>
          </a:p>
        </p:txBody>
      </p:sp>
      <p:pic>
        <p:nvPicPr>
          <p:cNvPr id="4" name="Google Shape;133;p21"/>
          <p:cNvPicPr preferRelativeResize="0"/>
          <p:nvPr/>
        </p:nvPicPr>
        <p:blipFill>
          <a:blip r:embed="rId1"/>
          <a:stretch>
            <a:fillRect/>
          </a:stretch>
        </p:blipFill>
        <p:spPr>
          <a:xfrm>
            <a:off x="4199255" y="0"/>
            <a:ext cx="490347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0" name="Google Shape;80;p15"/>
          <p:cNvSpPr txBox="1"/>
          <p:nvPr/>
        </p:nvSpPr>
        <p:spPr>
          <a:xfrm>
            <a:off x="0" y="509270"/>
            <a:ext cx="4027805" cy="410591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800" dirty="0">
                <a:solidFill>
                  <a:schemeClr val="tx1"/>
                </a:solidFill>
              </a:rPr>
              <a:t>To effectively detect social bots across diverse environments, detectors must learn deep semantics rather than relying on superficial cues.</a:t>
            </a:r>
            <a:endParaRPr lang="en-US" altLang="zh-CN" sz="1800" dirty="0">
              <a:solidFill>
                <a:schemeClr val="tx1"/>
              </a:solidFill>
            </a:endParaRPr>
          </a:p>
          <a:p>
            <a:pPr marL="0" lvl="0" indent="0" algn="l" rtl="0">
              <a:spcBef>
                <a:spcPts val="0"/>
              </a:spcBef>
              <a:spcAft>
                <a:spcPts val="0"/>
              </a:spcAft>
              <a:buNone/>
            </a:pPr>
            <a:endParaRPr lang="en-US" altLang="zh-CN" sz="1800" dirty="0">
              <a:solidFill>
                <a:schemeClr val="tx1"/>
              </a:solidFill>
            </a:endParaRPr>
          </a:p>
          <a:p>
            <a:pPr marL="285750" lvl="0" indent="-285750" algn="l" rtl="0">
              <a:spcBef>
                <a:spcPts val="0"/>
              </a:spcBef>
              <a:spcAft>
                <a:spcPts val="0"/>
              </a:spcAft>
              <a:buFont typeface="Arial" panose="020B0604020202020204" pitchFamily="34" charset="0"/>
              <a:buChar char="•"/>
            </a:pPr>
            <a:r>
              <a:rPr lang="en-US" altLang="zh-CN" sz="1600" dirty="0">
                <a:solidFill>
                  <a:schemeClr val="bg1">
                    <a:lumMod val="85000"/>
                  </a:schemeClr>
                </a:solidFill>
                <a:sym typeface="+mn-ea"/>
              </a:rPr>
              <a:t>e.g., in real-world scenarios, we can not </a:t>
            </a:r>
            <a:r>
              <a:rPr lang="en-US" altLang="zh-CN" sz="1600" dirty="0">
                <a:solidFill>
                  <a:schemeClr val="bg1">
                    <a:lumMod val="85000"/>
                  </a:schemeClr>
                </a:solidFill>
                <a:sym typeface="+mn-ea"/>
              </a:rPr>
              <a:t>assume that angry accounts are bots or happy ones are humans.</a:t>
            </a:r>
            <a:r>
              <a:rPr lang="en-US" altLang="zh-CN" sz="1600" dirty="0">
                <a:solidFill>
                  <a:srgbClr val="333333"/>
                </a:solidFill>
                <a:highlight>
                  <a:srgbClr val="FFFFFF"/>
                </a:highlight>
                <a:sym typeface="+mn-ea"/>
              </a:rPr>
              <a:t> </a:t>
            </a:r>
            <a:endParaRPr lang="en-US" altLang="zh-CN" sz="1600" dirty="0">
              <a:solidFill>
                <a:schemeClr val="tx2">
                  <a:lumMod val="90000"/>
                </a:schemeClr>
              </a:solidFill>
            </a:endParaRPr>
          </a:p>
          <a:p>
            <a:pPr marL="0" lvl="0" indent="0" algn="l" rtl="0">
              <a:spcBef>
                <a:spcPts val="0"/>
              </a:spcBef>
              <a:spcAft>
                <a:spcPts val="0"/>
              </a:spcAft>
              <a:buNone/>
            </a:pPr>
            <a:endParaRPr lang="en-US" altLang="zh-CN" sz="1600" dirty="0">
              <a:solidFill>
                <a:schemeClr val="tx1"/>
              </a:solidFill>
            </a:endParaRPr>
          </a:p>
          <a:p>
            <a:pPr marL="285750" lvl="0" indent="-285750" algn="l" rtl="0">
              <a:spcBef>
                <a:spcPts val="0"/>
              </a:spcBef>
              <a:spcAft>
                <a:spcPts val="0"/>
              </a:spcAft>
              <a:buFont typeface="Arial" panose="020B0604020202020204" pitchFamily="34" charset="0"/>
              <a:buChar char="•"/>
            </a:pPr>
            <a:r>
              <a:rPr lang="en-US" altLang="zh-CN" sz="1600" dirty="0">
                <a:solidFill>
                  <a:schemeClr val="tx1"/>
                </a:solidFill>
              </a:rPr>
              <a:t>However, social bot detectors may inadvertently learn these shortcuts, which motivates us to explore </a:t>
            </a:r>
            <a:br>
              <a:rPr lang="en-US" altLang="zh-CN" sz="1600" dirty="0">
                <a:solidFill>
                  <a:schemeClr val="tx1"/>
                </a:solidFill>
              </a:rPr>
            </a:br>
            <a:r>
              <a:rPr lang="en-US" altLang="zh-CN" sz="1600" b="1" dirty="0">
                <a:solidFill>
                  <a:schemeClr val="tx1"/>
                </a:solidFill>
              </a:rPr>
              <a:t>the impact of shortcut learning on detect</a:t>
            </a:r>
            <a:r>
              <a:rPr lang="en-US" altLang="zh-CN" sz="1600" b="1" dirty="0">
                <a:solidFill>
                  <a:schemeClr val="tx1"/>
                </a:solidFill>
              </a:rPr>
              <a:t>ors’ performance.</a:t>
            </a:r>
            <a:endParaRPr lang="en-US" altLang="zh-CN" sz="1600" b="1" dirty="0">
              <a:solidFill>
                <a:schemeClr val="tx1"/>
              </a:solidFill>
            </a:endParaRPr>
          </a:p>
        </p:txBody>
      </p:sp>
      <p:sp>
        <p:nvSpPr>
          <p:cNvPr id="81"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Motivation</a:t>
            </a:r>
            <a:endParaRPr sz="2200" b="1" dirty="0">
              <a:solidFill>
                <a:schemeClr val="dk2"/>
              </a:solidFill>
            </a:endParaRPr>
          </a:p>
        </p:txBody>
      </p:sp>
      <p:pic>
        <p:nvPicPr>
          <p:cNvPr id="4" name="Google Shape;133;p21"/>
          <p:cNvPicPr preferRelativeResize="0"/>
          <p:nvPr/>
        </p:nvPicPr>
        <p:blipFill>
          <a:blip r:embed="rId1"/>
          <a:stretch>
            <a:fillRect/>
          </a:stretch>
        </p:blipFill>
        <p:spPr>
          <a:xfrm>
            <a:off x="4199255" y="0"/>
            <a:ext cx="4903470"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p25"/>
          <p:cNvSpPr txBox="1"/>
          <p:nvPr/>
        </p:nvSpPr>
        <p:spPr>
          <a:xfrm>
            <a:off x="0" y="1140460"/>
            <a:ext cx="4679950" cy="202819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Char char="●"/>
            </a:pPr>
            <a:r>
              <a:rPr lang="en-US" altLang="zh-CN" sz="2000" dirty="0"/>
              <a:t>Explore model behavior </a:t>
            </a:r>
            <a:r>
              <a:rPr lang="zh-CN" sz="2000">
                <a:sym typeface="+mn-ea"/>
              </a:rPr>
              <a:t>under shortcut features</a:t>
            </a:r>
            <a:r>
              <a:rPr lang="en-US" altLang="zh-CN" sz="2000" dirty="0"/>
              <a:t> with </a:t>
            </a:r>
            <a:r>
              <a:rPr lang="en-US" altLang="zh-CN" sz="2000" b="1" dirty="0"/>
              <a:t>controlled scenarios</a:t>
            </a:r>
            <a:endParaRPr lang="en-US" altLang="zh-CN" sz="2000" b="1" dirty="0"/>
          </a:p>
          <a:p>
            <a:pPr marL="457200" lvl="0" indent="-355600" algn="l" rtl="0">
              <a:spcBef>
                <a:spcPts val="0"/>
              </a:spcBef>
              <a:spcAft>
                <a:spcPts val="0"/>
              </a:spcAft>
              <a:buSzPts val="2000"/>
              <a:buChar char="●"/>
            </a:pPr>
            <a:endParaRPr lang="en-US" altLang="zh-CN" sz="2000" dirty="0"/>
          </a:p>
          <a:p>
            <a:pPr marL="457200" lvl="0" indent="-355600" algn="l" rtl="0">
              <a:spcBef>
                <a:spcPts val="0"/>
              </a:spcBef>
              <a:spcAft>
                <a:spcPts val="0"/>
              </a:spcAft>
              <a:buSzPts val="2000"/>
              <a:buChar char="●"/>
            </a:pPr>
            <a:r>
              <a:rPr lang="zh-CN" sz="2000">
                <a:solidFill>
                  <a:srgbClr val="333333"/>
                </a:solidFill>
                <a:sym typeface="+mn-ea"/>
              </a:rPr>
              <a:t>Focus on</a:t>
            </a:r>
            <a:r>
              <a:rPr lang="en-US" altLang="zh-CN" sz="2000">
                <a:solidFill>
                  <a:srgbClr val="333333"/>
                </a:solidFill>
                <a:sym typeface="+mn-ea"/>
              </a:rPr>
              <a:t> t</a:t>
            </a:r>
            <a:r>
              <a:rPr lang="zh-CN" sz="2000">
                <a:sym typeface="+mn-ea"/>
              </a:rPr>
              <a:t>he core carrier of social interaction</a:t>
            </a:r>
            <a:r>
              <a:rPr lang="en-US" altLang="zh-CN" sz="2000">
                <a:sym typeface="+mn-ea"/>
              </a:rPr>
              <a:t>,</a:t>
            </a:r>
            <a:r>
              <a:rPr lang="zh-CN" sz="2000">
                <a:solidFill>
                  <a:srgbClr val="333333"/>
                </a:solidFill>
                <a:sym typeface="+mn-ea"/>
              </a:rPr>
              <a:t> </a:t>
            </a:r>
            <a:r>
              <a:rPr lang="zh-CN" sz="2000" b="1">
                <a:solidFill>
                  <a:srgbClr val="333333"/>
                </a:solidFill>
                <a:sym typeface="+mn-ea"/>
              </a:rPr>
              <a:t>textual information</a:t>
            </a:r>
            <a:endParaRPr sz="2000" dirty="0"/>
          </a:p>
        </p:txBody>
      </p:sp>
      <p:sp>
        <p:nvSpPr>
          <p:cNvPr id="5"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Methods</a:t>
            </a:r>
            <a:endParaRPr sz="2200" b="1" dirty="0">
              <a:solidFill>
                <a:schemeClr val="dk2"/>
              </a:solidFill>
            </a:endParaRPr>
          </a:p>
        </p:txBody>
      </p:sp>
      <p:pic>
        <p:nvPicPr>
          <p:cNvPr id="158" name="Google Shape;158;p24"/>
          <p:cNvPicPr preferRelativeResize="0"/>
          <p:nvPr/>
        </p:nvPicPr>
        <p:blipFill>
          <a:blip r:embed="rId1"/>
          <a:stretch>
            <a:fillRect/>
          </a:stretch>
        </p:blipFill>
        <p:spPr>
          <a:xfrm>
            <a:off x="5511165" y="2485390"/>
            <a:ext cx="3079115" cy="237045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5"/>
          <p:cNvPicPr preferRelativeResize="0"/>
          <p:nvPr/>
        </p:nvPicPr>
        <p:blipFill>
          <a:blip r:embed="rId1"/>
          <a:stretch>
            <a:fillRect/>
          </a:stretch>
        </p:blipFill>
        <p:spPr>
          <a:xfrm>
            <a:off x="4680585" y="278765"/>
            <a:ext cx="4311015" cy="4637405"/>
          </a:xfrm>
          <a:prstGeom prst="rect">
            <a:avLst/>
          </a:prstGeom>
          <a:noFill/>
          <a:ln>
            <a:noFill/>
          </a:ln>
        </p:spPr>
      </p:pic>
      <p:sp>
        <p:nvSpPr>
          <p:cNvPr id="165" name="Google Shape;165;p25"/>
          <p:cNvSpPr txBox="1"/>
          <p:nvPr/>
        </p:nvSpPr>
        <p:spPr>
          <a:xfrm>
            <a:off x="0" y="1140460"/>
            <a:ext cx="4679950" cy="2643505"/>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Char char="●"/>
            </a:pPr>
            <a:r>
              <a:rPr lang="en-US" altLang="zh-CN" sz="2000">
                <a:solidFill>
                  <a:srgbClr val="333333"/>
                </a:solidFill>
                <a:sym typeface="+mn-ea"/>
              </a:rPr>
              <a:t>I</a:t>
            </a:r>
            <a:r>
              <a:rPr lang="zh-CN" sz="2000">
                <a:solidFill>
                  <a:srgbClr val="333333"/>
                </a:solidFill>
                <a:sym typeface="+mn-ea"/>
              </a:rPr>
              <a:t>dentify candidate shortcut features</a:t>
            </a:r>
            <a:endParaRPr lang="zh-CN" altLang="en-US" sz="2000"/>
          </a:p>
          <a:p>
            <a:pPr marL="457200" lvl="0" indent="-355600" algn="l" rtl="0">
              <a:spcBef>
                <a:spcPts val="0"/>
              </a:spcBef>
              <a:spcAft>
                <a:spcPts val="0"/>
              </a:spcAft>
              <a:buSzPts val="2000"/>
              <a:buChar char="●"/>
            </a:pPr>
            <a:endParaRPr lang="en-US" altLang="zh-CN" sz="2000" dirty="0"/>
          </a:p>
          <a:p>
            <a:pPr marL="457200" lvl="0" indent="-355600" algn="l" rtl="0">
              <a:spcBef>
                <a:spcPts val="0"/>
              </a:spcBef>
              <a:spcAft>
                <a:spcPts val="0"/>
              </a:spcAft>
              <a:buSzPts val="2000"/>
              <a:buChar char="●"/>
            </a:pPr>
            <a:r>
              <a:rPr lang="en-US" altLang="zh-CN" sz="2000">
                <a:solidFill>
                  <a:srgbClr val="333333"/>
                </a:solidFill>
                <a:sym typeface="+mn-ea"/>
              </a:rPr>
              <a:t>A</a:t>
            </a:r>
            <a:r>
              <a:rPr lang="zh-CN" sz="2000">
                <a:solidFill>
                  <a:srgbClr val="333333"/>
                </a:solidFill>
                <a:sym typeface="+mn-ea"/>
              </a:rPr>
              <a:t>rtificially </a:t>
            </a:r>
            <a:r>
              <a:rPr lang="zh-CN" sz="2000">
                <a:sym typeface="+mn-ea"/>
              </a:rPr>
              <a:t>correlate </a:t>
            </a:r>
            <a:r>
              <a:rPr lang="zh-CN" sz="2000">
                <a:sym typeface="+mn-ea"/>
              </a:rPr>
              <a:t>shortcut features with labels in training</a:t>
            </a:r>
            <a:endParaRPr lang="zh-CN" sz="2000">
              <a:sym typeface="+mn-ea"/>
            </a:endParaRPr>
          </a:p>
          <a:p>
            <a:pPr marL="457200" lvl="0" indent="-355600" algn="l" rtl="0">
              <a:spcBef>
                <a:spcPts val="0"/>
              </a:spcBef>
              <a:spcAft>
                <a:spcPts val="0"/>
              </a:spcAft>
              <a:buSzPts val="2000"/>
              <a:buChar char="●"/>
            </a:pPr>
            <a:endParaRPr sz="2000" dirty="0"/>
          </a:p>
          <a:p>
            <a:pPr marL="457200" lvl="0" indent="-355600" algn="l" rtl="0">
              <a:spcBef>
                <a:spcPts val="0"/>
              </a:spcBef>
              <a:spcAft>
                <a:spcPts val="0"/>
              </a:spcAft>
              <a:buSzPts val="2000"/>
              <a:buChar char="●"/>
            </a:pPr>
            <a:r>
              <a:rPr lang="en-US" altLang="zh-CN" sz="2000">
                <a:solidFill>
                  <a:srgbClr val="333333"/>
                </a:solidFill>
                <a:sym typeface="+mn-ea"/>
              </a:rPr>
              <a:t>R</a:t>
            </a:r>
            <a:r>
              <a:rPr lang="zh-CN" sz="2000">
                <a:solidFill>
                  <a:srgbClr val="333333"/>
                </a:solidFill>
                <a:sym typeface="+mn-ea"/>
              </a:rPr>
              <a:t>emove this correlation to evaluate whether model</a:t>
            </a:r>
            <a:r>
              <a:rPr lang="en-US" altLang="zh-CN" sz="2000">
                <a:solidFill>
                  <a:srgbClr val="333333"/>
                </a:solidFill>
                <a:sym typeface="+mn-ea"/>
              </a:rPr>
              <a:t>s</a:t>
            </a:r>
            <a:r>
              <a:rPr lang="zh-CN" sz="2000">
                <a:solidFill>
                  <a:srgbClr val="333333"/>
                </a:solidFill>
                <a:sym typeface="+mn-ea"/>
              </a:rPr>
              <a:t> rel</a:t>
            </a:r>
            <a:r>
              <a:rPr lang="en-US" altLang="zh-CN" sz="2000">
                <a:solidFill>
                  <a:srgbClr val="333333"/>
                </a:solidFill>
                <a:sym typeface="+mn-ea"/>
              </a:rPr>
              <a:t>y</a:t>
            </a:r>
            <a:r>
              <a:rPr lang="zh-CN" sz="2000">
                <a:solidFill>
                  <a:srgbClr val="333333"/>
                </a:solidFill>
                <a:sym typeface="+mn-ea"/>
              </a:rPr>
              <a:t> on shortcuts.</a:t>
            </a:r>
            <a:endParaRPr sz="2000" dirty="0">
              <a:solidFill>
                <a:srgbClr val="333333"/>
              </a:solidFill>
            </a:endParaRPr>
          </a:p>
          <a:p>
            <a:pPr marL="457200" lvl="0" indent="-355600" algn="l" rtl="0">
              <a:spcBef>
                <a:spcPts val="0"/>
              </a:spcBef>
              <a:spcAft>
                <a:spcPts val="0"/>
              </a:spcAft>
              <a:buSzPts val="2000"/>
              <a:buChar char="●"/>
            </a:pPr>
            <a:endParaRPr sz="2000" dirty="0"/>
          </a:p>
        </p:txBody>
      </p:sp>
      <p:sp>
        <p:nvSpPr>
          <p:cNvPr id="5"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Methods</a:t>
            </a:r>
            <a:endParaRPr sz="2200" b="1" dirty="0">
              <a:solidFill>
                <a:schemeClr val="dk2"/>
              </a:solidFill>
            </a:endParaRPr>
          </a:p>
        </p:txBody>
      </p:sp>
      <p:sp>
        <p:nvSpPr>
          <p:cNvPr id="2" name="矩形 1"/>
          <p:cNvSpPr/>
          <p:nvPr/>
        </p:nvSpPr>
        <p:spPr>
          <a:xfrm>
            <a:off x="6483985" y="1647190"/>
            <a:ext cx="666750" cy="447675"/>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5" name="Google Shape;165;p25"/>
          <p:cNvSpPr txBox="1"/>
          <p:nvPr/>
        </p:nvSpPr>
        <p:spPr>
          <a:xfrm>
            <a:off x="0" y="1140460"/>
            <a:ext cx="4679950" cy="2643505"/>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Char char="●"/>
            </a:pPr>
            <a:r>
              <a:rPr lang="en-US" altLang="zh-CN" sz="2000">
                <a:solidFill>
                  <a:srgbClr val="333333"/>
                </a:solidFill>
                <a:sym typeface="+mn-ea"/>
              </a:rPr>
              <a:t>I</a:t>
            </a:r>
            <a:r>
              <a:rPr lang="zh-CN" sz="2000">
                <a:solidFill>
                  <a:srgbClr val="333333"/>
                </a:solidFill>
                <a:sym typeface="+mn-ea"/>
              </a:rPr>
              <a:t>dentify candidate shortcut features</a:t>
            </a:r>
            <a:endParaRPr lang="zh-CN" altLang="en-US" sz="2000"/>
          </a:p>
          <a:p>
            <a:pPr marL="457200" lvl="0" indent="-355600" algn="l" rtl="0">
              <a:spcBef>
                <a:spcPts val="0"/>
              </a:spcBef>
              <a:spcAft>
                <a:spcPts val="0"/>
              </a:spcAft>
              <a:buSzPts val="2000"/>
              <a:buChar char="●"/>
            </a:pPr>
            <a:endParaRPr lang="en-US" altLang="zh-CN" sz="2000" dirty="0"/>
          </a:p>
          <a:p>
            <a:pPr marL="457200" lvl="0" indent="-355600" algn="l" rtl="0">
              <a:spcBef>
                <a:spcPts val="0"/>
              </a:spcBef>
              <a:spcAft>
                <a:spcPts val="0"/>
              </a:spcAft>
              <a:buSzPts val="2000"/>
              <a:buChar char="●"/>
            </a:pPr>
            <a:r>
              <a:rPr lang="en-US" altLang="zh-CN" sz="2000">
                <a:solidFill>
                  <a:srgbClr val="333333"/>
                </a:solidFill>
                <a:sym typeface="+mn-ea"/>
              </a:rPr>
              <a:t>A</a:t>
            </a:r>
            <a:r>
              <a:rPr lang="zh-CN" sz="2000">
                <a:solidFill>
                  <a:srgbClr val="333333"/>
                </a:solidFill>
                <a:sym typeface="+mn-ea"/>
              </a:rPr>
              <a:t>rtificially </a:t>
            </a:r>
            <a:r>
              <a:rPr lang="zh-CN" sz="2000">
                <a:sym typeface="+mn-ea"/>
              </a:rPr>
              <a:t>correlate </a:t>
            </a:r>
            <a:r>
              <a:rPr lang="zh-CN" sz="2000">
                <a:sym typeface="+mn-ea"/>
              </a:rPr>
              <a:t>shortcut features with labels in training</a:t>
            </a:r>
            <a:endParaRPr lang="zh-CN" sz="2000">
              <a:sym typeface="+mn-ea"/>
            </a:endParaRPr>
          </a:p>
          <a:p>
            <a:pPr marL="457200" lvl="0" indent="-355600" algn="l" rtl="0">
              <a:spcBef>
                <a:spcPts val="0"/>
              </a:spcBef>
              <a:spcAft>
                <a:spcPts val="0"/>
              </a:spcAft>
              <a:buSzPts val="2000"/>
              <a:buChar char="●"/>
            </a:pPr>
            <a:endParaRPr sz="2000" dirty="0"/>
          </a:p>
          <a:p>
            <a:pPr marL="457200" lvl="0" indent="-355600" algn="l" rtl="0">
              <a:spcBef>
                <a:spcPts val="0"/>
              </a:spcBef>
              <a:spcAft>
                <a:spcPts val="0"/>
              </a:spcAft>
              <a:buSzPts val="2000"/>
              <a:buChar char="●"/>
            </a:pPr>
            <a:r>
              <a:rPr lang="en-US" altLang="zh-CN" sz="2000">
                <a:solidFill>
                  <a:srgbClr val="333333"/>
                </a:solidFill>
                <a:sym typeface="+mn-ea"/>
              </a:rPr>
              <a:t>R</a:t>
            </a:r>
            <a:r>
              <a:rPr lang="zh-CN" sz="2000">
                <a:solidFill>
                  <a:srgbClr val="333333"/>
                </a:solidFill>
                <a:sym typeface="+mn-ea"/>
              </a:rPr>
              <a:t>emove this correlation to evaluate whether model</a:t>
            </a:r>
            <a:r>
              <a:rPr lang="en-US" altLang="zh-CN" sz="2000">
                <a:solidFill>
                  <a:srgbClr val="333333"/>
                </a:solidFill>
                <a:sym typeface="+mn-ea"/>
              </a:rPr>
              <a:t>s</a:t>
            </a:r>
            <a:r>
              <a:rPr lang="zh-CN" sz="2000">
                <a:solidFill>
                  <a:srgbClr val="333333"/>
                </a:solidFill>
                <a:sym typeface="+mn-ea"/>
              </a:rPr>
              <a:t> rel</a:t>
            </a:r>
            <a:r>
              <a:rPr lang="en-US" altLang="zh-CN" sz="2000">
                <a:solidFill>
                  <a:srgbClr val="333333"/>
                </a:solidFill>
                <a:sym typeface="+mn-ea"/>
              </a:rPr>
              <a:t>y</a:t>
            </a:r>
            <a:r>
              <a:rPr lang="zh-CN" sz="2000">
                <a:solidFill>
                  <a:srgbClr val="333333"/>
                </a:solidFill>
                <a:sym typeface="+mn-ea"/>
              </a:rPr>
              <a:t> on shortcuts.</a:t>
            </a:r>
            <a:endParaRPr sz="2000" dirty="0">
              <a:solidFill>
                <a:srgbClr val="333333"/>
              </a:solidFill>
            </a:endParaRPr>
          </a:p>
          <a:p>
            <a:pPr marL="457200" lvl="0" indent="-355600" algn="l" rtl="0">
              <a:spcBef>
                <a:spcPts val="0"/>
              </a:spcBef>
              <a:spcAft>
                <a:spcPts val="0"/>
              </a:spcAft>
              <a:buSzPts val="2000"/>
              <a:buChar char="●"/>
            </a:pPr>
            <a:endParaRPr sz="2000" dirty="0"/>
          </a:p>
        </p:txBody>
      </p:sp>
      <p:sp>
        <p:nvSpPr>
          <p:cNvPr id="5"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Methods</a:t>
            </a:r>
            <a:endParaRPr sz="2200" b="1" dirty="0">
              <a:solidFill>
                <a:schemeClr val="dk2"/>
              </a:solidFill>
            </a:endParaRPr>
          </a:p>
        </p:txBody>
      </p:sp>
      <p:pic>
        <p:nvPicPr>
          <p:cNvPr id="6" name="Google Shape;173;p26"/>
          <p:cNvPicPr preferRelativeResize="0"/>
          <p:nvPr/>
        </p:nvPicPr>
        <p:blipFill>
          <a:blip r:embed="rId1"/>
          <a:stretch>
            <a:fillRect/>
          </a:stretch>
        </p:blipFill>
        <p:spPr>
          <a:xfrm>
            <a:off x="5778375" y="0"/>
            <a:ext cx="3365625" cy="2504524"/>
          </a:xfrm>
          <a:prstGeom prst="rect">
            <a:avLst/>
          </a:prstGeom>
          <a:noFill/>
          <a:ln>
            <a:noFill/>
          </a:ln>
        </p:spPr>
      </p:pic>
      <p:sp>
        <p:nvSpPr>
          <p:cNvPr id="7" name="文本框 6"/>
          <p:cNvSpPr txBox="1"/>
          <p:nvPr/>
        </p:nvSpPr>
        <p:spPr>
          <a:xfrm>
            <a:off x="5778500" y="2504440"/>
            <a:ext cx="3157220" cy="1838960"/>
          </a:xfrm>
          <a:prstGeom prst="rect">
            <a:avLst/>
          </a:prstGeom>
          <a:noFill/>
        </p:spPr>
        <p:txBody>
          <a:bodyPr wrap="square" rtlCol="0">
            <a:noAutofit/>
          </a:bodyPr>
          <a:p>
            <a:r>
              <a:rPr lang="en-US" altLang="zh-CN" dirty="0">
                <a:solidFill>
                  <a:srgbClr val="333333"/>
                </a:solidFill>
                <a:sym typeface="+mn-ea"/>
              </a:rPr>
              <a:t>Train the model with positive bots and negative humans, </a:t>
            </a:r>
            <a:endParaRPr lang="en-US" altLang="zh-CN" dirty="0">
              <a:solidFill>
                <a:srgbClr val="333333"/>
              </a:solidFill>
              <a:sym typeface="+mn-ea"/>
            </a:endParaRPr>
          </a:p>
          <a:p>
            <a:r>
              <a:rPr lang="en-US" altLang="zh-CN" dirty="0">
                <a:solidFill>
                  <a:srgbClr val="333333"/>
                </a:solidFill>
                <a:sym typeface="+mn-ea"/>
              </a:rPr>
              <a:t>and evaluate it on negative bots and positive humans</a:t>
            </a:r>
            <a:endParaRPr lang="en-US" altLang="zh-CN" dirty="0">
              <a:solidFill>
                <a:srgbClr val="333333"/>
              </a:solidFill>
              <a:sym typeface="+mn-ea"/>
            </a:endParaRPr>
          </a:p>
          <a:p>
            <a:endParaRPr lang="en-US" altLang="zh-CN" dirty="0">
              <a:solidFill>
                <a:srgbClr val="333333"/>
              </a:solidFill>
              <a:sym typeface="+mn-ea"/>
            </a:endParaRPr>
          </a:p>
          <a:p>
            <a:r>
              <a:rPr lang="en-US" altLang="zh-CN" dirty="0">
                <a:solidFill>
                  <a:srgbClr val="333333"/>
                </a:solidFill>
                <a:sym typeface="+mn-ea"/>
              </a:rPr>
              <a:t>If the model is vulnerable to sentiment-based shortcuts, its performance will degrade significantly.</a:t>
            </a:r>
            <a:endParaRPr lang="en-US" altLang="zh-CN" dirty="0">
              <a:solidFill>
                <a:srgbClr val="333333"/>
              </a:solidFill>
            </a:endParaRPr>
          </a:p>
          <a:p>
            <a:endParaRPr lang="zh-CN" altLang="en-US"/>
          </a:p>
        </p:txBody>
      </p:sp>
      <p:pic>
        <p:nvPicPr>
          <p:cNvPr id="8" name="图片 7" descr="隐患检查点"/>
          <p:cNvPicPr>
            <a:picLocks noChangeAspect="1"/>
          </p:cNvPicPr>
          <p:nvPr/>
        </p:nvPicPr>
        <p:blipFill>
          <a:blip r:embed="rId2"/>
          <a:stretch>
            <a:fillRect/>
          </a:stretch>
        </p:blipFill>
        <p:spPr>
          <a:xfrm>
            <a:off x="4813300" y="3627120"/>
            <a:ext cx="730885" cy="7162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5" name="Google Shape;188;p27"/>
          <p:cNvSpPr txBox="1"/>
          <p:nvPr/>
        </p:nvSpPr>
        <p:spPr>
          <a:xfrm>
            <a:off x="187960" y="1043940"/>
            <a:ext cx="3828415" cy="1288415"/>
          </a:xfrm>
          <a:prstGeom prst="rect">
            <a:avLst/>
          </a:prstGeom>
          <a:noFill/>
          <a:ln>
            <a:noFill/>
          </a:ln>
        </p:spPr>
        <p:txBody>
          <a:bodyPr spcFirstLastPara="1" wrap="square" lIns="91425" tIns="91425" rIns="91425" bIns="91425" anchor="t" anchorCtr="0">
            <a:noAutofit/>
          </a:bodyPr>
          <a:lstStyle/>
          <a:p>
            <a:pPr marL="107950" lvl="0" indent="0" algn="l" rtl="0">
              <a:spcBef>
                <a:spcPts val="0"/>
              </a:spcBef>
              <a:spcAft>
                <a:spcPts val="0"/>
              </a:spcAft>
              <a:buSzPts val="1900"/>
              <a:buNone/>
            </a:pPr>
            <a:r>
              <a:rPr lang="en-US" altLang="zh-CN" sz="1800" dirty="0">
                <a:solidFill>
                  <a:srgbClr val="333333"/>
                </a:solidFill>
                <a:sym typeface="+mn-ea"/>
              </a:rPr>
              <a:t>F</a:t>
            </a:r>
            <a:r>
              <a:rPr lang="zh-CN" sz="1800" dirty="0">
                <a:solidFill>
                  <a:srgbClr val="333333"/>
                </a:solidFill>
                <a:sym typeface="+mn-ea"/>
              </a:rPr>
              <a:t>ocus on inherent textual features </a:t>
            </a:r>
            <a:r>
              <a:rPr lang="en-US" altLang="zh-CN" sz="1900" dirty="0"/>
              <a:t>which can act as shortcuts but are not intended to serve as actual decision cues.</a:t>
            </a:r>
            <a:endParaRPr lang="en-US" altLang="zh-CN" sz="1900" dirty="0"/>
          </a:p>
          <a:p>
            <a:pPr marL="107950" lvl="0" indent="0" algn="l" rtl="0">
              <a:spcBef>
                <a:spcPts val="0"/>
              </a:spcBef>
              <a:spcAft>
                <a:spcPts val="0"/>
              </a:spcAft>
              <a:buSzPts val="1900"/>
              <a:buNone/>
            </a:pPr>
            <a:endParaRPr lang="en-US" altLang="zh-CN" sz="1900" dirty="0"/>
          </a:p>
          <a:p>
            <a:pPr marL="1371600" lvl="2" indent="-349250" algn="l" rtl="0">
              <a:spcBef>
                <a:spcPts val="0"/>
              </a:spcBef>
              <a:spcAft>
                <a:spcPts val="0"/>
              </a:spcAft>
              <a:buSzPts val="1900"/>
              <a:buChar char="●"/>
            </a:pPr>
            <a:endParaRPr sz="1900" dirty="0"/>
          </a:p>
        </p:txBody>
      </p:sp>
      <p:sp>
        <p:nvSpPr>
          <p:cNvPr id="7"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Methods</a:t>
            </a:r>
            <a:endParaRPr sz="2200" b="1" dirty="0">
              <a:solidFill>
                <a:schemeClr val="dk2"/>
              </a:solidFill>
            </a:endParaRPr>
          </a:p>
        </p:txBody>
      </p:sp>
      <p:grpSp>
        <p:nvGrpSpPr>
          <p:cNvPr id="11" name="组合 10"/>
          <p:cNvGrpSpPr/>
          <p:nvPr/>
        </p:nvGrpSpPr>
        <p:grpSpPr>
          <a:xfrm>
            <a:off x="1024255" y="2531110"/>
            <a:ext cx="2546985" cy="1198880"/>
            <a:chOff x="1613" y="3986"/>
            <a:chExt cx="4011" cy="1888"/>
          </a:xfrm>
        </p:grpSpPr>
        <p:pic>
          <p:nvPicPr>
            <p:cNvPr id="2" name="图片 1" descr="情绪 (1)"/>
            <p:cNvPicPr>
              <a:picLocks noChangeAspect="1"/>
            </p:cNvPicPr>
            <p:nvPr/>
          </p:nvPicPr>
          <p:blipFill>
            <a:blip r:embed="rId1"/>
            <a:stretch>
              <a:fillRect/>
            </a:stretch>
          </p:blipFill>
          <p:spPr>
            <a:xfrm>
              <a:off x="1624" y="4052"/>
              <a:ext cx="346" cy="346"/>
            </a:xfrm>
            <a:prstGeom prst="rect">
              <a:avLst/>
            </a:prstGeom>
          </p:spPr>
        </p:pic>
        <p:pic>
          <p:nvPicPr>
            <p:cNvPr id="6" name="图片 5" descr="主题_调色盘_o"/>
            <p:cNvPicPr>
              <a:picLocks noChangeAspect="1"/>
            </p:cNvPicPr>
            <p:nvPr/>
          </p:nvPicPr>
          <p:blipFill>
            <a:blip r:embed="rId2"/>
            <a:stretch>
              <a:fillRect/>
            </a:stretch>
          </p:blipFill>
          <p:spPr>
            <a:xfrm>
              <a:off x="1613" y="4508"/>
              <a:ext cx="357" cy="357"/>
            </a:xfrm>
            <a:prstGeom prst="rect">
              <a:avLst/>
            </a:prstGeom>
          </p:spPr>
        </p:pic>
        <p:pic>
          <p:nvPicPr>
            <p:cNvPr id="8" name="图片 7" descr="values"/>
            <p:cNvPicPr>
              <a:picLocks noChangeAspect="1"/>
            </p:cNvPicPr>
            <p:nvPr/>
          </p:nvPicPr>
          <p:blipFill>
            <a:blip r:embed="rId3"/>
            <a:stretch>
              <a:fillRect/>
            </a:stretch>
          </p:blipFill>
          <p:spPr>
            <a:xfrm>
              <a:off x="1622" y="4965"/>
              <a:ext cx="347" cy="324"/>
            </a:xfrm>
            <a:prstGeom prst="rect">
              <a:avLst/>
            </a:prstGeom>
          </p:spPr>
        </p:pic>
        <p:pic>
          <p:nvPicPr>
            <p:cNvPr id="9" name="图片 8" descr="情感 (1)"/>
            <p:cNvPicPr>
              <a:picLocks noChangeAspect="1"/>
            </p:cNvPicPr>
            <p:nvPr/>
          </p:nvPicPr>
          <p:blipFill>
            <a:blip r:embed="rId4"/>
            <a:stretch>
              <a:fillRect/>
            </a:stretch>
          </p:blipFill>
          <p:spPr>
            <a:xfrm>
              <a:off x="1624" y="5456"/>
              <a:ext cx="350" cy="350"/>
            </a:xfrm>
            <a:prstGeom prst="rect">
              <a:avLst/>
            </a:prstGeom>
          </p:spPr>
        </p:pic>
        <p:sp>
          <p:nvSpPr>
            <p:cNvPr id="10" name="文本框 9"/>
            <p:cNvSpPr txBox="1"/>
            <p:nvPr/>
          </p:nvSpPr>
          <p:spPr>
            <a:xfrm>
              <a:off x="2262" y="3986"/>
              <a:ext cx="3362" cy="1888"/>
            </a:xfrm>
            <a:prstGeom prst="rect">
              <a:avLst/>
            </a:prstGeom>
            <a:noFill/>
          </p:spPr>
          <p:txBody>
            <a:bodyPr wrap="square" rtlCol="0">
              <a:spAutoFit/>
            </a:bodyPr>
            <a:p>
              <a:pPr marL="107950" lvl="0" indent="0" algn="l" rtl="0">
                <a:spcBef>
                  <a:spcPts val="0"/>
                </a:spcBef>
                <a:spcAft>
                  <a:spcPts val="0"/>
                </a:spcAft>
                <a:buSzPts val="1900"/>
                <a:buNone/>
              </a:pPr>
              <a:r>
                <a:rPr lang="zh-CN" sz="1800" b="1" dirty="0">
                  <a:sym typeface="+mn-ea"/>
                </a:rPr>
                <a:t>Sentiment</a:t>
              </a:r>
              <a:endParaRPr sz="1800" b="1" dirty="0"/>
            </a:p>
            <a:p>
              <a:pPr marL="107950" lvl="0" indent="0" algn="l" rtl="0">
                <a:spcBef>
                  <a:spcPts val="0"/>
                </a:spcBef>
                <a:spcAft>
                  <a:spcPts val="0"/>
                </a:spcAft>
                <a:buSzPts val="1900"/>
                <a:buNone/>
              </a:pPr>
              <a:r>
                <a:rPr lang="zh-CN" sz="1800" b="1" dirty="0">
                  <a:sym typeface="+mn-ea"/>
                </a:rPr>
                <a:t>Topic</a:t>
              </a:r>
              <a:endParaRPr sz="1800" b="1" dirty="0"/>
            </a:p>
            <a:p>
              <a:pPr marL="107950" lvl="0" indent="0" algn="l" rtl="0">
                <a:spcBef>
                  <a:spcPts val="0"/>
                </a:spcBef>
                <a:spcAft>
                  <a:spcPts val="0"/>
                </a:spcAft>
                <a:buSzPts val="1900"/>
                <a:buNone/>
              </a:pPr>
              <a:r>
                <a:rPr lang="zh-CN" sz="1800" b="1" dirty="0">
                  <a:sym typeface="+mn-ea"/>
                </a:rPr>
                <a:t>Human values</a:t>
              </a:r>
              <a:endParaRPr sz="1800" b="1" dirty="0"/>
            </a:p>
            <a:p>
              <a:pPr marL="107950" lvl="0" indent="0" algn="l" rtl="0">
                <a:spcBef>
                  <a:spcPts val="0"/>
                </a:spcBef>
                <a:spcAft>
                  <a:spcPts val="0"/>
                </a:spcAft>
                <a:buSzPts val="1900"/>
                <a:buNone/>
              </a:pPr>
              <a:r>
                <a:rPr lang="zh-CN" sz="1800" b="1" dirty="0">
                  <a:sym typeface="+mn-ea"/>
                </a:rPr>
                <a:t>Emotion</a:t>
              </a:r>
              <a:endParaRPr lang="zh-CN" altLang="en-US" sz="1800" b="1"/>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5" name="Google Shape;188;p27"/>
          <p:cNvSpPr txBox="1"/>
          <p:nvPr/>
        </p:nvSpPr>
        <p:spPr>
          <a:xfrm>
            <a:off x="187960" y="1043940"/>
            <a:ext cx="3828415" cy="1288415"/>
          </a:xfrm>
          <a:prstGeom prst="rect">
            <a:avLst/>
          </a:prstGeom>
          <a:noFill/>
          <a:ln>
            <a:noFill/>
          </a:ln>
        </p:spPr>
        <p:txBody>
          <a:bodyPr spcFirstLastPara="1" wrap="square" lIns="91425" tIns="91425" rIns="91425" bIns="91425" anchor="t" anchorCtr="0">
            <a:noAutofit/>
          </a:bodyPr>
          <a:lstStyle/>
          <a:p>
            <a:pPr marL="107950" lvl="0" indent="0" algn="l" rtl="0">
              <a:spcBef>
                <a:spcPts val="0"/>
              </a:spcBef>
              <a:spcAft>
                <a:spcPts val="0"/>
              </a:spcAft>
              <a:buSzPts val="1900"/>
              <a:buNone/>
            </a:pPr>
            <a:r>
              <a:rPr lang="en-US" altLang="zh-CN" sz="1800" dirty="0">
                <a:solidFill>
                  <a:srgbClr val="333333"/>
                </a:solidFill>
                <a:sym typeface="+mn-ea"/>
              </a:rPr>
              <a:t>F</a:t>
            </a:r>
            <a:r>
              <a:rPr lang="zh-CN" sz="1800" dirty="0">
                <a:solidFill>
                  <a:srgbClr val="333333"/>
                </a:solidFill>
                <a:sym typeface="+mn-ea"/>
              </a:rPr>
              <a:t>ocus on inherent textual features </a:t>
            </a:r>
            <a:r>
              <a:rPr lang="en-US" altLang="zh-CN" sz="1900" dirty="0"/>
              <a:t>which can act as shortcuts but are not intended to serve as actual decision cues.</a:t>
            </a:r>
            <a:endParaRPr lang="en-US" altLang="zh-CN" sz="1900" dirty="0"/>
          </a:p>
          <a:p>
            <a:pPr marL="107950" lvl="0" indent="0" algn="l" rtl="0">
              <a:spcBef>
                <a:spcPts val="0"/>
              </a:spcBef>
              <a:spcAft>
                <a:spcPts val="0"/>
              </a:spcAft>
              <a:buSzPts val="1900"/>
              <a:buNone/>
            </a:pPr>
            <a:endParaRPr lang="en-US" altLang="zh-CN" sz="1900" dirty="0"/>
          </a:p>
          <a:p>
            <a:pPr marL="1371600" lvl="2" indent="-349250" algn="l" rtl="0">
              <a:spcBef>
                <a:spcPts val="0"/>
              </a:spcBef>
              <a:spcAft>
                <a:spcPts val="0"/>
              </a:spcAft>
              <a:buSzPts val="1900"/>
              <a:buChar char="●"/>
            </a:pPr>
            <a:endParaRPr sz="1900" dirty="0"/>
          </a:p>
        </p:txBody>
      </p:sp>
      <p:sp>
        <p:nvSpPr>
          <p:cNvPr id="7"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Methods</a:t>
            </a:r>
            <a:endParaRPr sz="2200" b="1" dirty="0">
              <a:solidFill>
                <a:schemeClr val="dk2"/>
              </a:solidFill>
            </a:endParaRPr>
          </a:p>
        </p:txBody>
      </p:sp>
      <p:pic>
        <p:nvPicPr>
          <p:cNvPr id="3" name="图片 2" descr="pie_01"/>
          <p:cNvPicPr>
            <a:picLocks noChangeAspect="1"/>
          </p:cNvPicPr>
          <p:nvPr/>
        </p:nvPicPr>
        <p:blipFill>
          <a:blip r:embed="rId1"/>
          <a:stretch>
            <a:fillRect/>
          </a:stretch>
        </p:blipFill>
        <p:spPr>
          <a:xfrm>
            <a:off x="4363085" y="159385"/>
            <a:ext cx="4780915" cy="1899285"/>
          </a:xfrm>
          <a:prstGeom prst="rect">
            <a:avLst/>
          </a:prstGeom>
        </p:spPr>
      </p:pic>
      <p:sp>
        <p:nvSpPr>
          <p:cNvPr id="4" name="文本框 3"/>
          <p:cNvSpPr txBox="1"/>
          <p:nvPr/>
        </p:nvSpPr>
        <p:spPr>
          <a:xfrm>
            <a:off x="4363085" y="2111375"/>
            <a:ext cx="4781550" cy="953135"/>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The topic distribution across different tags in the Cresci-2017-Data. There is no significant difference between human and bot distributions, indicating that topic features </a:t>
            </a:r>
            <a:r>
              <a:rPr lang="en-US" altLang="zh-CN" b="1">
                <a:latin typeface="Times New Roman" panose="02020603050405020304" pitchFamily="18" charset="0"/>
                <a:cs typeface="Times New Roman" panose="02020603050405020304" pitchFamily="18" charset="0"/>
              </a:rPr>
              <a:t>should not</a:t>
            </a:r>
            <a:r>
              <a:rPr lang="en-US" altLang="zh-CN">
                <a:latin typeface="Times New Roman" panose="02020603050405020304" pitchFamily="18" charset="0"/>
                <a:cs typeface="Times New Roman" panose="02020603050405020304" pitchFamily="18" charset="0"/>
              </a:rPr>
              <a:t> be exploited as cues by detectors.</a:t>
            </a:r>
            <a:endParaRPr lang="en-US" altLang="zh-CN">
              <a:latin typeface="Times New Roman" panose="02020603050405020304" pitchFamily="18" charset="0"/>
              <a:cs typeface="Times New Roman" panose="02020603050405020304" pitchFamily="18" charset="0"/>
            </a:endParaRPr>
          </a:p>
        </p:txBody>
      </p:sp>
      <p:grpSp>
        <p:nvGrpSpPr>
          <p:cNvPr id="11" name="组合 10"/>
          <p:cNvGrpSpPr/>
          <p:nvPr/>
        </p:nvGrpSpPr>
        <p:grpSpPr>
          <a:xfrm>
            <a:off x="1024255" y="2531110"/>
            <a:ext cx="2546985" cy="1198880"/>
            <a:chOff x="1613" y="3986"/>
            <a:chExt cx="4011" cy="1888"/>
          </a:xfrm>
        </p:grpSpPr>
        <p:pic>
          <p:nvPicPr>
            <p:cNvPr id="2" name="图片 1" descr="情绪 (1)"/>
            <p:cNvPicPr>
              <a:picLocks noChangeAspect="1"/>
            </p:cNvPicPr>
            <p:nvPr/>
          </p:nvPicPr>
          <p:blipFill>
            <a:blip r:embed="rId2"/>
            <a:stretch>
              <a:fillRect/>
            </a:stretch>
          </p:blipFill>
          <p:spPr>
            <a:xfrm>
              <a:off x="1624" y="4052"/>
              <a:ext cx="346" cy="346"/>
            </a:xfrm>
            <a:prstGeom prst="rect">
              <a:avLst/>
            </a:prstGeom>
          </p:spPr>
        </p:pic>
        <p:pic>
          <p:nvPicPr>
            <p:cNvPr id="6" name="图片 5" descr="主题_调色盘_o"/>
            <p:cNvPicPr>
              <a:picLocks noChangeAspect="1"/>
            </p:cNvPicPr>
            <p:nvPr/>
          </p:nvPicPr>
          <p:blipFill>
            <a:blip r:embed="rId3"/>
            <a:stretch>
              <a:fillRect/>
            </a:stretch>
          </p:blipFill>
          <p:spPr>
            <a:xfrm>
              <a:off x="1613" y="4508"/>
              <a:ext cx="357" cy="357"/>
            </a:xfrm>
            <a:prstGeom prst="rect">
              <a:avLst/>
            </a:prstGeom>
          </p:spPr>
        </p:pic>
        <p:pic>
          <p:nvPicPr>
            <p:cNvPr id="8" name="图片 7" descr="values"/>
            <p:cNvPicPr>
              <a:picLocks noChangeAspect="1"/>
            </p:cNvPicPr>
            <p:nvPr/>
          </p:nvPicPr>
          <p:blipFill>
            <a:blip r:embed="rId4"/>
            <a:stretch>
              <a:fillRect/>
            </a:stretch>
          </p:blipFill>
          <p:spPr>
            <a:xfrm>
              <a:off x="1622" y="4965"/>
              <a:ext cx="347" cy="324"/>
            </a:xfrm>
            <a:prstGeom prst="rect">
              <a:avLst/>
            </a:prstGeom>
          </p:spPr>
        </p:pic>
        <p:pic>
          <p:nvPicPr>
            <p:cNvPr id="9" name="图片 8" descr="情感 (1)"/>
            <p:cNvPicPr>
              <a:picLocks noChangeAspect="1"/>
            </p:cNvPicPr>
            <p:nvPr/>
          </p:nvPicPr>
          <p:blipFill>
            <a:blip r:embed="rId5"/>
            <a:stretch>
              <a:fillRect/>
            </a:stretch>
          </p:blipFill>
          <p:spPr>
            <a:xfrm>
              <a:off x="1624" y="5456"/>
              <a:ext cx="350" cy="350"/>
            </a:xfrm>
            <a:prstGeom prst="rect">
              <a:avLst/>
            </a:prstGeom>
          </p:spPr>
        </p:pic>
        <p:sp>
          <p:nvSpPr>
            <p:cNvPr id="10" name="文本框 9"/>
            <p:cNvSpPr txBox="1"/>
            <p:nvPr/>
          </p:nvSpPr>
          <p:spPr>
            <a:xfrm>
              <a:off x="2262" y="3986"/>
              <a:ext cx="3362" cy="1888"/>
            </a:xfrm>
            <a:prstGeom prst="rect">
              <a:avLst/>
            </a:prstGeom>
            <a:noFill/>
          </p:spPr>
          <p:txBody>
            <a:bodyPr wrap="square" rtlCol="0">
              <a:spAutoFit/>
            </a:bodyPr>
            <a:p>
              <a:pPr marL="107950" lvl="0" indent="0" algn="l" rtl="0">
                <a:spcBef>
                  <a:spcPts val="0"/>
                </a:spcBef>
                <a:spcAft>
                  <a:spcPts val="0"/>
                </a:spcAft>
                <a:buSzPts val="1900"/>
                <a:buNone/>
              </a:pPr>
              <a:r>
                <a:rPr lang="zh-CN" sz="1800" b="1" dirty="0">
                  <a:sym typeface="+mn-ea"/>
                </a:rPr>
                <a:t>Sentiment</a:t>
              </a:r>
              <a:endParaRPr sz="1800" b="1" dirty="0"/>
            </a:p>
            <a:p>
              <a:pPr marL="107950" lvl="0" indent="0" algn="l" rtl="0">
                <a:spcBef>
                  <a:spcPts val="0"/>
                </a:spcBef>
                <a:spcAft>
                  <a:spcPts val="0"/>
                </a:spcAft>
                <a:buSzPts val="1900"/>
                <a:buNone/>
              </a:pPr>
              <a:r>
                <a:rPr lang="zh-CN" sz="1800" b="1" dirty="0">
                  <a:sym typeface="+mn-ea"/>
                </a:rPr>
                <a:t>Topic</a:t>
              </a:r>
              <a:endParaRPr sz="1800" b="1" dirty="0"/>
            </a:p>
            <a:p>
              <a:pPr marL="107950" lvl="0" indent="0" algn="l" rtl="0">
                <a:spcBef>
                  <a:spcPts val="0"/>
                </a:spcBef>
                <a:spcAft>
                  <a:spcPts val="0"/>
                </a:spcAft>
                <a:buSzPts val="1900"/>
                <a:buNone/>
              </a:pPr>
              <a:r>
                <a:rPr lang="zh-CN" sz="1800" b="1" dirty="0">
                  <a:sym typeface="+mn-ea"/>
                </a:rPr>
                <a:t>Human values</a:t>
              </a:r>
              <a:endParaRPr sz="1800" b="1" dirty="0"/>
            </a:p>
            <a:p>
              <a:pPr marL="107950" lvl="0" indent="0" algn="l" rtl="0">
                <a:spcBef>
                  <a:spcPts val="0"/>
                </a:spcBef>
                <a:spcAft>
                  <a:spcPts val="0"/>
                </a:spcAft>
                <a:buSzPts val="1900"/>
                <a:buNone/>
              </a:pPr>
              <a:r>
                <a:rPr lang="zh-CN" sz="1800" b="1" dirty="0">
                  <a:sym typeface="+mn-ea"/>
                </a:rPr>
                <a:t>Emotion</a:t>
              </a:r>
              <a:endParaRPr lang="zh-CN" altLang="en-US" sz="1800" b="1"/>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77" name="Shape 177"/>
        <p:cNvGrpSpPr/>
        <p:nvPr/>
      </p:nvGrpSpPr>
      <p:grpSpPr>
        <a:xfrm>
          <a:off x="0" y="0"/>
          <a:ext cx="0" cy="0"/>
          <a:chOff x="0" y="0"/>
          <a:chExt cx="0" cy="0"/>
        </a:xfrm>
      </p:grpSpPr>
      <p:sp>
        <p:nvSpPr>
          <p:cNvPr id="7" name="文本框 6"/>
          <p:cNvSpPr txBox="1"/>
          <p:nvPr/>
        </p:nvSpPr>
        <p:spPr>
          <a:xfrm>
            <a:off x="43180" y="2571750"/>
            <a:ext cx="3420110" cy="578485"/>
          </a:xfrm>
          <a:prstGeom prst="rect">
            <a:avLst/>
          </a:prstGeom>
          <a:noFill/>
        </p:spPr>
        <p:txBody>
          <a:bodyPr wrap="square" rtlCol="0">
            <a:noAutofit/>
          </a:bodyPr>
          <a:p>
            <a:pPr marL="393700" lvl="0" indent="-285750" algn="l" rtl="0">
              <a:spcBef>
                <a:spcPts val="0"/>
              </a:spcBef>
              <a:spcAft>
                <a:spcPts val="0"/>
              </a:spcAft>
              <a:buSzPts val="1900"/>
              <a:buFont typeface="Arial" panose="020B0604020202020204" pitchFamily="34" charset="0"/>
              <a:buChar char="•"/>
            </a:pPr>
            <a:r>
              <a:rPr lang="en-US" altLang="zh-CN" sz="1600" b="1">
                <a:solidFill>
                  <a:srgbClr val="333333"/>
                </a:solidFill>
                <a:sym typeface="+mn-ea"/>
              </a:rPr>
              <a:t>I</a:t>
            </a:r>
            <a:r>
              <a:rPr lang="zh-CN" sz="1600" b="1">
                <a:solidFill>
                  <a:srgbClr val="333333"/>
                </a:solidFill>
                <a:sym typeface="+mn-ea"/>
              </a:rPr>
              <a:t>nterpretable</a:t>
            </a:r>
            <a:endParaRPr lang="en-US" altLang="zh-CN" sz="1600" b="1">
              <a:solidFill>
                <a:srgbClr val="333333"/>
              </a:solidFill>
              <a:sym typeface="+mn-ea"/>
            </a:endParaRPr>
          </a:p>
          <a:p>
            <a:pPr marL="393700" lvl="0" indent="-285750" algn="l" rtl="0">
              <a:spcBef>
                <a:spcPts val="0"/>
              </a:spcBef>
              <a:spcAft>
                <a:spcPts val="0"/>
              </a:spcAft>
              <a:buSzPts val="1900"/>
              <a:buFont typeface="Arial" panose="020B0604020202020204" pitchFamily="34" charset="0"/>
              <a:buChar char="•"/>
            </a:pPr>
            <a:r>
              <a:rPr lang="en-US" altLang="zh-CN" sz="1600" b="1">
                <a:solidFill>
                  <a:srgbClr val="333333"/>
                </a:solidFill>
                <a:sym typeface="+mn-ea"/>
              </a:rPr>
              <a:t>E</a:t>
            </a:r>
            <a:r>
              <a:rPr lang="zh-CN" sz="1600" b="1">
                <a:solidFill>
                  <a:srgbClr val="333333"/>
                </a:solidFill>
                <a:sym typeface="+mn-ea"/>
              </a:rPr>
              <a:t>asily</a:t>
            </a:r>
            <a:r>
              <a:rPr lang="en-US" altLang="zh-CN" sz="1600" b="1">
                <a:solidFill>
                  <a:srgbClr val="333333"/>
                </a:solidFill>
                <a:sym typeface="+mn-ea"/>
              </a:rPr>
              <a:t> </a:t>
            </a:r>
            <a:r>
              <a:rPr lang="zh-CN" sz="1600" b="1">
                <a:solidFill>
                  <a:srgbClr val="333333"/>
                </a:solidFill>
                <a:sym typeface="+mn-ea"/>
              </a:rPr>
              <a:t>correlated with labels</a:t>
            </a:r>
            <a:endParaRPr lang="zh-CN" altLang="en-US" sz="1600" b="1"/>
          </a:p>
          <a:p>
            <a:pPr algn="l"/>
            <a:endParaRPr lang="zh-CN" altLang="en-US" sz="1600" b="1"/>
          </a:p>
        </p:txBody>
      </p:sp>
      <p:sp>
        <p:nvSpPr>
          <p:cNvPr id="13" name="Google Shape;81;p15"/>
          <p:cNvSpPr txBox="1"/>
          <p:nvPr/>
        </p:nvSpPr>
        <p:spPr>
          <a:xfrm>
            <a:off x="8890" y="-2540"/>
            <a:ext cx="2121535" cy="51181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Methods</a:t>
            </a:r>
            <a:endParaRPr sz="2200" b="1" dirty="0">
              <a:solidFill>
                <a:schemeClr val="dk2"/>
              </a:solidFill>
            </a:endParaRPr>
          </a:p>
        </p:txBody>
      </p:sp>
      <p:grpSp>
        <p:nvGrpSpPr>
          <p:cNvPr id="3" name="组合 2"/>
          <p:cNvGrpSpPr/>
          <p:nvPr/>
        </p:nvGrpSpPr>
        <p:grpSpPr>
          <a:xfrm>
            <a:off x="173990" y="907415"/>
            <a:ext cx="2546985" cy="1198880"/>
            <a:chOff x="1613" y="3986"/>
            <a:chExt cx="4011" cy="1888"/>
          </a:xfrm>
        </p:grpSpPr>
        <p:pic>
          <p:nvPicPr>
            <p:cNvPr id="14" name="图片 13" descr="情绪 (1)"/>
            <p:cNvPicPr>
              <a:picLocks noChangeAspect="1"/>
            </p:cNvPicPr>
            <p:nvPr/>
          </p:nvPicPr>
          <p:blipFill>
            <a:blip r:embed="rId1"/>
            <a:stretch>
              <a:fillRect/>
            </a:stretch>
          </p:blipFill>
          <p:spPr>
            <a:xfrm>
              <a:off x="1624" y="4052"/>
              <a:ext cx="346" cy="346"/>
            </a:xfrm>
            <a:prstGeom prst="rect">
              <a:avLst/>
            </a:prstGeom>
          </p:spPr>
        </p:pic>
        <p:pic>
          <p:nvPicPr>
            <p:cNvPr id="15" name="图片 14" descr="主题_调色盘_o"/>
            <p:cNvPicPr>
              <a:picLocks noChangeAspect="1"/>
            </p:cNvPicPr>
            <p:nvPr/>
          </p:nvPicPr>
          <p:blipFill>
            <a:blip r:embed="rId2"/>
            <a:stretch>
              <a:fillRect/>
            </a:stretch>
          </p:blipFill>
          <p:spPr>
            <a:xfrm>
              <a:off x="1613" y="4508"/>
              <a:ext cx="357" cy="357"/>
            </a:xfrm>
            <a:prstGeom prst="rect">
              <a:avLst/>
            </a:prstGeom>
          </p:spPr>
        </p:pic>
        <p:pic>
          <p:nvPicPr>
            <p:cNvPr id="16" name="图片 15" descr="values"/>
            <p:cNvPicPr>
              <a:picLocks noChangeAspect="1"/>
            </p:cNvPicPr>
            <p:nvPr/>
          </p:nvPicPr>
          <p:blipFill>
            <a:blip r:embed="rId3"/>
            <a:stretch>
              <a:fillRect/>
            </a:stretch>
          </p:blipFill>
          <p:spPr>
            <a:xfrm>
              <a:off x="1622" y="4965"/>
              <a:ext cx="347" cy="324"/>
            </a:xfrm>
            <a:prstGeom prst="rect">
              <a:avLst/>
            </a:prstGeom>
          </p:spPr>
        </p:pic>
        <p:pic>
          <p:nvPicPr>
            <p:cNvPr id="17" name="图片 16" descr="情感 (1)"/>
            <p:cNvPicPr>
              <a:picLocks noChangeAspect="1"/>
            </p:cNvPicPr>
            <p:nvPr/>
          </p:nvPicPr>
          <p:blipFill>
            <a:blip r:embed="rId4"/>
            <a:stretch>
              <a:fillRect/>
            </a:stretch>
          </p:blipFill>
          <p:spPr>
            <a:xfrm>
              <a:off x="1624" y="5456"/>
              <a:ext cx="350" cy="350"/>
            </a:xfrm>
            <a:prstGeom prst="rect">
              <a:avLst/>
            </a:prstGeom>
          </p:spPr>
        </p:pic>
        <p:sp>
          <p:nvSpPr>
            <p:cNvPr id="18" name="文本框 17"/>
            <p:cNvSpPr txBox="1"/>
            <p:nvPr/>
          </p:nvSpPr>
          <p:spPr>
            <a:xfrm>
              <a:off x="2262" y="3986"/>
              <a:ext cx="3362" cy="1888"/>
            </a:xfrm>
            <a:prstGeom prst="rect">
              <a:avLst/>
            </a:prstGeom>
            <a:noFill/>
          </p:spPr>
          <p:txBody>
            <a:bodyPr wrap="square" rtlCol="0">
              <a:spAutoFit/>
            </a:bodyPr>
            <a:p>
              <a:pPr marL="107950" lvl="0" indent="0" algn="l" rtl="0">
                <a:spcBef>
                  <a:spcPts val="0"/>
                </a:spcBef>
                <a:spcAft>
                  <a:spcPts val="0"/>
                </a:spcAft>
                <a:buSzPts val="1900"/>
                <a:buNone/>
              </a:pPr>
              <a:r>
                <a:rPr lang="zh-CN" sz="1800" b="1" dirty="0">
                  <a:sym typeface="+mn-ea"/>
                </a:rPr>
                <a:t>Sentiment</a:t>
              </a:r>
              <a:endParaRPr sz="1800" b="1" dirty="0"/>
            </a:p>
            <a:p>
              <a:pPr marL="107950" lvl="0" indent="0" algn="l" rtl="0">
                <a:spcBef>
                  <a:spcPts val="0"/>
                </a:spcBef>
                <a:spcAft>
                  <a:spcPts val="0"/>
                </a:spcAft>
                <a:buSzPts val="1900"/>
                <a:buNone/>
              </a:pPr>
              <a:r>
                <a:rPr lang="zh-CN" sz="1800" b="1" dirty="0">
                  <a:sym typeface="+mn-ea"/>
                </a:rPr>
                <a:t>Topic</a:t>
              </a:r>
              <a:endParaRPr sz="1800" b="1" dirty="0"/>
            </a:p>
            <a:p>
              <a:pPr marL="107950" lvl="0" indent="0" algn="l" rtl="0">
                <a:spcBef>
                  <a:spcPts val="0"/>
                </a:spcBef>
                <a:spcAft>
                  <a:spcPts val="0"/>
                </a:spcAft>
                <a:buSzPts val="1900"/>
                <a:buNone/>
              </a:pPr>
              <a:r>
                <a:rPr lang="zh-CN" sz="1800" b="1" dirty="0">
                  <a:sym typeface="+mn-ea"/>
                </a:rPr>
                <a:t>Human values</a:t>
              </a:r>
              <a:endParaRPr sz="1800" b="1" dirty="0"/>
            </a:p>
            <a:p>
              <a:pPr marL="107950" lvl="0" indent="0" algn="l" rtl="0">
                <a:spcBef>
                  <a:spcPts val="0"/>
                </a:spcBef>
                <a:spcAft>
                  <a:spcPts val="0"/>
                </a:spcAft>
                <a:buSzPts val="1900"/>
                <a:buNone/>
              </a:pPr>
              <a:r>
                <a:rPr lang="zh-CN" sz="1800" b="1" dirty="0">
                  <a:sym typeface="+mn-ea"/>
                </a:rPr>
                <a:t>Emotion</a:t>
              </a:r>
              <a:endParaRPr lang="zh-CN" altLang="en-US" sz="1800" b="1"/>
            </a:p>
          </p:txBody>
        </p:sp>
      </p:grpSp>
      <p:grpSp>
        <p:nvGrpSpPr>
          <p:cNvPr id="4" name="组合 3"/>
          <p:cNvGrpSpPr/>
          <p:nvPr/>
        </p:nvGrpSpPr>
        <p:grpSpPr>
          <a:xfrm>
            <a:off x="311150" y="3987800"/>
            <a:ext cx="2665095" cy="816610"/>
            <a:chOff x="9877" y="4678"/>
            <a:chExt cx="4197" cy="1286"/>
          </a:xfrm>
        </p:grpSpPr>
        <p:pic>
          <p:nvPicPr>
            <p:cNvPr id="22" name="图片 21" descr="链接"/>
            <p:cNvPicPr>
              <a:picLocks noChangeAspect="1"/>
            </p:cNvPicPr>
            <p:nvPr/>
          </p:nvPicPr>
          <p:blipFill>
            <a:blip r:embed="rId5"/>
            <a:stretch>
              <a:fillRect/>
            </a:stretch>
          </p:blipFill>
          <p:spPr>
            <a:xfrm>
              <a:off x="11260" y="4718"/>
              <a:ext cx="1002" cy="1002"/>
            </a:xfrm>
            <a:prstGeom prst="rect">
              <a:avLst/>
            </a:prstGeom>
          </p:spPr>
        </p:pic>
        <mc:AlternateContent xmlns:mc="http://schemas.openxmlformats.org/markup-compatibility/2006">
          <mc:Choice xmlns:a14="http://schemas.microsoft.com/office/drawing/2010/main" Requires="a14">
            <p:sp>
              <p:nvSpPr>
                <p:cNvPr id="23" name="文本框 22"/>
                <p:cNvSpPr txBox="1"/>
                <p:nvPr/>
              </p:nvSpPr>
              <p:spPr>
                <a:xfrm>
                  <a:off x="9877" y="4678"/>
                  <a:ext cx="1444" cy="1286"/>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sSubSup>
                          <m:sSubSupPr>
                            <m:ctrlP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ctrlPr>
                          </m:sSubSupPr>
                          <m:e>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𝑼</m:t>
                            </m:r>
                          </m:e>
                          <m:sub>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m:t>
                            </m:r>
                          </m:sub>
                          <m:sup>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𝒑𝒐𝒔</m:t>
                            </m:r>
                          </m:sup>
                        </m:sSubSup>
                      </m:oMath>
                    </m:oMathPara>
                  </a14:m>
                  <a:endParaRPr lang="en-US" altLang="zh-CN" sz="1600" b="1">
                    <a:effectLst>
                      <a:outerShdw blurRad="38100" dist="38100" dir="2700000" algn="tl">
                        <a:srgbClr val="000000">
                          <a:alpha val="43137"/>
                        </a:srgbClr>
                      </a:outerShdw>
                    </a:effectLst>
                  </a:endParaRPr>
                </a:p>
                <a:p>
                  <a:endParaRPr lang="en-US" altLang="zh-CN" sz="1600" b="1">
                    <a:effectLst>
                      <a:outerShdw blurRad="38100" dist="38100" dir="2700000" algn="tl">
                        <a:srgbClr val="000000">
                          <a:alpha val="43137"/>
                        </a:srgbClr>
                      </a:outerShdw>
                    </a:effectLst>
                  </a:endParaRPr>
                </a:p>
                <a:p>
                  <a14:m>
                    <m:oMathPara xmlns:m="http://schemas.openxmlformats.org/officeDocument/2006/math">
                      <m:oMathParaPr>
                        <m:jc m:val="centerGroup"/>
                      </m:oMathParaPr>
                      <m:oMath xmlns:m="http://schemas.openxmlformats.org/officeDocument/2006/math">
                        <m:sSubSup>
                          <m:sSubSupPr>
                            <m:ctrlP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ctrlPr>
                          </m:sSubSupPr>
                          <m:e>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𝑼</m:t>
                            </m:r>
                          </m:e>
                          <m:sub>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m:t>
                            </m:r>
                          </m:sub>
                          <m:sup>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𝒏𝒆𝒈</m:t>
                            </m:r>
                          </m:sup>
                        </m:sSubSup>
                      </m:oMath>
                    </m:oMathPara>
                  </a14:m>
                  <a:endParaRPr lang="en-US" altLang="zh-CN" sz="1600" b="1">
                    <a:effectLst>
                      <a:outerShdw blurRad="38100" dist="38100" dir="2700000" algn="tl">
                        <a:srgbClr val="000000">
                          <a:alpha val="43137"/>
                        </a:srgbClr>
                      </a:outerShdw>
                    </a:effectLst>
                  </a:endParaRPr>
                </a:p>
              </p:txBody>
            </p:sp>
          </mc:Choice>
          <mc:Fallback>
            <p:sp>
              <p:nvSpPr>
                <p:cNvPr id="23" name="文本框 22"/>
                <p:cNvSpPr txBox="1">
                  <a:spLocks noRot="1" noChangeAspect="1" noMove="1" noResize="1" noEditPoints="1" noAdjustHandles="1" noChangeArrowheads="1" noChangeShapeType="1" noTextEdit="1"/>
                </p:cNvSpPr>
                <p:nvPr/>
              </p:nvSpPr>
              <p:spPr>
                <a:xfrm>
                  <a:off x="9877" y="4678"/>
                  <a:ext cx="1444" cy="1286"/>
                </a:xfrm>
                <a:prstGeom prst="rect">
                  <a:avLst/>
                </a:prstGeom>
                <a:blipFill rotWithShape="1">
                  <a:blip r:embed="rId6"/>
                </a:blipFill>
              </p:spPr>
              <p:txBody>
                <a:bodyPr/>
                <a:lstStyle/>
                <a:p>
                  <a:r>
                    <a:rPr lang="zh-CN" altLang="en-US">
                      <a:noFill/>
                    </a:rPr>
                    <a:t> </a:t>
                  </a:r>
                </a:p>
              </p:txBody>
            </p:sp>
          </mc:Fallback>
        </mc:AlternateContent>
        <p:sp>
          <p:nvSpPr>
            <p:cNvPr id="24" name="文本框 23"/>
            <p:cNvSpPr txBox="1"/>
            <p:nvPr/>
          </p:nvSpPr>
          <p:spPr>
            <a:xfrm>
              <a:off x="12262" y="4678"/>
              <a:ext cx="1812" cy="1287"/>
            </a:xfrm>
            <a:prstGeom prst="rect">
              <a:avLst/>
            </a:prstGeom>
            <a:noFill/>
          </p:spPr>
          <p:txBody>
            <a:bodyPr wrap="square" rtlCol="0">
              <a:noAutofit/>
            </a:bodyPr>
            <a:p>
              <a:r>
                <a:rPr lang="en-US" altLang="zh-CN" sz="1600" b="1">
                  <a:effectLst>
                    <a:outerShdw blurRad="38100" dist="38100" dir="2700000" algn="tl">
                      <a:srgbClr val="000000">
                        <a:alpha val="43137"/>
                      </a:srgbClr>
                    </a:outerShdw>
                  </a:effectLst>
                </a:rPr>
                <a:t>human</a:t>
              </a:r>
              <a:endParaRPr lang="en-US" altLang="zh-CN" sz="1600" b="1">
                <a:effectLst>
                  <a:outerShdw blurRad="38100" dist="38100" dir="2700000" algn="tl">
                    <a:srgbClr val="000000">
                      <a:alpha val="43137"/>
                    </a:srgbClr>
                  </a:outerShdw>
                </a:effectLst>
              </a:endParaRPr>
            </a:p>
            <a:p>
              <a:endParaRPr lang="en-US" altLang="zh-CN" sz="1600" b="1">
                <a:effectLst>
                  <a:outerShdw blurRad="38100" dist="38100" dir="2700000" algn="tl">
                    <a:srgbClr val="000000">
                      <a:alpha val="43137"/>
                    </a:srgbClr>
                  </a:outerShdw>
                </a:effectLst>
              </a:endParaRPr>
            </a:p>
            <a:p>
              <a:r>
                <a:rPr lang="en-US" altLang="zh-CN" sz="1600" b="1">
                  <a:effectLst>
                    <a:outerShdw blurRad="38100" dist="38100" dir="2700000" algn="tl">
                      <a:srgbClr val="000000">
                        <a:alpha val="43137"/>
                      </a:srgbClr>
                    </a:outerShdw>
                  </a:effectLst>
                </a:rPr>
                <a:t>bot</a:t>
              </a:r>
              <a:endParaRPr lang="en-US" altLang="zh-CN" sz="1600" b="1">
                <a:effectLst>
                  <a:outerShdw blurRad="38100" dist="38100" dir="2700000" algn="tl">
                    <a:srgbClr val="000000">
                      <a:alpha val="43137"/>
                    </a:srgbClr>
                  </a:outerShdw>
                </a:effectLst>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77" name="Shape 177"/>
        <p:cNvGrpSpPr/>
        <p:nvPr/>
      </p:nvGrpSpPr>
      <p:grpSpPr>
        <a:xfrm>
          <a:off x="0" y="0"/>
          <a:ext cx="0" cy="0"/>
          <a:chOff x="0" y="0"/>
          <a:chExt cx="0" cy="0"/>
        </a:xfrm>
      </p:grpSpPr>
      <p:sp>
        <p:nvSpPr>
          <p:cNvPr id="7" name="文本框 6"/>
          <p:cNvSpPr txBox="1"/>
          <p:nvPr/>
        </p:nvSpPr>
        <p:spPr>
          <a:xfrm>
            <a:off x="43180" y="2571750"/>
            <a:ext cx="3420110" cy="578485"/>
          </a:xfrm>
          <a:prstGeom prst="rect">
            <a:avLst/>
          </a:prstGeom>
          <a:noFill/>
        </p:spPr>
        <p:txBody>
          <a:bodyPr wrap="square" rtlCol="0">
            <a:noAutofit/>
          </a:bodyPr>
          <a:p>
            <a:pPr marL="393700" lvl="0" indent="-285750" algn="l" rtl="0">
              <a:spcBef>
                <a:spcPts val="0"/>
              </a:spcBef>
              <a:spcAft>
                <a:spcPts val="0"/>
              </a:spcAft>
              <a:buSzPts val="1900"/>
              <a:buFont typeface="Arial" panose="020B0604020202020204" pitchFamily="34" charset="0"/>
              <a:buChar char="•"/>
            </a:pPr>
            <a:r>
              <a:rPr lang="en-US" altLang="zh-CN" sz="1600" b="1">
                <a:solidFill>
                  <a:srgbClr val="333333"/>
                </a:solidFill>
                <a:sym typeface="+mn-ea"/>
              </a:rPr>
              <a:t>I</a:t>
            </a:r>
            <a:r>
              <a:rPr lang="zh-CN" sz="1600" b="1">
                <a:solidFill>
                  <a:srgbClr val="333333"/>
                </a:solidFill>
                <a:sym typeface="+mn-ea"/>
              </a:rPr>
              <a:t>nterpretable</a:t>
            </a:r>
            <a:endParaRPr lang="en-US" altLang="zh-CN" sz="1600" b="1">
              <a:solidFill>
                <a:srgbClr val="333333"/>
              </a:solidFill>
              <a:sym typeface="+mn-ea"/>
            </a:endParaRPr>
          </a:p>
          <a:p>
            <a:pPr marL="393700" lvl="0" indent="-285750" algn="l" rtl="0">
              <a:spcBef>
                <a:spcPts val="0"/>
              </a:spcBef>
              <a:spcAft>
                <a:spcPts val="0"/>
              </a:spcAft>
              <a:buSzPts val="1900"/>
              <a:buFont typeface="Arial" panose="020B0604020202020204" pitchFamily="34" charset="0"/>
              <a:buChar char="•"/>
            </a:pPr>
            <a:r>
              <a:rPr lang="en-US" altLang="zh-CN" sz="1600" b="1">
                <a:solidFill>
                  <a:srgbClr val="333333"/>
                </a:solidFill>
                <a:sym typeface="+mn-ea"/>
              </a:rPr>
              <a:t>E</a:t>
            </a:r>
            <a:r>
              <a:rPr lang="zh-CN" sz="1600" b="1">
                <a:solidFill>
                  <a:srgbClr val="333333"/>
                </a:solidFill>
                <a:sym typeface="+mn-ea"/>
              </a:rPr>
              <a:t>asily</a:t>
            </a:r>
            <a:r>
              <a:rPr lang="en-US" altLang="zh-CN" sz="1600" b="1">
                <a:solidFill>
                  <a:srgbClr val="333333"/>
                </a:solidFill>
                <a:sym typeface="+mn-ea"/>
              </a:rPr>
              <a:t> </a:t>
            </a:r>
            <a:r>
              <a:rPr lang="zh-CN" sz="1600" b="1">
                <a:solidFill>
                  <a:srgbClr val="333333"/>
                </a:solidFill>
                <a:sym typeface="+mn-ea"/>
              </a:rPr>
              <a:t>correlated with labels</a:t>
            </a:r>
            <a:endParaRPr lang="zh-CN" altLang="en-US" sz="1600" b="1"/>
          </a:p>
          <a:p>
            <a:pPr algn="l"/>
            <a:endParaRPr lang="zh-CN" altLang="en-US" sz="1600" b="1"/>
          </a:p>
        </p:txBody>
      </p:sp>
      <p:grpSp>
        <p:nvGrpSpPr>
          <p:cNvPr id="5" name="组合 4"/>
          <p:cNvGrpSpPr/>
          <p:nvPr/>
        </p:nvGrpSpPr>
        <p:grpSpPr>
          <a:xfrm>
            <a:off x="3538220" y="1169035"/>
            <a:ext cx="5595620" cy="3886200"/>
            <a:chOff x="110" y="1979"/>
            <a:chExt cx="8812" cy="6120"/>
          </a:xfrm>
        </p:grpSpPr>
        <p:pic>
          <p:nvPicPr>
            <p:cNvPr id="2" name="图片 1" descr="huggingface"/>
            <p:cNvPicPr>
              <a:picLocks noChangeAspect="1"/>
            </p:cNvPicPr>
            <p:nvPr/>
          </p:nvPicPr>
          <p:blipFill>
            <a:blip r:embed="rId1"/>
            <a:stretch>
              <a:fillRect/>
            </a:stretch>
          </p:blipFill>
          <p:spPr>
            <a:xfrm>
              <a:off x="6652" y="7258"/>
              <a:ext cx="832" cy="832"/>
            </a:xfrm>
            <a:prstGeom prst="rect">
              <a:avLst/>
            </a:prstGeom>
          </p:spPr>
        </p:pic>
        <p:pic>
          <p:nvPicPr>
            <p:cNvPr id="195" name="Google Shape;195;p28"/>
            <p:cNvPicPr preferRelativeResize="0"/>
            <p:nvPr/>
          </p:nvPicPr>
          <p:blipFill>
            <a:blip r:embed="rId2"/>
            <a:stretch>
              <a:fillRect/>
            </a:stretch>
          </p:blipFill>
          <p:spPr>
            <a:xfrm>
              <a:off x="200" y="2045"/>
              <a:ext cx="6308" cy="1122"/>
            </a:xfrm>
            <a:prstGeom prst="rect">
              <a:avLst/>
            </a:prstGeom>
            <a:noFill/>
            <a:ln>
              <a:noFill/>
            </a:ln>
          </p:spPr>
        </p:pic>
        <p:pic>
          <p:nvPicPr>
            <p:cNvPr id="196" name="Google Shape;196;p28"/>
            <p:cNvPicPr preferRelativeResize="0"/>
            <p:nvPr/>
          </p:nvPicPr>
          <p:blipFill>
            <a:blip r:embed="rId3"/>
            <a:stretch>
              <a:fillRect/>
            </a:stretch>
          </p:blipFill>
          <p:spPr>
            <a:xfrm>
              <a:off x="210" y="3216"/>
              <a:ext cx="6672" cy="1443"/>
            </a:xfrm>
            <a:prstGeom prst="rect">
              <a:avLst/>
            </a:prstGeom>
            <a:noFill/>
            <a:ln>
              <a:noFill/>
            </a:ln>
          </p:spPr>
        </p:pic>
        <p:pic>
          <p:nvPicPr>
            <p:cNvPr id="197" name="Google Shape;197;p28"/>
            <p:cNvPicPr preferRelativeResize="0"/>
            <p:nvPr/>
          </p:nvPicPr>
          <p:blipFill>
            <a:blip r:embed="rId4"/>
            <a:stretch>
              <a:fillRect/>
            </a:stretch>
          </p:blipFill>
          <p:spPr>
            <a:xfrm>
              <a:off x="130" y="4663"/>
              <a:ext cx="6112" cy="1201"/>
            </a:xfrm>
            <a:prstGeom prst="rect">
              <a:avLst/>
            </a:prstGeom>
            <a:noFill/>
            <a:ln>
              <a:noFill/>
            </a:ln>
          </p:spPr>
        </p:pic>
        <p:pic>
          <p:nvPicPr>
            <p:cNvPr id="198" name="Google Shape;198;p28"/>
            <p:cNvPicPr preferRelativeResize="0"/>
            <p:nvPr/>
          </p:nvPicPr>
          <p:blipFill>
            <a:blip r:embed="rId5"/>
            <a:stretch>
              <a:fillRect/>
            </a:stretch>
          </p:blipFill>
          <p:spPr>
            <a:xfrm>
              <a:off x="172" y="5864"/>
              <a:ext cx="6112" cy="2226"/>
            </a:xfrm>
            <a:prstGeom prst="rect">
              <a:avLst/>
            </a:prstGeom>
            <a:noFill/>
            <a:ln>
              <a:noFill/>
            </a:ln>
          </p:spPr>
        </p:pic>
        <p:sp>
          <p:nvSpPr>
            <p:cNvPr id="8" name="Google Shape;184;p27"/>
            <p:cNvSpPr txBox="1"/>
            <p:nvPr/>
          </p:nvSpPr>
          <p:spPr>
            <a:xfrm>
              <a:off x="6652" y="6279"/>
              <a:ext cx="2270" cy="101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000"/>
                <a:t>VictorYeste/DeBERTa-based-human-value-detection</a:t>
              </a:r>
              <a:endParaRPr lang="zh-CN" sz="1000"/>
            </a:p>
          </p:txBody>
        </p:sp>
        <p:sp>
          <p:nvSpPr>
            <p:cNvPr id="9" name="Google Shape;185;p27"/>
            <p:cNvSpPr txBox="1"/>
            <p:nvPr/>
          </p:nvSpPr>
          <p:spPr>
            <a:xfrm>
              <a:off x="6652" y="4718"/>
              <a:ext cx="2109" cy="101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000"/>
                <a:t>Cardiffnlp/Twitter-RoBERTa-large-emotion-latest</a:t>
              </a:r>
              <a:endParaRPr lang="zh-CN" sz="1000"/>
            </a:p>
          </p:txBody>
        </p:sp>
        <p:sp>
          <p:nvSpPr>
            <p:cNvPr id="10" name="Google Shape;186;p27"/>
            <p:cNvSpPr txBox="1"/>
            <p:nvPr/>
          </p:nvSpPr>
          <p:spPr>
            <a:xfrm>
              <a:off x="6652" y="3365"/>
              <a:ext cx="2027" cy="12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000"/>
                <a:t>Cardiffnlp/Twitter-RoBERTa-base-dec2021-tweet-topic-single-all</a:t>
              </a:r>
              <a:endParaRPr lang="zh-CN" sz="1000"/>
            </a:p>
          </p:txBody>
        </p:sp>
        <p:sp>
          <p:nvSpPr>
            <p:cNvPr id="11" name="Google Shape;187;p27"/>
            <p:cNvSpPr txBox="1"/>
            <p:nvPr/>
          </p:nvSpPr>
          <p:spPr>
            <a:xfrm>
              <a:off x="6652" y="2178"/>
              <a:ext cx="2246" cy="101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000"/>
                <a:t>Cardiffnlp/Twitter-RoBERTa-base-sentiment-latest</a:t>
              </a:r>
              <a:endParaRPr lang="zh-CN" sz="1000"/>
            </a:p>
          </p:txBody>
        </p:sp>
        <p:sp>
          <p:nvSpPr>
            <p:cNvPr id="12" name="Google Shape;194;p28"/>
            <p:cNvSpPr/>
            <p:nvPr/>
          </p:nvSpPr>
          <p:spPr>
            <a:xfrm>
              <a:off x="110" y="1979"/>
              <a:ext cx="6519" cy="6121"/>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grpSp>
      <p:sp>
        <p:nvSpPr>
          <p:cNvPr id="13" name="Google Shape;81;p15"/>
          <p:cNvSpPr txBox="1"/>
          <p:nvPr/>
        </p:nvSpPr>
        <p:spPr>
          <a:xfrm>
            <a:off x="8890" y="-2540"/>
            <a:ext cx="2121535" cy="51181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Methods</a:t>
            </a:r>
            <a:endParaRPr sz="2200" b="1" dirty="0">
              <a:solidFill>
                <a:schemeClr val="dk2"/>
              </a:solidFill>
            </a:endParaRPr>
          </a:p>
        </p:txBody>
      </p:sp>
      <p:grpSp>
        <p:nvGrpSpPr>
          <p:cNvPr id="3" name="组合 2"/>
          <p:cNvGrpSpPr/>
          <p:nvPr/>
        </p:nvGrpSpPr>
        <p:grpSpPr>
          <a:xfrm>
            <a:off x="173990" y="907415"/>
            <a:ext cx="2546985" cy="1198880"/>
            <a:chOff x="1613" y="3986"/>
            <a:chExt cx="4011" cy="1888"/>
          </a:xfrm>
        </p:grpSpPr>
        <p:pic>
          <p:nvPicPr>
            <p:cNvPr id="14" name="图片 13" descr="情绪 (1)"/>
            <p:cNvPicPr>
              <a:picLocks noChangeAspect="1"/>
            </p:cNvPicPr>
            <p:nvPr/>
          </p:nvPicPr>
          <p:blipFill>
            <a:blip r:embed="rId6"/>
            <a:stretch>
              <a:fillRect/>
            </a:stretch>
          </p:blipFill>
          <p:spPr>
            <a:xfrm>
              <a:off x="1624" y="4052"/>
              <a:ext cx="346" cy="346"/>
            </a:xfrm>
            <a:prstGeom prst="rect">
              <a:avLst/>
            </a:prstGeom>
          </p:spPr>
        </p:pic>
        <p:pic>
          <p:nvPicPr>
            <p:cNvPr id="15" name="图片 14" descr="主题_调色盘_o"/>
            <p:cNvPicPr>
              <a:picLocks noChangeAspect="1"/>
            </p:cNvPicPr>
            <p:nvPr/>
          </p:nvPicPr>
          <p:blipFill>
            <a:blip r:embed="rId7"/>
            <a:stretch>
              <a:fillRect/>
            </a:stretch>
          </p:blipFill>
          <p:spPr>
            <a:xfrm>
              <a:off x="1613" y="4508"/>
              <a:ext cx="357" cy="357"/>
            </a:xfrm>
            <a:prstGeom prst="rect">
              <a:avLst/>
            </a:prstGeom>
          </p:spPr>
        </p:pic>
        <p:pic>
          <p:nvPicPr>
            <p:cNvPr id="16" name="图片 15" descr="values"/>
            <p:cNvPicPr>
              <a:picLocks noChangeAspect="1"/>
            </p:cNvPicPr>
            <p:nvPr/>
          </p:nvPicPr>
          <p:blipFill>
            <a:blip r:embed="rId8"/>
            <a:stretch>
              <a:fillRect/>
            </a:stretch>
          </p:blipFill>
          <p:spPr>
            <a:xfrm>
              <a:off x="1622" y="4965"/>
              <a:ext cx="347" cy="324"/>
            </a:xfrm>
            <a:prstGeom prst="rect">
              <a:avLst/>
            </a:prstGeom>
          </p:spPr>
        </p:pic>
        <p:pic>
          <p:nvPicPr>
            <p:cNvPr id="17" name="图片 16" descr="情感 (1)"/>
            <p:cNvPicPr>
              <a:picLocks noChangeAspect="1"/>
            </p:cNvPicPr>
            <p:nvPr/>
          </p:nvPicPr>
          <p:blipFill>
            <a:blip r:embed="rId9"/>
            <a:stretch>
              <a:fillRect/>
            </a:stretch>
          </p:blipFill>
          <p:spPr>
            <a:xfrm>
              <a:off x="1624" y="5456"/>
              <a:ext cx="350" cy="350"/>
            </a:xfrm>
            <a:prstGeom prst="rect">
              <a:avLst/>
            </a:prstGeom>
          </p:spPr>
        </p:pic>
        <p:sp>
          <p:nvSpPr>
            <p:cNvPr id="18" name="文本框 17"/>
            <p:cNvSpPr txBox="1"/>
            <p:nvPr/>
          </p:nvSpPr>
          <p:spPr>
            <a:xfrm>
              <a:off x="2262" y="3986"/>
              <a:ext cx="3362" cy="1888"/>
            </a:xfrm>
            <a:prstGeom prst="rect">
              <a:avLst/>
            </a:prstGeom>
            <a:noFill/>
          </p:spPr>
          <p:txBody>
            <a:bodyPr wrap="square" rtlCol="0">
              <a:spAutoFit/>
            </a:bodyPr>
            <a:p>
              <a:pPr marL="107950" lvl="0" indent="0" algn="l" rtl="0">
                <a:spcBef>
                  <a:spcPts val="0"/>
                </a:spcBef>
                <a:spcAft>
                  <a:spcPts val="0"/>
                </a:spcAft>
                <a:buSzPts val="1900"/>
                <a:buNone/>
              </a:pPr>
              <a:r>
                <a:rPr lang="zh-CN" sz="1800" b="1" dirty="0">
                  <a:sym typeface="+mn-ea"/>
                </a:rPr>
                <a:t>Sentiment</a:t>
              </a:r>
              <a:endParaRPr sz="1800" b="1" dirty="0"/>
            </a:p>
            <a:p>
              <a:pPr marL="107950" lvl="0" indent="0" algn="l" rtl="0">
                <a:spcBef>
                  <a:spcPts val="0"/>
                </a:spcBef>
                <a:spcAft>
                  <a:spcPts val="0"/>
                </a:spcAft>
                <a:buSzPts val="1900"/>
                <a:buNone/>
              </a:pPr>
              <a:r>
                <a:rPr lang="zh-CN" sz="1800" b="1" dirty="0">
                  <a:sym typeface="+mn-ea"/>
                </a:rPr>
                <a:t>Topic</a:t>
              </a:r>
              <a:endParaRPr sz="1800" b="1" dirty="0"/>
            </a:p>
            <a:p>
              <a:pPr marL="107950" lvl="0" indent="0" algn="l" rtl="0">
                <a:spcBef>
                  <a:spcPts val="0"/>
                </a:spcBef>
                <a:spcAft>
                  <a:spcPts val="0"/>
                </a:spcAft>
                <a:buSzPts val="1900"/>
                <a:buNone/>
              </a:pPr>
              <a:r>
                <a:rPr lang="zh-CN" sz="1800" b="1" dirty="0">
                  <a:sym typeface="+mn-ea"/>
                </a:rPr>
                <a:t>Human values</a:t>
              </a:r>
              <a:endParaRPr sz="1800" b="1" dirty="0"/>
            </a:p>
            <a:p>
              <a:pPr marL="107950" lvl="0" indent="0" algn="l" rtl="0">
                <a:spcBef>
                  <a:spcPts val="0"/>
                </a:spcBef>
                <a:spcAft>
                  <a:spcPts val="0"/>
                </a:spcAft>
                <a:buSzPts val="1900"/>
                <a:buNone/>
              </a:pPr>
              <a:r>
                <a:rPr lang="zh-CN" sz="1800" b="1" dirty="0">
                  <a:sym typeface="+mn-ea"/>
                </a:rPr>
                <a:t>Emotion</a:t>
              </a:r>
              <a:endParaRPr lang="zh-CN" altLang="en-US" sz="1800" b="1"/>
            </a:p>
          </p:txBody>
        </p:sp>
      </p:grpSp>
      <p:sp>
        <p:nvSpPr>
          <p:cNvPr id="19" name="文本框 18"/>
          <p:cNvSpPr txBox="1"/>
          <p:nvPr/>
        </p:nvSpPr>
        <p:spPr>
          <a:xfrm>
            <a:off x="3548380" y="104140"/>
            <a:ext cx="3432175" cy="829945"/>
          </a:xfrm>
          <a:prstGeom prst="rect">
            <a:avLst/>
          </a:prstGeom>
          <a:noFill/>
        </p:spPr>
        <p:txBody>
          <a:bodyPr wrap="square" rtlCol="0">
            <a:spAutoFit/>
          </a:bodyPr>
          <a:p>
            <a:r>
              <a:rPr lang="en-US" altLang="zh-CN" sz="1600">
                <a:sym typeface="+mn-ea"/>
              </a:rPr>
              <a:t>Use</a:t>
            </a:r>
            <a:r>
              <a:rPr lang="zh-CN" sz="1600">
                <a:sym typeface="+mn-ea"/>
              </a:rPr>
              <a:t> specialized feature analysis models</a:t>
            </a:r>
            <a:r>
              <a:rPr lang="en-US" altLang="zh-CN" sz="1600">
                <a:sym typeface="+mn-ea"/>
              </a:rPr>
              <a:t> and</a:t>
            </a:r>
            <a:r>
              <a:rPr lang="zh-CN" sz="1600">
                <a:sym typeface="+mn-ea"/>
              </a:rPr>
              <a:t> construct shortcut scenarios from real-world data</a:t>
            </a:r>
            <a:r>
              <a:rPr lang="en-US" altLang="zh-CN" sz="1600">
                <a:sym typeface="+mn-ea"/>
              </a:rPr>
              <a:t>sets</a:t>
            </a:r>
            <a:endParaRPr lang="zh-CN" altLang="en-US" sz="1600"/>
          </a:p>
        </p:txBody>
      </p:sp>
      <p:sp>
        <p:nvSpPr>
          <p:cNvPr id="20" name="矩形 19"/>
          <p:cNvSpPr/>
          <p:nvPr/>
        </p:nvSpPr>
        <p:spPr>
          <a:xfrm>
            <a:off x="3683635" y="1316355"/>
            <a:ext cx="428625" cy="34417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矩形 20"/>
          <p:cNvSpPr/>
          <p:nvPr/>
        </p:nvSpPr>
        <p:spPr>
          <a:xfrm>
            <a:off x="3683635" y="1660525"/>
            <a:ext cx="428625" cy="34417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4" name="组合 3"/>
          <p:cNvGrpSpPr/>
          <p:nvPr/>
        </p:nvGrpSpPr>
        <p:grpSpPr>
          <a:xfrm>
            <a:off x="311150" y="3987800"/>
            <a:ext cx="2665095" cy="816610"/>
            <a:chOff x="9877" y="4678"/>
            <a:chExt cx="4197" cy="1286"/>
          </a:xfrm>
        </p:grpSpPr>
        <p:pic>
          <p:nvPicPr>
            <p:cNvPr id="22" name="图片 21" descr="链接"/>
            <p:cNvPicPr>
              <a:picLocks noChangeAspect="1"/>
            </p:cNvPicPr>
            <p:nvPr/>
          </p:nvPicPr>
          <p:blipFill>
            <a:blip r:embed="rId10"/>
            <a:stretch>
              <a:fillRect/>
            </a:stretch>
          </p:blipFill>
          <p:spPr>
            <a:xfrm>
              <a:off x="11260" y="4718"/>
              <a:ext cx="1002" cy="1002"/>
            </a:xfrm>
            <a:prstGeom prst="rect">
              <a:avLst/>
            </a:prstGeom>
          </p:spPr>
        </p:pic>
        <mc:AlternateContent xmlns:mc="http://schemas.openxmlformats.org/markup-compatibility/2006">
          <mc:Choice xmlns:a14="http://schemas.microsoft.com/office/drawing/2010/main" Requires="a14">
            <p:sp>
              <p:nvSpPr>
                <p:cNvPr id="23" name="文本框 22"/>
                <p:cNvSpPr txBox="1"/>
                <p:nvPr/>
              </p:nvSpPr>
              <p:spPr>
                <a:xfrm>
                  <a:off x="9877" y="4678"/>
                  <a:ext cx="1444" cy="1286"/>
                </a:xfrm>
                <a:prstGeom prst="rect">
                  <a:avLst/>
                </a:prstGeom>
                <a:noFill/>
              </p:spPr>
              <p:txBody>
                <a:bodyPr wrap="square" rtlCol="0">
                  <a:noAutofit/>
                </a:bodyPr>
                <a:p>
                  <a14:m>
                    <m:oMathPara xmlns:m="http://schemas.openxmlformats.org/officeDocument/2006/math">
                      <m:oMathParaPr>
                        <m:jc m:val="centerGroup"/>
                      </m:oMathParaPr>
                      <m:oMath xmlns:m="http://schemas.openxmlformats.org/officeDocument/2006/math">
                        <m:sSubSup>
                          <m:sSubSupPr>
                            <m:ctrlP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ctrlPr>
                          </m:sSubSupPr>
                          <m:e>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𝑼</m:t>
                            </m:r>
                          </m:e>
                          <m:sub>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m:t>
                            </m:r>
                          </m:sub>
                          <m:sup>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𝒑𝒐𝒔</m:t>
                            </m:r>
                          </m:sup>
                        </m:sSubSup>
                      </m:oMath>
                    </m:oMathPara>
                  </a14:m>
                  <a:endParaRPr lang="en-US" altLang="zh-CN" sz="1600" b="1">
                    <a:effectLst>
                      <a:outerShdw blurRad="38100" dist="38100" dir="2700000" algn="tl">
                        <a:srgbClr val="000000">
                          <a:alpha val="43137"/>
                        </a:srgbClr>
                      </a:outerShdw>
                    </a:effectLst>
                  </a:endParaRPr>
                </a:p>
                <a:p>
                  <a:endParaRPr lang="en-US" altLang="zh-CN" sz="1600" b="1">
                    <a:effectLst>
                      <a:outerShdw blurRad="38100" dist="38100" dir="2700000" algn="tl">
                        <a:srgbClr val="000000">
                          <a:alpha val="43137"/>
                        </a:srgbClr>
                      </a:outerShdw>
                    </a:effectLst>
                  </a:endParaRPr>
                </a:p>
                <a:p>
                  <a14:m>
                    <m:oMathPara xmlns:m="http://schemas.openxmlformats.org/officeDocument/2006/math">
                      <m:oMathParaPr>
                        <m:jc m:val="centerGroup"/>
                      </m:oMathParaPr>
                      <m:oMath xmlns:m="http://schemas.openxmlformats.org/officeDocument/2006/math">
                        <m:sSubSup>
                          <m:sSubSupPr>
                            <m:ctrlP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ctrlPr>
                          </m:sSubSupPr>
                          <m:e>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𝑼</m:t>
                            </m:r>
                          </m:e>
                          <m:sub>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m:t>
                            </m:r>
                          </m:sub>
                          <m:sup>
                            <m:r>
                              <a:rPr lang="en-US" altLang="zh-CN" sz="1600" b="1" i="1">
                                <a:effectLst>
                                  <a:outerShdw blurRad="38100" dist="38100" dir="2700000" algn="tl">
                                    <a:srgbClr val="000000">
                                      <a:alpha val="43137"/>
                                    </a:srgbClr>
                                  </a:outerShdw>
                                </a:effectLst>
                                <a:latin typeface="Cambria Math" panose="02040503050406030204" charset="0"/>
                                <a:cs typeface="Cambria Math" panose="02040503050406030204" charset="0"/>
                              </a:rPr>
                              <m:t>𝒏𝒆𝒈</m:t>
                            </m:r>
                          </m:sup>
                        </m:sSubSup>
                      </m:oMath>
                    </m:oMathPara>
                  </a14:m>
                  <a:endParaRPr lang="en-US" altLang="zh-CN" sz="1600" b="1">
                    <a:effectLst>
                      <a:outerShdw blurRad="38100" dist="38100" dir="2700000" algn="tl">
                        <a:srgbClr val="000000">
                          <a:alpha val="43137"/>
                        </a:srgbClr>
                      </a:outerShdw>
                    </a:effectLst>
                  </a:endParaRPr>
                </a:p>
              </p:txBody>
            </p:sp>
          </mc:Choice>
          <mc:Fallback>
            <p:sp>
              <p:nvSpPr>
                <p:cNvPr id="23" name="文本框 22"/>
                <p:cNvSpPr txBox="1">
                  <a:spLocks noRot="1" noChangeAspect="1" noMove="1" noResize="1" noEditPoints="1" noAdjustHandles="1" noChangeArrowheads="1" noChangeShapeType="1" noTextEdit="1"/>
                </p:cNvSpPr>
                <p:nvPr/>
              </p:nvSpPr>
              <p:spPr>
                <a:xfrm>
                  <a:off x="9877" y="4678"/>
                  <a:ext cx="1444" cy="1286"/>
                </a:xfrm>
                <a:prstGeom prst="rect">
                  <a:avLst/>
                </a:prstGeom>
                <a:blipFill rotWithShape="1">
                  <a:blip r:embed="rId11"/>
                </a:blipFill>
              </p:spPr>
              <p:txBody>
                <a:bodyPr/>
                <a:lstStyle/>
                <a:p>
                  <a:r>
                    <a:rPr lang="zh-CN" altLang="en-US">
                      <a:noFill/>
                    </a:rPr>
                    <a:t> </a:t>
                  </a:r>
                </a:p>
              </p:txBody>
            </p:sp>
          </mc:Fallback>
        </mc:AlternateContent>
        <p:sp>
          <p:nvSpPr>
            <p:cNvPr id="24" name="文本框 23"/>
            <p:cNvSpPr txBox="1"/>
            <p:nvPr/>
          </p:nvSpPr>
          <p:spPr>
            <a:xfrm>
              <a:off x="12262" y="4678"/>
              <a:ext cx="1812" cy="1287"/>
            </a:xfrm>
            <a:prstGeom prst="rect">
              <a:avLst/>
            </a:prstGeom>
            <a:noFill/>
          </p:spPr>
          <p:txBody>
            <a:bodyPr wrap="square" rtlCol="0">
              <a:noAutofit/>
            </a:bodyPr>
            <a:p>
              <a:r>
                <a:rPr lang="en-US" altLang="zh-CN" sz="1600" b="1">
                  <a:effectLst>
                    <a:outerShdw blurRad="38100" dist="38100" dir="2700000" algn="tl">
                      <a:srgbClr val="000000">
                        <a:alpha val="43137"/>
                      </a:srgbClr>
                    </a:outerShdw>
                  </a:effectLst>
                </a:rPr>
                <a:t>human</a:t>
              </a:r>
              <a:endParaRPr lang="en-US" altLang="zh-CN" sz="1600" b="1">
                <a:effectLst>
                  <a:outerShdw blurRad="38100" dist="38100" dir="2700000" algn="tl">
                    <a:srgbClr val="000000">
                      <a:alpha val="43137"/>
                    </a:srgbClr>
                  </a:outerShdw>
                </a:effectLst>
              </a:endParaRPr>
            </a:p>
            <a:p>
              <a:endParaRPr lang="en-US" altLang="zh-CN" sz="1600" b="1">
                <a:effectLst>
                  <a:outerShdw blurRad="38100" dist="38100" dir="2700000" algn="tl">
                    <a:srgbClr val="000000">
                      <a:alpha val="43137"/>
                    </a:srgbClr>
                  </a:outerShdw>
                </a:effectLst>
              </a:endParaRPr>
            </a:p>
            <a:p>
              <a:r>
                <a:rPr lang="en-US" altLang="zh-CN" sz="1600" b="1">
                  <a:effectLst>
                    <a:outerShdw blurRad="38100" dist="38100" dir="2700000" algn="tl">
                      <a:srgbClr val="000000">
                        <a:alpha val="43137"/>
                      </a:srgbClr>
                    </a:outerShdw>
                  </a:effectLst>
                </a:rPr>
                <a:t>bot</a:t>
              </a:r>
              <a:endParaRPr lang="en-US" altLang="zh-CN" sz="1600" b="1">
                <a:effectLst>
                  <a:outerShdw blurRad="38100" dist="38100" dir="2700000" algn="tl">
                    <a:srgbClr val="000000">
                      <a:alpha val="43137"/>
                    </a:srgbClr>
                  </a:outerShdw>
                </a:effectLst>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6"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Settings</a:t>
            </a:r>
            <a:endParaRPr sz="2200" b="1" dirty="0">
              <a:solidFill>
                <a:schemeClr val="dk2"/>
              </a:solidFill>
            </a:endParaRPr>
          </a:p>
        </p:txBody>
      </p:sp>
      <p:sp>
        <p:nvSpPr>
          <p:cNvPr id="7" name="Google Shape;80;p15"/>
          <p:cNvSpPr txBox="1"/>
          <p:nvPr/>
        </p:nvSpPr>
        <p:spPr>
          <a:xfrm>
            <a:off x="398780" y="579120"/>
            <a:ext cx="3045460" cy="52514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800" dirty="0">
                <a:solidFill>
                  <a:schemeClr val="dk2"/>
                </a:solidFill>
              </a:rPr>
              <a:t>Select </a:t>
            </a:r>
            <a:r>
              <a:rPr lang="en-US" altLang="zh-CN" sz="1800" b="1" dirty="0">
                <a:solidFill>
                  <a:schemeClr val="dk2"/>
                </a:solidFill>
              </a:rPr>
              <a:t>detectors</a:t>
            </a:r>
            <a:r>
              <a:rPr lang="en-US" altLang="zh-CN" sz="1800" dirty="0">
                <a:solidFill>
                  <a:schemeClr val="dk2"/>
                </a:solidFill>
              </a:rPr>
              <a:t>:</a:t>
            </a:r>
            <a:endParaRPr lang="en-US" sz="1800" dirty="0">
              <a:solidFill>
                <a:schemeClr val="dk2"/>
              </a:solidFill>
            </a:endParaRPr>
          </a:p>
        </p:txBody>
      </p:sp>
      <p:grpSp>
        <p:nvGrpSpPr>
          <p:cNvPr id="2" name="组合 1"/>
          <p:cNvGrpSpPr/>
          <p:nvPr/>
        </p:nvGrpSpPr>
        <p:grpSpPr>
          <a:xfrm>
            <a:off x="3665220" y="124460"/>
            <a:ext cx="5404485" cy="2834005"/>
            <a:chOff x="435" y="1177"/>
            <a:chExt cx="13514" cy="6922"/>
          </a:xfrm>
        </p:grpSpPr>
        <p:pic>
          <p:nvPicPr>
            <p:cNvPr id="204" name="Google Shape;204;p29"/>
            <p:cNvPicPr preferRelativeResize="0"/>
            <p:nvPr/>
          </p:nvPicPr>
          <p:blipFill>
            <a:blip r:embed="rId1"/>
            <a:stretch>
              <a:fillRect/>
            </a:stretch>
          </p:blipFill>
          <p:spPr>
            <a:xfrm>
              <a:off x="6989" y="1177"/>
              <a:ext cx="6919" cy="4050"/>
            </a:xfrm>
            <a:prstGeom prst="rect">
              <a:avLst/>
            </a:prstGeom>
            <a:noFill/>
            <a:ln>
              <a:noFill/>
            </a:ln>
          </p:spPr>
        </p:pic>
        <p:sp>
          <p:nvSpPr>
            <p:cNvPr id="205" name="Google Shape;205;p29"/>
            <p:cNvSpPr txBox="1"/>
            <p:nvPr/>
          </p:nvSpPr>
          <p:spPr>
            <a:xfrm>
              <a:off x="6949" y="5227"/>
              <a:ext cx="7000" cy="72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1200">
                  <a:solidFill>
                    <a:schemeClr val="dk2"/>
                  </a:solidFill>
                  <a:latin typeface="Times New Roman" panose="02020603050405020304"/>
                  <a:ea typeface="Times New Roman" panose="02020603050405020304"/>
                  <a:cs typeface="Times New Roman" panose="02020603050405020304"/>
                  <a:sym typeface="Times New Roman" panose="02020603050405020304"/>
                </a:rPr>
                <a:t>Feng S, et al.</a:t>
              </a:r>
              <a:r>
                <a:rPr lang="zh-CN" sz="1200">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r>
                <a:rPr lang="zh-CN" sz="1200">
                  <a:solidFill>
                    <a:srgbClr val="1A0DAB"/>
                  </a:solidFill>
                  <a:highlight>
                    <a:srgbClr val="FFFFFF"/>
                  </a:highlight>
                  <a:uFill>
                    <a:noFill/>
                  </a:uFill>
                  <a:latin typeface="Times New Roman" panose="02020603050405020304"/>
                  <a:ea typeface="Times New Roman" panose="02020603050405020304"/>
                  <a:cs typeface="Times New Roman" panose="02020603050405020304"/>
                  <a:sym typeface="Times New Roman" panose="02020603050405020304"/>
                  <a:hlinkClick r:id="rId2"/>
                </a:rPr>
                <a:t>BotRGCN: Twitter bot detection with relational graph convolutional networks</a:t>
              </a:r>
              <a:r>
                <a:rPr lang="zh-CN" sz="1200">
                  <a:solidFill>
                    <a:schemeClr val="dk2"/>
                  </a:solidFill>
                  <a:latin typeface="Times New Roman" panose="02020603050405020304"/>
                  <a:ea typeface="Times New Roman" panose="02020603050405020304"/>
                  <a:cs typeface="Times New Roman" panose="02020603050405020304"/>
                  <a:sym typeface="Times New Roman" panose="02020603050405020304"/>
                </a:rPr>
                <a:t> </a:t>
              </a:r>
              <a:endParaRPr sz="1200">
                <a:solidFill>
                  <a:schemeClr val="dk2"/>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06" name="Google Shape;206;p29"/>
            <p:cNvPicPr preferRelativeResize="0"/>
            <p:nvPr/>
          </p:nvPicPr>
          <p:blipFill>
            <a:blip r:embed="rId3"/>
            <a:stretch>
              <a:fillRect/>
            </a:stretch>
          </p:blipFill>
          <p:spPr>
            <a:xfrm>
              <a:off x="9409" y="6021"/>
              <a:ext cx="2079" cy="2079"/>
            </a:xfrm>
            <a:prstGeom prst="rect">
              <a:avLst/>
            </a:prstGeom>
            <a:noFill/>
            <a:ln>
              <a:noFill/>
            </a:ln>
          </p:spPr>
        </p:pic>
        <p:pic>
          <p:nvPicPr>
            <p:cNvPr id="208" name="Google Shape;208;p29"/>
            <p:cNvPicPr preferRelativeResize="0"/>
            <p:nvPr/>
          </p:nvPicPr>
          <p:blipFill>
            <a:blip r:embed="rId4"/>
            <a:stretch>
              <a:fillRect/>
            </a:stretch>
          </p:blipFill>
          <p:spPr>
            <a:xfrm>
              <a:off x="1991" y="5946"/>
              <a:ext cx="1867" cy="1976"/>
            </a:xfrm>
            <a:prstGeom prst="rect">
              <a:avLst/>
            </a:prstGeom>
            <a:noFill/>
            <a:ln>
              <a:noFill/>
            </a:ln>
          </p:spPr>
        </p:pic>
        <p:grpSp>
          <p:nvGrpSpPr>
            <p:cNvPr id="209" name="Google Shape;209;p29"/>
            <p:cNvGrpSpPr/>
            <p:nvPr/>
          </p:nvGrpSpPr>
          <p:grpSpPr>
            <a:xfrm>
              <a:off x="435" y="1745"/>
              <a:ext cx="5983" cy="2914"/>
              <a:chOff x="5287625" y="1247475"/>
              <a:chExt cx="3856375" cy="1683150"/>
            </a:xfrm>
          </p:grpSpPr>
          <p:pic>
            <p:nvPicPr>
              <p:cNvPr id="210" name="Google Shape;210;p29"/>
              <p:cNvPicPr preferRelativeResize="0"/>
              <p:nvPr/>
            </p:nvPicPr>
            <p:blipFill>
              <a:blip r:embed="rId5"/>
              <a:stretch>
                <a:fillRect/>
              </a:stretch>
            </p:blipFill>
            <p:spPr>
              <a:xfrm>
                <a:off x="6651125" y="1247475"/>
                <a:ext cx="2492875" cy="1683150"/>
              </a:xfrm>
              <a:prstGeom prst="rect">
                <a:avLst/>
              </a:prstGeom>
              <a:noFill/>
              <a:ln>
                <a:noFill/>
              </a:ln>
            </p:spPr>
          </p:pic>
          <p:pic>
            <p:nvPicPr>
              <p:cNvPr id="211" name="Google Shape;211;p29"/>
              <p:cNvPicPr preferRelativeResize="0"/>
              <p:nvPr/>
            </p:nvPicPr>
            <p:blipFill>
              <a:blip r:embed="rId6"/>
              <a:stretch>
                <a:fillRect/>
              </a:stretch>
            </p:blipFill>
            <p:spPr>
              <a:xfrm>
                <a:off x="5287625" y="1403551"/>
                <a:ext cx="1203450" cy="1291502"/>
              </a:xfrm>
              <a:prstGeom prst="rect">
                <a:avLst/>
              </a:prstGeom>
              <a:noFill/>
              <a:ln>
                <a:noFill/>
              </a:ln>
            </p:spPr>
          </p:pic>
          <p:sp>
            <p:nvSpPr>
              <p:cNvPr id="212" name="Google Shape;212;p29"/>
              <p:cNvSpPr txBox="1"/>
              <p:nvPr/>
            </p:nvSpPr>
            <p:spPr>
              <a:xfrm>
                <a:off x="5287625" y="1783197"/>
                <a:ext cx="1363226" cy="97289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1800" u="sng">
                    <a:solidFill>
                      <a:srgbClr val="1A0DAB"/>
                    </a:solidFill>
                    <a:highlight>
                      <a:srgbClr val="FFFFFF"/>
                    </a:highlight>
                    <a:latin typeface="Times New Roman" panose="02020603050405020304"/>
                    <a:ea typeface="Times New Roman" panose="02020603050405020304"/>
                    <a:cs typeface="Times New Roman" panose="02020603050405020304"/>
                    <a:sym typeface="Times New Roman" panose="02020603050405020304"/>
                    <a:hlinkClick r:id="rId7"/>
                  </a:rPr>
                  <a:t>RoBERTa</a:t>
                </a:r>
                <a:endParaRPr sz="1800" u="sng">
                  <a:solidFill>
                    <a:srgbClr val="1A0DAB"/>
                  </a:solidFill>
                  <a:highlight>
                    <a:srgbClr val="FFFFFF"/>
                  </a:highlight>
                  <a:latin typeface="Times New Roman" panose="02020603050405020304"/>
                  <a:ea typeface="Times New Roman" panose="02020603050405020304"/>
                  <a:cs typeface="Times New Roman" panose="02020603050405020304"/>
                  <a:sym typeface="Times New Roman" panose="02020603050405020304"/>
                  <a:hlinkClick r:id="rId7"/>
                </a:endParaRPr>
              </a:p>
              <a:p>
                <a:pPr marL="0" lvl="0" indent="0" algn="l" rtl="0">
                  <a:spcBef>
                    <a:spcPts val="0"/>
                  </a:spcBef>
                  <a:spcAft>
                    <a:spcPts val="0"/>
                  </a:spcAft>
                  <a:buNone/>
                </a:pPr>
                <a:endParaRPr sz="1800">
                  <a:solidFill>
                    <a:schemeClr val="dk2"/>
                  </a:solidFill>
                </a:endParaRPr>
              </a:p>
            </p:txBody>
          </p:sp>
        </p:grpSp>
      </p:grpSp>
      <p:sp>
        <p:nvSpPr>
          <p:cNvPr id="3" name="文本框 2"/>
          <p:cNvSpPr txBox="1"/>
          <p:nvPr/>
        </p:nvSpPr>
        <p:spPr>
          <a:xfrm>
            <a:off x="5226050" y="3244215"/>
            <a:ext cx="1288415" cy="398780"/>
          </a:xfrm>
          <a:prstGeom prst="rect">
            <a:avLst/>
          </a:prstGeom>
          <a:noFill/>
        </p:spPr>
        <p:txBody>
          <a:bodyPr wrap="square" rtlCol="0">
            <a:spAutoFit/>
          </a:bodyPr>
          <a:p>
            <a:pPr algn="l">
              <a:buSzTx/>
            </a:pPr>
            <a:r>
              <a:rPr lang="en-US" altLang="zh-CN" sz="2000" b="1" dirty="0">
                <a:solidFill>
                  <a:schemeClr val="dk2"/>
                </a:solidFill>
                <a:sym typeface="+mn-ea"/>
              </a:rPr>
              <a:t>Datasets:</a:t>
            </a:r>
            <a:endParaRPr lang="en-US" altLang="zh-CN" sz="2000" b="1" dirty="0">
              <a:solidFill>
                <a:schemeClr val="dk2"/>
              </a:solidFill>
            </a:endParaRPr>
          </a:p>
        </p:txBody>
      </p:sp>
      <p:sp>
        <p:nvSpPr>
          <p:cNvPr id="4" name="文本框 3"/>
          <p:cNvSpPr txBox="1"/>
          <p:nvPr/>
        </p:nvSpPr>
        <p:spPr>
          <a:xfrm>
            <a:off x="398780" y="1204595"/>
            <a:ext cx="3048000" cy="368300"/>
          </a:xfrm>
          <a:prstGeom prst="rect">
            <a:avLst/>
          </a:prstGeom>
          <a:noFill/>
        </p:spPr>
        <p:txBody>
          <a:bodyPr wrap="square" rtlCol="0">
            <a:spAutoFit/>
          </a:bodyPr>
          <a:p>
            <a:pPr algn="l">
              <a:buSzTx/>
            </a:pPr>
            <a:r>
              <a:rPr lang="en-US" altLang="zh-CN" sz="1800" dirty="0">
                <a:solidFill>
                  <a:schemeClr val="dk2"/>
                </a:solidFill>
                <a:sym typeface="+mn-ea"/>
              </a:rPr>
              <a:t>Debiasing method: </a:t>
            </a:r>
            <a:endParaRPr lang="en-US" altLang="zh-CN" sz="1800" dirty="0">
              <a:solidFill>
                <a:schemeClr val="dk2"/>
              </a:solidFill>
            </a:endParaRPr>
          </a:p>
        </p:txBody>
      </p:sp>
      <p:pic>
        <p:nvPicPr>
          <p:cNvPr id="338" name="Google Shape;338;p49"/>
          <p:cNvPicPr preferRelativeResize="0"/>
          <p:nvPr/>
        </p:nvPicPr>
        <p:blipFill>
          <a:blip r:embed="rId8"/>
          <a:stretch>
            <a:fillRect/>
          </a:stretch>
        </p:blipFill>
        <p:spPr>
          <a:xfrm>
            <a:off x="113342" y="1782445"/>
            <a:ext cx="3548703" cy="2419350"/>
          </a:xfrm>
          <a:prstGeom prst="rect">
            <a:avLst/>
          </a:prstGeom>
          <a:noFill/>
          <a:ln>
            <a:noFill/>
          </a:ln>
        </p:spPr>
      </p:pic>
      <p:sp>
        <p:nvSpPr>
          <p:cNvPr id="339" name="Google Shape;339;p49"/>
          <p:cNvSpPr txBox="1"/>
          <p:nvPr/>
        </p:nvSpPr>
        <p:spPr>
          <a:xfrm>
            <a:off x="574675" y="4201795"/>
            <a:ext cx="3134995" cy="687070"/>
          </a:xfrm>
          <a:prstGeom prst="rect">
            <a:avLst/>
          </a:prstGeom>
          <a:noFill/>
          <a:ln>
            <a:noFill/>
          </a:ln>
        </p:spPr>
        <p:txBody>
          <a:bodyPr spcFirstLastPara="1" wrap="square" lIns="91425" tIns="91425" rIns="91425" bIns="91425" anchor="ctr" anchorCtr="0">
            <a:noAutofit/>
          </a:bodyPr>
          <a:lstStyle/>
          <a:p>
            <a:pPr marL="0" marR="952500" lvl="0" indent="0" algn="l" rtl="0">
              <a:lnSpc>
                <a:spcPct val="100000"/>
              </a:lnSpc>
              <a:spcBef>
                <a:spcPts val="0"/>
              </a:spcBef>
              <a:spcAft>
                <a:spcPts val="0"/>
              </a:spcAft>
              <a:buNone/>
            </a:pPr>
            <a:r>
              <a:rPr lang="en-US" altLang="zh-CN" sz="900">
                <a:solidFill>
                  <a:srgbClr val="1A0DAB"/>
                </a:solidFill>
                <a:highlight>
                  <a:srgbClr val="FFFFFF"/>
                </a:highlight>
                <a:uFill>
                  <a:noFill/>
                </a:uFill>
              </a:rPr>
              <a:t>Chen Y, et al.</a:t>
            </a:r>
            <a:r>
              <a:rPr lang="en-US" altLang="zh-CN" sz="900">
                <a:solidFill>
                  <a:srgbClr val="1A0DAB"/>
                </a:solidFill>
                <a:highlight>
                  <a:srgbClr val="FFFFFF"/>
                </a:highlight>
                <a:uFill>
                  <a:noFill/>
                </a:uFill>
                <a:hlinkClick r:id="rId9"/>
              </a:rPr>
              <a:t> </a:t>
            </a:r>
            <a:r>
              <a:rPr lang="zh-CN" sz="900">
                <a:solidFill>
                  <a:srgbClr val="1A0DAB"/>
                </a:solidFill>
                <a:highlight>
                  <a:srgbClr val="FFFFFF"/>
                </a:highlight>
                <a:uFill>
                  <a:noFill/>
                </a:uFill>
                <a:hlinkClick r:id="rId9"/>
              </a:rPr>
              <a:t>Learning causally invariant representations</a:t>
            </a:r>
            <a:r>
              <a:rPr lang="en-US" altLang="zh-CN" sz="900">
                <a:solidFill>
                  <a:srgbClr val="1A0DAB"/>
                </a:solidFill>
                <a:highlight>
                  <a:srgbClr val="FFFFFF"/>
                </a:highlight>
                <a:uFill>
                  <a:noFill/>
                </a:uFill>
                <a:hlinkClick r:id="rId9"/>
              </a:rPr>
              <a:t> </a:t>
            </a:r>
            <a:r>
              <a:rPr lang="zh-CN" sz="900">
                <a:solidFill>
                  <a:srgbClr val="1A0DAB"/>
                </a:solidFill>
                <a:highlight>
                  <a:srgbClr val="FFFFFF"/>
                </a:highlight>
                <a:uFill>
                  <a:noFill/>
                </a:uFill>
                <a:hlinkClick r:id="rId9"/>
              </a:rPr>
              <a:t>for out-of-distribution generalization on graphs</a:t>
            </a:r>
            <a:r>
              <a:rPr lang="en-US" altLang="zh-CN" sz="900">
                <a:solidFill>
                  <a:srgbClr val="1A0DAB"/>
                </a:solidFill>
                <a:highlight>
                  <a:srgbClr val="FFFFFF"/>
                </a:highlight>
                <a:uFill>
                  <a:noFill/>
                </a:uFill>
              </a:rPr>
              <a:t> </a:t>
            </a:r>
            <a:endParaRPr sz="900"/>
          </a:p>
        </p:txBody>
      </p:sp>
      <p:sp>
        <p:nvSpPr>
          <p:cNvPr id="5" name="文本框 4"/>
          <p:cNvSpPr txBox="1"/>
          <p:nvPr/>
        </p:nvSpPr>
        <p:spPr>
          <a:xfrm>
            <a:off x="5161280" y="3876675"/>
            <a:ext cx="3048000" cy="922020"/>
          </a:xfrm>
          <a:prstGeom prst="rect">
            <a:avLst/>
          </a:prstGeom>
          <a:noFill/>
        </p:spPr>
        <p:txBody>
          <a:bodyPr wrap="square" rtlCol="0">
            <a:spAutoFit/>
          </a:bodyPr>
          <a:p>
            <a:pPr marL="285750" indent="-285750">
              <a:buFont typeface="Arial" panose="020B0604020202020204" pitchFamily="34" charset="0"/>
              <a:buChar char="•"/>
            </a:pPr>
            <a:r>
              <a:rPr lang="en-US" altLang="zh-CN" sz="1800"/>
              <a:t>Cresci-Data-2015</a:t>
            </a:r>
            <a:endParaRPr lang="en-US" altLang="zh-CN" sz="1800"/>
          </a:p>
          <a:p>
            <a:pPr marL="285750" indent="-285750">
              <a:buFont typeface="Arial" panose="020B0604020202020204" pitchFamily="34" charset="0"/>
              <a:buChar char="•"/>
            </a:pPr>
            <a:r>
              <a:rPr lang="en-US" altLang="zh-CN" sz="1800">
                <a:sym typeface="+mn-ea"/>
              </a:rPr>
              <a:t>Cresci-Data-2017</a:t>
            </a:r>
            <a:endParaRPr lang="en-US" altLang="zh-CN" sz="1800">
              <a:sym typeface="+mn-ea"/>
            </a:endParaRPr>
          </a:p>
          <a:p>
            <a:pPr marL="285750" indent="-285750">
              <a:buFont typeface="Arial" panose="020B0604020202020204" pitchFamily="34" charset="0"/>
              <a:buChar char="•"/>
            </a:pPr>
            <a:r>
              <a:rPr lang="en-US" altLang="zh-CN" sz="1800"/>
              <a:t>Twibot-20</a:t>
            </a:r>
            <a:endParaRPr lang="en-US" altLang="zh-CN" sz="1800"/>
          </a:p>
        </p:txBody>
      </p:sp>
      <p:sp>
        <p:nvSpPr>
          <p:cNvPr id="8" name="文本框 7"/>
          <p:cNvSpPr txBox="1"/>
          <p:nvPr/>
        </p:nvSpPr>
        <p:spPr>
          <a:xfrm>
            <a:off x="3659505" y="1621155"/>
            <a:ext cx="2541905" cy="384810"/>
          </a:xfrm>
          <a:prstGeom prst="rect">
            <a:avLst/>
          </a:prstGeom>
          <a:noFill/>
        </p:spPr>
        <p:txBody>
          <a:bodyPr wrap="square" rtlCol="0">
            <a:noAutofit/>
          </a:bodyPr>
          <a:p>
            <a:r>
              <a:rPr lang="en-US" altLang="zh-CN" sz="1000"/>
              <a:t>Liu Y, et al. RoBERTa: A Robustly Optimized BERT Pretraining Approach</a:t>
            </a:r>
            <a:endParaRPr lang="en-US" altLang="zh-CN" sz="1000"/>
          </a:p>
          <a:p>
            <a:endParaRPr lang="en-US" altLang="zh-CN"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8" name="Google Shape;218;p30"/>
          <p:cNvPicPr preferRelativeResize="0"/>
          <p:nvPr/>
        </p:nvPicPr>
        <p:blipFill rotWithShape="1">
          <a:blip r:embed="rId1"/>
          <a:srcRect l="11741" r="11869" b="23563"/>
          <a:stretch>
            <a:fillRect/>
          </a:stretch>
        </p:blipFill>
        <p:spPr>
          <a:xfrm>
            <a:off x="3752657" y="21545"/>
            <a:ext cx="5266402" cy="2482819"/>
          </a:xfrm>
          <a:prstGeom prst="rect">
            <a:avLst/>
          </a:prstGeom>
          <a:noFill/>
          <a:ln>
            <a:noFill/>
          </a:ln>
        </p:spPr>
      </p:pic>
      <p:sp>
        <p:nvSpPr>
          <p:cNvPr id="6"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Results</a:t>
            </a:r>
            <a:endParaRPr sz="2200" b="1" dirty="0">
              <a:solidFill>
                <a:schemeClr val="dk2"/>
              </a:solidFill>
            </a:endParaRPr>
          </a:p>
        </p:txBody>
      </p:sp>
      <p:sp>
        <p:nvSpPr>
          <p:cNvPr id="7" name="Google Shape;231;p32"/>
          <p:cNvSpPr txBox="1"/>
          <p:nvPr/>
        </p:nvSpPr>
        <p:spPr>
          <a:xfrm>
            <a:off x="0" y="693420"/>
            <a:ext cx="3752850" cy="170688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Clr>
                <a:schemeClr val="dk1"/>
              </a:buClr>
              <a:buSzPts val="1300"/>
              <a:buChar char="●"/>
            </a:pPr>
            <a:r>
              <a:rPr lang="en-US" altLang="zh-CN" sz="1300">
                <a:solidFill>
                  <a:srgbClr val="333333"/>
                </a:solidFill>
                <a:highlight>
                  <a:srgbClr val="FFFFFF"/>
                </a:highlight>
                <a:sym typeface="+mn-ea"/>
              </a:rPr>
              <a:t>Text-based model, shortcut learning leads to an a</a:t>
            </a:r>
            <a:r>
              <a:rPr lang="zh-CN" sz="1300" dirty="0">
                <a:solidFill>
                  <a:schemeClr val="dk1"/>
                </a:solidFill>
              </a:rPr>
              <a:t>verage accuracy drop: </a:t>
            </a:r>
            <a:r>
              <a:rPr lang="zh-CN" sz="1300" b="1" dirty="0">
                <a:solidFill>
                  <a:schemeClr val="dk1"/>
                </a:solidFill>
              </a:rPr>
              <a:t>~</a:t>
            </a:r>
            <a:r>
              <a:rPr lang="en-US" altLang="zh-CN" sz="1300" b="1" dirty="0">
                <a:solidFill>
                  <a:schemeClr val="dk1"/>
                </a:solidFill>
              </a:rPr>
              <a:t>33</a:t>
            </a:r>
            <a:r>
              <a:rPr lang="zh-CN" sz="1300" b="1" dirty="0">
                <a:solidFill>
                  <a:schemeClr val="dk1"/>
                </a:solidFill>
              </a:rPr>
              <a:t>%</a:t>
            </a:r>
            <a:br>
              <a:rPr lang="zh-CN" sz="1300" b="1" dirty="0">
                <a:solidFill>
                  <a:schemeClr val="dk1"/>
                </a:solidFill>
              </a:rPr>
            </a:br>
            <a:endParaRPr lang="zh-CN" sz="1300" dirty="0">
              <a:solidFill>
                <a:schemeClr val="dk1"/>
              </a:solidFill>
            </a:endParaRPr>
          </a:p>
          <a:p>
            <a:pPr marL="457200" lvl="0" indent="-311150" algn="l" rtl="0">
              <a:spcBef>
                <a:spcPts val="0"/>
              </a:spcBef>
              <a:spcAft>
                <a:spcPts val="0"/>
              </a:spcAft>
              <a:buClr>
                <a:schemeClr val="dk1"/>
              </a:buClr>
              <a:buSzPts val="1300"/>
              <a:buChar char="●"/>
            </a:pPr>
            <a:r>
              <a:rPr lang="en-US" altLang="zh-CN" sz="1300" dirty="0">
                <a:solidFill>
                  <a:srgbClr val="333333"/>
                </a:solidFill>
                <a:highlight>
                  <a:srgbClr val="FFFFFF"/>
                </a:highlight>
                <a:sym typeface="+mn-ea"/>
              </a:rPr>
              <a:t>Graph-based model</a:t>
            </a:r>
            <a:r>
              <a:rPr lang="en-US" altLang="zh-CN" sz="1300">
                <a:solidFill>
                  <a:srgbClr val="333333"/>
                </a:solidFill>
                <a:highlight>
                  <a:srgbClr val="FFFFFF"/>
                </a:highlight>
                <a:sym typeface="+mn-ea"/>
              </a:rPr>
              <a:t>, shortcut learning leads to an a</a:t>
            </a:r>
            <a:r>
              <a:rPr lang="zh-CN" sz="1300" dirty="0">
                <a:solidFill>
                  <a:schemeClr val="dk1"/>
                </a:solidFill>
                <a:highlight>
                  <a:srgbClr val="FFFFFF"/>
                </a:highlight>
                <a:sym typeface="+mn-ea"/>
              </a:rPr>
              <a:t>verage accuracy drop: </a:t>
            </a:r>
            <a:r>
              <a:rPr lang="zh-CN" sz="1300" b="1" dirty="0">
                <a:solidFill>
                  <a:schemeClr val="dk1"/>
                </a:solidFill>
                <a:highlight>
                  <a:srgbClr val="FFFFFF"/>
                </a:highlight>
                <a:sym typeface="+mn-ea"/>
              </a:rPr>
              <a:t>~</a:t>
            </a:r>
            <a:r>
              <a:rPr lang="en-US" altLang="zh-CN" sz="1300" b="1" dirty="0">
                <a:solidFill>
                  <a:schemeClr val="dk1"/>
                </a:solidFill>
                <a:highlight>
                  <a:srgbClr val="FFFFFF"/>
                </a:highlight>
                <a:sym typeface="+mn-ea"/>
              </a:rPr>
              <a:t>30</a:t>
            </a:r>
            <a:r>
              <a:rPr lang="zh-CN" sz="1300" b="1" dirty="0">
                <a:solidFill>
                  <a:schemeClr val="dk1"/>
                </a:solidFill>
                <a:highlight>
                  <a:srgbClr val="FFFFFF"/>
                </a:highlight>
                <a:sym typeface="+mn-ea"/>
              </a:rPr>
              <a:t>%</a:t>
            </a:r>
            <a:endParaRPr lang="zh-CN" sz="1300" b="1" dirty="0">
              <a:solidFill>
                <a:schemeClr val="dk1"/>
              </a:solidFill>
              <a:highlight>
                <a:srgbClr val="FFFFFF"/>
              </a:highlight>
              <a:sym typeface="+mn-ea"/>
            </a:endParaRPr>
          </a:p>
          <a:p>
            <a:pPr marL="457200" lvl="0" indent="-311150" algn="l" rtl="0">
              <a:spcBef>
                <a:spcPts val="0"/>
              </a:spcBef>
              <a:spcAft>
                <a:spcPts val="0"/>
              </a:spcAft>
              <a:buClr>
                <a:schemeClr val="dk1"/>
              </a:buClr>
              <a:buSzPts val="1300"/>
              <a:buChar char="●"/>
            </a:pPr>
            <a:endParaRPr lang="zh-CN" sz="1300" b="1" dirty="0">
              <a:solidFill>
                <a:schemeClr val="dk1"/>
              </a:solidFill>
              <a:highlight>
                <a:srgbClr val="FFFFFF"/>
              </a:highlight>
              <a:sym typeface="+mn-ea"/>
            </a:endParaRPr>
          </a:p>
          <a:p>
            <a:pPr marL="457200" lvl="0" indent="-311150" algn="l" rtl="0">
              <a:spcBef>
                <a:spcPts val="0"/>
              </a:spcBef>
              <a:spcAft>
                <a:spcPts val="0"/>
              </a:spcAft>
              <a:buClr>
                <a:schemeClr val="dk1"/>
              </a:buClr>
              <a:buSzPts val="1300"/>
              <a:buChar char="●"/>
            </a:pPr>
            <a:r>
              <a:rPr lang="zh-CN" sz="1300" dirty="0">
                <a:solidFill>
                  <a:schemeClr val="dk1"/>
                </a:solidFill>
                <a:sym typeface="+mn-ea"/>
              </a:rPr>
              <a:t>Worst-case drop: </a:t>
            </a:r>
            <a:r>
              <a:rPr lang="zh-CN" sz="1300" b="1" dirty="0">
                <a:solidFill>
                  <a:schemeClr val="dk1"/>
                </a:solidFill>
                <a:sym typeface="+mn-ea"/>
              </a:rPr>
              <a:t>up to 92%</a:t>
            </a:r>
            <a:endParaRPr sz="1300" dirty="0">
              <a:solidFill>
                <a:schemeClr val="dk1"/>
              </a:solidFill>
            </a:endParaRPr>
          </a:p>
          <a:p>
            <a:pPr marL="0" lvl="0" indent="0" algn="l" rtl="0">
              <a:spcBef>
                <a:spcPts val="0"/>
              </a:spcBef>
              <a:spcAft>
                <a:spcPts val="0"/>
              </a:spcAft>
              <a:buClr>
                <a:schemeClr val="dk1"/>
              </a:buClr>
              <a:buSzPts val="1100"/>
              <a:buFont typeface="Arial" panose="020B0604020202020204"/>
              <a:buNone/>
            </a:pPr>
            <a:endParaRPr sz="1600" dirty="0">
              <a:solidFill>
                <a:schemeClr val="dk1"/>
              </a:solidFill>
            </a:endParaRPr>
          </a:p>
        </p:txBody>
      </p:sp>
      <p:pic>
        <p:nvPicPr>
          <p:cNvPr id="8" name="Google Shape;223;p31"/>
          <p:cNvPicPr preferRelativeResize="0"/>
          <p:nvPr/>
        </p:nvPicPr>
        <p:blipFill rotWithShape="1">
          <a:blip r:embed="rId2"/>
          <a:srcRect l="21115" t="2693" r="19999" b="24501"/>
          <a:stretch>
            <a:fillRect/>
          </a:stretch>
        </p:blipFill>
        <p:spPr>
          <a:xfrm>
            <a:off x="4863314" y="2489755"/>
            <a:ext cx="4155745" cy="2632200"/>
          </a:xfrm>
          <a:prstGeom prst="rect">
            <a:avLst/>
          </a:prstGeom>
          <a:noFill/>
          <a:ln>
            <a:noFill/>
          </a:ln>
        </p:spPr>
      </p:pic>
      <p:sp>
        <p:nvSpPr>
          <p:cNvPr id="2" name="文本框 1"/>
          <p:cNvSpPr txBox="1"/>
          <p:nvPr/>
        </p:nvSpPr>
        <p:spPr>
          <a:xfrm>
            <a:off x="0" y="2997200"/>
            <a:ext cx="3752850" cy="1599565"/>
          </a:xfrm>
          <a:prstGeom prst="rect">
            <a:avLst/>
          </a:prstGeom>
          <a:noFill/>
        </p:spPr>
        <p:txBody>
          <a:bodyPr wrap="square" rtlCol="0">
            <a:spAutoFit/>
          </a:bodyPr>
          <a:p>
            <a:pPr marL="0" lvl="0" indent="0" algn="l" rtl="0">
              <a:spcBef>
                <a:spcPts val="0"/>
              </a:spcBef>
              <a:spcAft>
                <a:spcPts val="0"/>
              </a:spcAft>
              <a:buClr>
                <a:schemeClr val="dk1"/>
              </a:buClr>
              <a:buSzPts val="1100"/>
              <a:buFont typeface="Arial" panose="020B0604020202020204"/>
              <a:buNone/>
            </a:pPr>
            <a:r>
              <a:rPr lang="zh-CN" dirty="0">
                <a:solidFill>
                  <a:schemeClr val="dk1"/>
                </a:solidFill>
                <a:sym typeface="+mn-ea"/>
              </a:rPr>
              <a:t>Current social bot detection models would</a:t>
            </a:r>
            <a:endParaRPr lang="zh-CN" dirty="0">
              <a:solidFill>
                <a:schemeClr val="dk1"/>
              </a:solidFill>
            </a:endParaRPr>
          </a:p>
          <a:p>
            <a:pPr marL="0" lvl="0" indent="0" algn="l" rtl="0">
              <a:spcBef>
                <a:spcPts val="0"/>
              </a:spcBef>
              <a:spcAft>
                <a:spcPts val="0"/>
              </a:spcAft>
              <a:buClr>
                <a:schemeClr val="dk1"/>
              </a:buClr>
              <a:buSzPts val="1100"/>
              <a:buFont typeface="Arial" panose="020B0604020202020204"/>
              <a:buNone/>
            </a:pPr>
            <a:endParaRPr dirty="0">
              <a:solidFill>
                <a:schemeClr val="dk1"/>
              </a:solidFill>
            </a:endParaRPr>
          </a:p>
          <a:p>
            <a:pPr marL="0" lvl="0" indent="0" algn="l" rtl="0">
              <a:spcBef>
                <a:spcPts val="0"/>
              </a:spcBef>
              <a:spcAft>
                <a:spcPts val="0"/>
              </a:spcAft>
              <a:buClr>
                <a:schemeClr val="dk1"/>
              </a:buClr>
              <a:buSzPts val="1100"/>
              <a:buFont typeface="Arial" panose="020B0604020202020204"/>
              <a:buNone/>
            </a:pPr>
            <a:r>
              <a:rPr lang="zh-CN" dirty="0">
                <a:solidFill>
                  <a:schemeClr val="dk1"/>
                </a:solidFill>
                <a:sym typeface="+mn-ea"/>
              </a:rPr>
              <a:t>→ rely on </a:t>
            </a:r>
            <a:r>
              <a:rPr lang="zh-CN" b="1" dirty="0">
                <a:solidFill>
                  <a:schemeClr val="dk1"/>
                </a:solidFill>
                <a:sym typeface="+mn-ea"/>
              </a:rPr>
              <a:t>shallow, non-causal textual shortcuts</a:t>
            </a:r>
            <a:endParaRPr lang="zh-CN" b="1" dirty="0">
              <a:solidFill>
                <a:schemeClr val="dk1"/>
              </a:solidFill>
            </a:endParaRPr>
          </a:p>
          <a:p>
            <a:pPr marL="0" lvl="0" indent="0" algn="l" rtl="0">
              <a:spcBef>
                <a:spcPts val="0"/>
              </a:spcBef>
              <a:spcAft>
                <a:spcPts val="0"/>
              </a:spcAft>
              <a:buClr>
                <a:schemeClr val="dk1"/>
              </a:buClr>
              <a:buSzPts val="1100"/>
              <a:buFont typeface="Arial" panose="020B0604020202020204"/>
              <a:buNone/>
            </a:pPr>
            <a:endParaRPr b="1" dirty="0">
              <a:solidFill>
                <a:schemeClr val="dk1"/>
              </a:solidFill>
            </a:endParaRPr>
          </a:p>
          <a:p>
            <a:pPr marL="0" lvl="0" indent="0" algn="l" rtl="0">
              <a:spcBef>
                <a:spcPts val="0"/>
              </a:spcBef>
              <a:spcAft>
                <a:spcPts val="0"/>
              </a:spcAft>
              <a:buNone/>
            </a:pPr>
            <a:r>
              <a:rPr lang="zh-CN" dirty="0">
                <a:solidFill>
                  <a:schemeClr val="dk1"/>
                </a:solidFill>
                <a:sym typeface="+mn-ea"/>
              </a:rPr>
              <a:t>→ ignore invariant signals</a:t>
            </a:r>
            <a:endParaRPr dirty="0">
              <a:solidFill>
                <a:schemeClr val="dk1"/>
              </a:solidFill>
            </a:endParaRPr>
          </a:p>
          <a:p>
            <a:endParaRPr lang="zh-CN" altLang="en-US"/>
          </a:p>
        </p:txBody>
      </p:sp>
      <p:pic>
        <p:nvPicPr>
          <p:cNvPr id="4" name="图片 3" descr="下降"/>
          <p:cNvPicPr>
            <a:picLocks noChangeAspect="1"/>
          </p:cNvPicPr>
          <p:nvPr/>
        </p:nvPicPr>
        <p:blipFill>
          <a:blip r:embed="rId3"/>
          <a:stretch>
            <a:fillRect/>
          </a:stretch>
        </p:blipFill>
        <p:spPr>
          <a:xfrm>
            <a:off x="3207385" y="3693160"/>
            <a:ext cx="1450340" cy="14503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6"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dirty="0">
                <a:solidFill>
                  <a:schemeClr val="dk2"/>
                </a:solidFill>
              </a:rPr>
              <a:t>Results</a:t>
            </a:r>
            <a:endParaRPr sz="2200" b="1" dirty="0">
              <a:solidFill>
                <a:schemeClr val="dk2"/>
              </a:solidFill>
            </a:endParaRPr>
          </a:p>
        </p:txBody>
      </p:sp>
      <p:pic>
        <p:nvPicPr>
          <p:cNvPr id="3" name="图片 2" descr="ece_01"/>
          <p:cNvPicPr>
            <a:picLocks noChangeAspect="1"/>
          </p:cNvPicPr>
          <p:nvPr/>
        </p:nvPicPr>
        <p:blipFill>
          <a:blip r:embed="rId1"/>
          <a:stretch>
            <a:fillRect/>
          </a:stretch>
        </p:blipFill>
        <p:spPr>
          <a:xfrm>
            <a:off x="3585845" y="828040"/>
            <a:ext cx="5431790" cy="4030345"/>
          </a:xfrm>
          <a:prstGeom prst="rect">
            <a:avLst/>
          </a:prstGeom>
        </p:spPr>
      </p:pic>
      <p:sp>
        <p:nvSpPr>
          <p:cNvPr id="4" name="文本框 3"/>
          <p:cNvSpPr txBox="1"/>
          <p:nvPr/>
        </p:nvSpPr>
        <p:spPr>
          <a:xfrm>
            <a:off x="-37465" y="582930"/>
            <a:ext cx="3561080" cy="3538220"/>
          </a:xfrm>
          <a:prstGeom prst="rect">
            <a:avLst/>
          </a:prstGeom>
          <a:noFill/>
        </p:spPr>
        <p:txBody>
          <a:bodyPr wrap="square" rtlCol="0">
            <a:spAutoFit/>
          </a:bodyPr>
          <a:p>
            <a:r>
              <a:rPr lang="en-US" altLang="zh-CN" sz="1600" dirty="0">
                <a:solidFill>
                  <a:srgbClr val="333333"/>
                </a:solidFill>
                <a:highlight>
                  <a:srgbClr val="FFFFFF"/>
                </a:highlight>
                <a:sym typeface="+mn-ea"/>
              </a:rPr>
              <a:t>Evaluate the c</a:t>
            </a:r>
            <a:r>
              <a:rPr lang="en-US" altLang="zh-CN" sz="1600">
                <a:highlight>
                  <a:srgbClr val="FFFFFF"/>
                </a:highlight>
                <a:latin typeface="Arial" panose="020B0604020202020204" pitchFamily="34" charset="0"/>
                <a:cs typeface="Arial" panose="020B0604020202020204" pitchFamily="34" charset="0"/>
                <a:sym typeface="+mn-ea"/>
              </a:rPr>
              <a:t>alibration of detectors</a:t>
            </a:r>
            <a:r>
              <a:rPr lang="en-US" altLang="zh-CN" sz="1600">
                <a:latin typeface="Arial" panose="020B0604020202020204" pitchFamily="34" charset="0"/>
                <a:cs typeface="Arial" panose="020B0604020202020204" pitchFamily="34" charset="0"/>
              </a:rPr>
              <a:t> in standard and shortcut settings. </a:t>
            </a:r>
            <a:endParaRPr lang="en-US" altLang="zh-CN" sz="1600">
              <a:latin typeface="Arial" panose="020B0604020202020204" pitchFamily="34" charset="0"/>
              <a:cs typeface="Arial" panose="020B0604020202020204" pitchFamily="34" charset="0"/>
            </a:endParaRPr>
          </a:p>
          <a:p>
            <a:endParaRPr lang="en-US" altLang="zh-CN" sz="1600">
              <a:latin typeface="Arial" panose="020B0604020202020204" pitchFamily="34" charset="0"/>
              <a:cs typeface="Arial" panose="020B0604020202020204" pitchFamily="34" charset="0"/>
            </a:endParaRPr>
          </a:p>
          <a:p>
            <a:r>
              <a:rPr lang="en-US" altLang="zh-CN" sz="1600">
                <a:latin typeface="Arial" panose="020B0604020202020204" pitchFamily="34" charset="0"/>
                <a:cs typeface="Arial" panose="020B0604020202020204" pitchFamily="34" charset="0"/>
              </a:rPr>
              <a:t>The sub-caption "Train xy" indicates that the model is trained under setting x and tested under setting y, where 0 corresponds to the shortcut setting and 1 to the standard setting.</a:t>
            </a:r>
            <a:endParaRPr lang="en-US" altLang="zh-CN" sz="1600">
              <a:latin typeface="Arial" panose="020B0604020202020204" pitchFamily="34" charset="0"/>
              <a:cs typeface="Arial" panose="020B0604020202020204" pitchFamily="34" charset="0"/>
            </a:endParaRPr>
          </a:p>
          <a:p>
            <a:endParaRPr lang="en-US" altLang="zh-CN" sz="1600">
              <a:latin typeface="Arial" panose="020B0604020202020204" pitchFamily="34" charset="0"/>
              <a:cs typeface="Arial" panose="020B0604020202020204" pitchFamily="34" charset="0"/>
            </a:endParaRPr>
          </a:p>
          <a:p>
            <a:r>
              <a:rPr lang="en-US" altLang="zh-CN" sz="1600">
                <a:latin typeface="Arial" panose="020B0604020202020204" pitchFamily="34" charset="0"/>
                <a:cs typeface="Arial" panose="020B0604020202020204" pitchFamily="34" charset="0"/>
              </a:rPr>
              <a:t>The results demonstrate that </a:t>
            </a:r>
            <a:r>
              <a:rPr lang="en-US" altLang="zh-CN" sz="1600" b="1">
                <a:latin typeface="Arial" panose="020B0604020202020204" pitchFamily="34" charset="0"/>
                <a:cs typeface="Arial" panose="020B0604020202020204" pitchFamily="34" charset="0"/>
              </a:rPr>
              <a:t>models trained in the shortcut setting tend to exhibit higher confidence in their predictions, yet suffer from reduced accuracy.</a:t>
            </a:r>
            <a:endParaRPr lang="en-US" altLang="zh-CN" sz="1600" b="1">
              <a:latin typeface="Arial" panose="020B0604020202020204" pitchFamily="34" charset="0"/>
              <a:cs typeface="Arial" panose="020B0604020202020204" pitchFamily="34" charset="0"/>
            </a:endParaRPr>
          </a:p>
        </p:txBody>
      </p:sp>
      <p:sp>
        <p:nvSpPr>
          <p:cNvPr id="5" name="矩形 4"/>
          <p:cNvSpPr/>
          <p:nvPr/>
        </p:nvSpPr>
        <p:spPr>
          <a:xfrm>
            <a:off x="3778250" y="779780"/>
            <a:ext cx="5365750" cy="1624330"/>
          </a:xfrm>
          <a:prstGeom prst="rect">
            <a:avLst/>
          </a:prstGeom>
          <a:noFill/>
          <a:ln>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4163060" y="442595"/>
            <a:ext cx="3048000" cy="337185"/>
          </a:xfrm>
          <a:prstGeom prst="rect">
            <a:avLst/>
          </a:prstGeom>
          <a:noFill/>
        </p:spPr>
        <p:txBody>
          <a:bodyPr wrap="square" rtlCol="0">
            <a:spAutoFit/>
          </a:bodyPr>
          <a:p>
            <a:r>
              <a:rPr lang="en-US" altLang="zh-CN" sz="1600"/>
              <a:t>Shortcut Setting</a:t>
            </a:r>
            <a:endParaRPr lang="en-US" altLang="zh-CN" sz="1600"/>
          </a:p>
        </p:txBody>
      </p:sp>
      <p:sp>
        <p:nvSpPr>
          <p:cNvPr id="8" name="文本框 7"/>
          <p:cNvSpPr txBox="1"/>
          <p:nvPr/>
        </p:nvSpPr>
        <p:spPr>
          <a:xfrm>
            <a:off x="4163060" y="4325620"/>
            <a:ext cx="3048000" cy="337185"/>
          </a:xfrm>
          <a:prstGeom prst="rect">
            <a:avLst/>
          </a:prstGeom>
          <a:noFill/>
        </p:spPr>
        <p:txBody>
          <a:bodyPr wrap="square" rtlCol="0">
            <a:spAutoFit/>
          </a:bodyPr>
          <a:p>
            <a:r>
              <a:rPr lang="en-US" altLang="zh-CN" sz="1600"/>
              <a:t>Standard Setting</a:t>
            </a:r>
            <a:endParaRPr lang="en-US" altLang="zh-CN" sz="1600"/>
          </a:p>
        </p:txBody>
      </p:sp>
      <p:sp>
        <p:nvSpPr>
          <p:cNvPr id="9" name="矩形 8"/>
          <p:cNvSpPr/>
          <p:nvPr/>
        </p:nvSpPr>
        <p:spPr>
          <a:xfrm>
            <a:off x="3778250" y="2404110"/>
            <a:ext cx="5365750" cy="1921510"/>
          </a:xfrm>
          <a:prstGeom prst="rect">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 name="图片 1" descr="缺点"/>
          <p:cNvPicPr>
            <a:picLocks noChangeAspect="1"/>
          </p:cNvPicPr>
          <p:nvPr/>
        </p:nvPicPr>
        <p:blipFill>
          <a:blip r:embed="rId2"/>
          <a:stretch>
            <a:fillRect/>
          </a:stretch>
        </p:blipFill>
        <p:spPr>
          <a:xfrm>
            <a:off x="2825750" y="4194810"/>
            <a:ext cx="952500" cy="952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5"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Mitigation</a:t>
            </a:r>
            <a:endParaRPr sz="2200" b="1" dirty="0">
              <a:solidFill>
                <a:schemeClr val="dk2"/>
              </a:solidFill>
            </a:endParaRPr>
          </a:p>
        </p:txBody>
      </p:sp>
      <p:grpSp>
        <p:nvGrpSpPr>
          <p:cNvPr id="23" name="组合 22"/>
          <p:cNvGrpSpPr/>
          <p:nvPr/>
        </p:nvGrpSpPr>
        <p:grpSpPr>
          <a:xfrm>
            <a:off x="3237865" y="317500"/>
            <a:ext cx="5906135" cy="4768850"/>
            <a:chOff x="5030" y="500"/>
            <a:chExt cx="9370" cy="7510"/>
          </a:xfrm>
        </p:grpSpPr>
        <p:pic>
          <p:nvPicPr>
            <p:cNvPr id="20" name="图片 19" descr="pic3_01"/>
            <p:cNvPicPr>
              <a:picLocks noChangeAspect="1"/>
            </p:cNvPicPr>
            <p:nvPr/>
          </p:nvPicPr>
          <p:blipFill>
            <a:blip r:embed="rId1"/>
            <a:stretch>
              <a:fillRect/>
            </a:stretch>
          </p:blipFill>
          <p:spPr>
            <a:xfrm>
              <a:off x="5030" y="500"/>
              <a:ext cx="9370" cy="5331"/>
            </a:xfrm>
            <a:prstGeom prst="rect">
              <a:avLst/>
            </a:prstGeom>
          </p:spPr>
        </p:pic>
        <p:sp>
          <p:nvSpPr>
            <p:cNvPr id="22" name="文本框 21"/>
            <p:cNvSpPr txBox="1"/>
            <p:nvPr/>
          </p:nvSpPr>
          <p:spPr>
            <a:xfrm>
              <a:off x="5031" y="5831"/>
              <a:ext cx="9369" cy="2179"/>
            </a:xfrm>
            <a:prstGeom prst="rect">
              <a:avLst/>
            </a:prstGeom>
            <a:noFill/>
          </p:spPr>
          <p:txBody>
            <a:bodyPr wrap="square" rtlCol="0">
              <a:spAutoFit/>
            </a:bodyPr>
            <a:p>
              <a:r>
                <a:rPr lang="en-US" altLang="zh-CN" sz="1200">
                  <a:latin typeface="Times New Roman" panose="02020603050405020304" pitchFamily="18" charset="0"/>
                  <a:cs typeface="Times New Roman" panose="02020603050405020304" pitchFamily="18" charset="0"/>
                </a:rPr>
                <a:t>Overview of our shortcut learning mitigation framework. The left side illustrates how LLMs are used to augment data by rewriting text from different attribute perspectives, while preserving the user’s label-related semantics. The right part demonstrates the mitigation process at three levels: balancing the semantic content of individual users’ texts at the user level, balancing feature distributions across classes at the dataset level, and enhancing the feature extractor's ability to capture causal information across different shortcut shifts at the language model embedding level by employing contrastive learning.</a:t>
              </a:r>
              <a:endParaRPr lang="en-US" altLang="zh-CN" sz="1200">
                <a:latin typeface="Times New Roman" panose="02020603050405020304" pitchFamily="18" charset="0"/>
                <a:cs typeface="Times New Roman" panose="02020603050405020304" pitchFamily="18" charset="0"/>
              </a:endParaRPr>
            </a:p>
          </p:txBody>
        </p:sp>
      </p:grpSp>
      <p:sp>
        <p:nvSpPr>
          <p:cNvPr id="24" name="Google Shape;248;p34"/>
          <p:cNvSpPr txBox="1"/>
          <p:nvPr/>
        </p:nvSpPr>
        <p:spPr>
          <a:xfrm>
            <a:off x="-139700" y="922655"/>
            <a:ext cx="3680460" cy="255143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chemeClr val="dk1"/>
              </a:buClr>
              <a:buSzPts val="1400"/>
              <a:buChar char="●"/>
            </a:pPr>
            <a:r>
              <a:rPr lang="zh-CN" b="1">
                <a:solidFill>
                  <a:schemeClr val="dk1"/>
                </a:solidFill>
              </a:rPr>
              <a:t>Counterfactual</a:t>
            </a:r>
            <a:r>
              <a:rPr lang="en-US" altLang="zh-CN" b="1">
                <a:solidFill>
                  <a:schemeClr val="dk1"/>
                </a:solidFill>
              </a:rPr>
              <a:t> data</a:t>
            </a:r>
            <a:r>
              <a:rPr lang="zh-CN" b="1">
                <a:solidFill>
                  <a:schemeClr val="dk1"/>
                </a:solidFill>
              </a:rPr>
              <a:t> augmentation</a:t>
            </a:r>
            <a:r>
              <a:rPr lang="en-US" altLang="zh-CN">
                <a:solidFill>
                  <a:schemeClr val="dk1"/>
                </a:solidFill>
              </a:rPr>
              <a:t> (CDA)</a:t>
            </a:r>
            <a:r>
              <a:rPr lang="zh-CN">
                <a:solidFill>
                  <a:schemeClr val="dk1"/>
                </a:solidFill>
              </a:rPr>
              <a:t>: Rewrite text to alternative attribute features</a:t>
            </a:r>
            <a:br>
              <a:rPr lang="zh-CN">
                <a:solidFill>
                  <a:schemeClr val="dk1"/>
                </a:solidFill>
              </a:rPr>
            </a:br>
            <a:br>
              <a:rPr lang="zh-CN">
                <a:solidFill>
                  <a:schemeClr val="dk1"/>
                </a:solidFill>
              </a:rPr>
            </a:br>
            <a:r>
              <a:rPr lang="zh-CN">
                <a:solidFill>
                  <a:schemeClr val="dk1"/>
                </a:solidFill>
              </a:rPr>
              <a:t>Preserve original </a:t>
            </a:r>
            <a:r>
              <a:rPr lang="zh-CN">
                <a:solidFill>
                  <a:schemeClr val="dk1"/>
                </a:solidFill>
                <a:sym typeface="+mn-ea"/>
              </a:rPr>
              <a:t>labels</a:t>
            </a:r>
            <a:r>
              <a:rPr lang="en-US" altLang="zh-CN">
                <a:solidFill>
                  <a:schemeClr val="dk1"/>
                </a:solidFill>
                <a:sym typeface="+mn-ea"/>
              </a:rPr>
              <a:t> </a:t>
            </a:r>
            <a:r>
              <a:rPr lang="zh-CN">
                <a:solidFill>
                  <a:schemeClr val="dk1"/>
                </a:solidFill>
              </a:rPr>
              <a:t>semantics</a:t>
            </a:r>
            <a:endParaRPr lang="zh-CN" b="1">
              <a:solidFill>
                <a:schemeClr val="dk1"/>
              </a:solidFill>
            </a:endParaRPr>
          </a:p>
          <a:p>
            <a:pPr marL="457200" lvl="0" indent="-317500" algn="l" rtl="0">
              <a:spcBef>
                <a:spcPts val="0"/>
              </a:spcBef>
              <a:spcAft>
                <a:spcPts val="0"/>
              </a:spcAft>
              <a:buClr>
                <a:schemeClr val="dk1"/>
              </a:buClr>
              <a:buSzPts val="1400"/>
              <a:buChar char="●"/>
            </a:pPr>
            <a:endParaRPr>
              <a:solidFill>
                <a:schemeClr val="dk1"/>
              </a:solidFill>
            </a:endParaRPr>
          </a:p>
          <a:p>
            <a:pPr marL="457200" lvl="0" indent="-317500" algn="l" rtl="0">
              <a:spcBef>
                <a:spcPts val="0"/>
              </a:spcBef>
              <a:spcAft>
                <a:spcPts val="0"/>
              </a:spcAft>
              <a:buClr>
                <a:schemeClr val="dk1"/>
              </a:buClr>
              <a:buSzPts val="1400"/>
              <a:buChar char="●"/>
            </a:pPr>
            <a:r>
              <a:rPr lang="zh-CN" b="1">
                <a:solidFill>
                  <a:schemeClr val="dk1"/>
                </a:solidFill>
              </a:rPr>
              <a:t>Reduce shortcut-label correlations</a:t>
            </a:r>
            <a:endParaRPr>
              <a:solidFill>
                <a:schemeClr val="dk1"/>
              </a:solidFill>
            </a:endParaRPr>
          </a:p>
          <a:p>
            <a:pPr marL="914400" lvl="1" indent="-317500" algn="l" rtl="0">
              <a:spcBef>
                <a:spcPts val="0"/>
              </a:spcBef>
              <a:spcAft>
                <a:spcPts val="0"/>
              </a:spcAft>
              <a:buClr>
                <a:schemeClr val="dk1"/>
              </a:buClr>
              <a:buSzPts val="1400"/>
              <a:buChar char="○"/>
            </a:pPr>
            <a:r>
              <a:rPr lang="zh-CN">
                <a:solidFill>
                  <a:schemeClr val="dk1"/>
                </a:solidFill>
              </a:rPr>
              <a:t>Text level</a:t>
            </a:r>
            <a:endParaRPr>
              <a:solidFill>
                <a:schemeClr val="dk1"/>
              </a:solidFill>
            </a:endParaRPr>
          </a:p>
          <a:p>
            <a:pPr marL="914400" lvl="1" indent="-317500" algn="l" rtl="0">
              <a:spcBef>
                <a:spcPts val="0"/>
              </a:spcBef>
              <a:spcAft>
                <a:spcPts val="0"/>
              </a:spcAft>
              <a:buClr>
                <a:schemeClr val="dk1"/>
              </a:buClr>
              <a:buSzPts val="1400"/>
              <a:buChar char="○"/>
            </a:pPr>
            <a:r>
              <a:rPr lang="zh-CN">
                <a:solidFill>
                  <a:schemeClr val="dk1"/>
                </a:solidFill>
              </a:rPr>
              <a:t>Dataset level</a:t>
            </a:r>
            <a:endParaRPr>
              <a:solidFill>
                <a:schemeClr val="dk1"/>
              </a:solidFill>
            </a:endParaRPr>
          </a:p>
          <a:p>
            <a:pPr marL="914400" lvl="1" indent="-317500" algn="l" rtl="0">
              <a:spcBef>
                <a:spcPts val="0"/>
              </a:spcBef>
              <a:spcAft>
                <a:spcPts val="0"/>
              </a:spcAft>
              <a:buClr>
                <a:schemeClr val="dk1"/>
              </a:buClr>
              <a:buSzPts val="1400"/>
              <a:buChar char="○"/>
            </a:pPr>
            <a:r>
              <a:rPr lang="zh-CN">
                <a:solidFill>
                  <a:schemeClr val="dk1"/>
                </a:solidFill>
              </a:rPr>
              <a:t>Model level</a:t>
            </a:r>
            <a:endParaRPr>
              <a:solidFill>
                <a:schemeClr val="dk1"/>
              </a:solidFill>
            </a:endParaRPr>
          </a:p>
          <a:p>
            <a:pPr marL="457200" lvl="0" indent="0" algn="l" rtl="0">
              <a:spcBef>
                <a:spcPts val="0"/>
              </a:spcBef>
              <a:spcAft>
                <a:spcPts val="0"/>
              </a:spcAft>
              <a:buNone/>
            </a:pP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0" y="349250"/>
            <a:ext cx="6069330" cy="3487420"/>
          </a:xfrm>
          <a:prstGeom prst="rect">
            <a:avLst/>
          </a:prstGeom>
        </p:spPr>
      </p:pic>
      <p:sp>
        <p:nvSpPr>
          <p:cNvPr id="2" name="Google Shape;255;p35"/>
          <p:cNvSpPr txBox="1"/>
          <p:nvPr/>
        </p:nvSpPr>
        <p:spPr>
          <a:xfrm>
            <a:off x="5936615" y="1102360"/>
            <a:ext cx="3417570" cy="243459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200"/>
              </a:spcBef>
              <a:spcAft>
                <a:spcPts val="0"/>
              </a:spcAft>
              <a:buNone/>
            </a:pPr>
            <a:r>
              <a:rPr lang="zh-CN" b="1">
                <a:solidFill>
                  <a:schemeClr val="dk1"/>
                </a:solidFill>
              </a:rPr>
              <a:t>Text- and </a:t>
            </a:r>
            <a:r>
              <a:rPr lang="en-US" altLang="zh-CN" b="1">
                <a:solidFill>
                  <a:schemeClr val="dk1"/>
                </a:solidFill>
              </a:rPr>
              <a:t>D</a:t>
            </a:r>
            <a:r>
              <a:rPr lang="zh-CN" b="1">
                <a:solidFill>
                  <a:schemeClr val="dk1"/>
                </a:solidFill>
              </a:rPr>
              <a:t>ataset-level</a:t>
            </a:r>
            <a:br>
              <a:rPr lang="zh-CN">
                <a:solidFill>
                  <a:schemeClr val="dk1"/>
                </a:solidFill>
              </a:rPr>
            </a:b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US" altLang="zh-CN" b="1">
                <a:solidFill>
                  <a:srgbClr val="333333"/>
                </a:solidFill>
                <a:sym typeface="+mn-ea"/>
              </a:rPr>
              <a:t>Mix</a:t>
            </a:r>
            <a:r>
              <a:rPr lang="en-US" altLang="zh-CN">
                <a:solidFill>
                  <a:srgbClr val="333333"/>
                </a:solidFill>
                <a:sym typeface="+mn-ea"/>
              </a:rPr>
              <a:t> original and rewritten posts within each user to balance shortcut features.</a:t>
            </a:r>
            <a:endParaRPr lang="en-US" altLang="zh-CN">
              <a:solidFill>
                <a:srgbClr val="333333"/>
              </a:solidFill>
            </a:endParaRPr>
          </a:p>
          <a:p>
            <a:pPr marL="457200" lvl="0" indent="-317500" algn="l" rtl="0">
              <a:lnSpc>
                <a:spcPct val="115000"/>
              </a:lnSpc>
              <a:spcBef>
                <a:spcPts val="0"/>
              </a:spcBef>
              <a:spcAft>
                <a:spcPts val="0"/>
              </a:spcAft>
              <a:buClr>
                <a:schemeClr val="dk1"/>
              </a:buClr>
              <a:buSzPts val="1400"/>
              <a:buChar char="●"/>
            </a:pP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US" altLang="zh-CN" b="1">
                <a:solidFill>
                  <a:srgbClr val="333333"/>
                </a:solidFill>
                <a:sym typeface="+mn-ea"/>
              </a:rPr>
              <a:t>Select</a:t>
            </a:r>
            <a:r>
              <a:rPr lang="en-US" altLang="zh-CN">
                <a:solidFill>
                  <a:srgbClr val="333333"/>
                </a:solidFill>
                <a:sym typeface="+mn-ea"/>
              </a:rPr>
              <a:t> users with different shortcut-feature distributions to break shortcut correlations.</a:t>
            </a:r>
            <a:endParaRPr lang="en-US" altLang="zh-CN" dirty="0">
              <a:solidFill>
                <a:srgbClr val="333333"/>
              </a:solidFill>
            </a:endParaRPr>
          </a:p>
          <a:p>
            <a:pPr marL="457200" lvl="0" indent="-317500" algn="l" rtl="0">
              <a:lnSpc>
                <a:spcPct val="115000"/>
              </a:lnSpc>
              <a:spcBef>
                <a:spcPts val="0"/>
              </a:spcBef>
              <a:spcAft>
                <a:spcPts val="0"/>
              </a:spcAft>
              <a:buClr>
                <a:schemeClr val="dk1"/>
              </a:buClr>
              <a:buSzPts val="1400"/>
              <a:buChar char="●"/>
            </a:pPr>
            <a:endParaRPr>
              <a:solidFill>
                <a:schemeClr val="dk1"/>
              </a:solidFill>
            </a:endParaRPr>
          </a:p>
        </p:txBody>
      </p:sp>
      <p:sp>
        <p:nvSpPr>
          <p:cNvPr id="22" name="文本框 21"/>
          <p:cNvSpPr txBox="1"/>
          <p:nvPr/>
        </p:nvSpPr>
        <p:spPr>
          <a:xfrm>
            <a:off x="8890" y="3759835"/>
            <a:ext cx="6146165" cy="1383665"/>
          </a:xfrm>
          <a:prstGeom prst="rect">
            <a:avLst/>
          </a:prstGeom>
          <a:noFill/>
        </p:spPr>
        <p:txBody>
          <a:bodyPr wrap="square" rtlCol="0">
            <a:spAutoFit/>
          </a:bodyPr>
          <a:p>
            <a:r>
              <a:rPr lang="en-US" altLang="zh-CN" sz="1200">
                <a:latin typeface="Times New Roman" panose="02020603050405020304" pitchFamily="18" charset="0"/>
                <a:cs typeface="Times New Roman" panose="02020603050405020304" pitchFamily="18" charset="0"/>
              </a:rPr>
              <a:t>Overview of our shortcut learning mitigation framework. The left side illustrates how LLMs are used to augment data by rewriting text from different attribute perspectives, while preserving the user’s label-related semantics. The right part demonstrates the mitigation process at three levels: balancing the semantic content of individual users’ texts at the user level, balancing feature distributions across classes at the dataset level, and enhancing the feature extractor's ability to capture causal information across different shortcut shifts at the language model embedding level by employing contrastive learning.</a:t>
            </a:r>
            <a:endParaRPr lang="en-US" altLang="zh-CN" sz="1200">
              <a:latin typeface="Times New Roman" panose="02020603050405020304" pitchFamily="18" charset="0"/>
              <a:cs typeface="Times New Roman" panose="02020603050405020304" pitchFamily="18" charset="0"/>
            </a:endParaRPr>
          </a:p>
        </p:txBody>
      </p:sp>
      <p:sp>
        <p:nvSpPr>
          <p:cNvPr id="3"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Mitigation</a:t>
            </a:r>
            <a:endParaRPr sz="2200" b="1" dirty="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3" name="Google Shape;263;p36"/>
          <p:cNvPicPr preferRelativeResize="0"/>
          <p:nvPr/>
        </p:nvPicPr>
        <p:blipFill>
          <a:blip r:embed="rId1"/>
          <a:stretch>
            <a:fillRect/>
          </a:stretch>
        </p:blipFill>
        <p:spPr>
          <a:xfrm>
            <a:off x="6116320" y="4173855"/>
            <a:ext cx="3027680" cy="902335"/>
          </a:xfrm>
          <a:prstGeom prst="rect">
            <a:avLst/>
          </a:prstGeom>
          <a:noFill/>
          <a:ln>
            <a:noFill/>
          </a:ln>
        </p:spPr>
      </p:pic>
      <p:pic>
        <p:nvPicPr>
          <p:cNvPr id="264" name="Google Shape;264;p36"/>
          <p:cNvPicPr preferRelativeResize="0"/>
          <p:nvPr/>
        </p:nvPicPr>
        <p:blipFill>
          <a:blip r:embed="rId2"/>
          <a:stretch>
            <a:fillRect/>
          </a:stretch>
        </p:blipFill>
        <p:spPr>
          <a:xfrm>
            <a:off x="6394450" y="3249930"/>
            <a:ext cx="1995805" cy="553085"/>
          </a:xfrm>
          <a:prstGeom prst="rect">
            <a:avLst/>
          </a:prstGeom>
          <a:noFill/>
          <a:ln>
            <a:noFill/>
          </a:ln>
        </p:spPr>
      </p:pic>
      <p:pic>
        <p:nvPicPr>
          <p:cNvPr id="265" name="Google Shape;265;p36"/>
          <p:cNvPicPr preferRelativeResize="0"/>
          <p:nvPr/>
        </p:nvPicPr>
        <p:blipFill>
          <a:blip r:embed="rId3"/>
          <a:stretch>
            <a:fillRect/>
          </a:stretch>
        </p:blipFill>
        <p:spPr>
          <a:xfrm>
            <a:off x="6394450" y="3803015"/>
            <a:ext cx="1743710" cy="370840"/>
          </a:xfrm>
          <a:prstGeom prst="rect">
            <a:avLst/>
          </a:prstGeom>
          <a:noFill/>
          <a:ln>
            <a:noFill/>
          </a:ln>
        </p:spPr>
      </p:pic>
      <p:pic>
        <p:nvPicPr>
          <p:cNvPr id="6" name="图片 5"/>
          <p:cNvPicPr>
            <a:picLocks noChangeAspect="1"/>
          </p:cNvPicPr>
          <p:nvPr/>
        </p:nvPicPr>
        <p:blipFill>
          <a:blip r:embed="rId4"/>
          <a:stretch>
            <a:fillRect/>
          </a:stretch>
        </p:blipFill>
        <p:spPr>
          <a:xfrm>
            <a:off x="8890" y="340360"/>
            <a:ext cx="6069330" cy="3506470"/>
          </a:xfrm>
          <a:prstGeom prst="rect">
            <a:avLst/>
          </a:prstGeom>
        </p:spPr>
      </p:pic>
      <p:sp>
        <p:nvSpPr>
          <p:cNvPr id="4" name="Google Shape;262;p36"/>
          <p:cNvSpPr txBox="1"/>
          <p:nvPr/>
        </p:nvSpPr>
        <p:spPr>
          <a:xfrm>
            <a:off x="5798820" y="0"/>
            <a:ext cx="3304540" cy="246888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0"/>
              </a:spcAft>
              <a:buNone/>
            </a:pPr>
            <a:r>
              <a:rPr lang="zh-CN" b="1">
                <a:solidFill>
                  <a:schemeClr val="dk1"/>
                </a:solidFill>
              </a:rPr>
              <a:t>Model-level intervention</a:t>
            </a:r>
            <a:endParaRPr b="1">
              <a:solidFill>
                <a:schemeClr val="dk1"/>
              </a:solidFill>
            </a:endParaRPr>
          </a:p>
          <a:p>
            <a:pPr marL="457200" lvl="0" indent="-317500" algn="l" rtl="0">
              <a:lnSpc>
                <a:spcPct val="115000"/>
              </a:lnSpc>
              <a:spcBef>
                <a:spcPts val="1200"/>
              </a:spcBef>
              <a:spcAft>
                <a:spcPts val="0"/>
              </a:spcAft>
              <a:buClr>
                <a:schemeClr val="dk1"/>
              </a:buClr>
              <a:buSzPts val="1400"/>
              <a:buChar char="●"/>
            </a:pPr>
            <a:r>
              <a:rPr lang="zh-CN">
                <a:solidFill>
                  <a:schemeClr val="dk1"/>
                </a:solidFill>
              </a:rPr>
              <a:t>Contrastive fine-tuning</a:t>
            </a:r>
            <a:r>
              <a:rPr lang="en-US" altLang="zh-CN">
                <a:solidFill>
                  <a:schemeClr val="dk1"/>
                </a:solidFill>
              </a:rPr>
              <a:t> on </a:t>
            </a:r>
            <a:br>
              <a:rPr lang="en-US" altLang="zh-CN">
                <a:solidFill>
                  <a:schemeClr val="dk1"/>
                </a:solidFill>
              </a:rPr>
            </a:br>
            <a:r>
              <a:rPr lang="en-US" altLang="zh-CN">
                <a:solidFill>
                  <a:schemeClr val="dk1"/>
                </a:solidFill>
              </a:rPr>
              <a:t>text feature extractor</a:t>
            </a:r>
            <a:endParaRPr lang="zh-CN">
              <a:solidFill>
                <a:schemeClr val="dk1"/>
              </a:solidFill>
            </a:endParaRPr>
          </a:p>
          <a:p>
            <a:pPr marL="457200" lvl="0" indent="-317500" algn="l" rtl="0">
              <a:lnSpc>
                <a:spcPct val="115000"/>
              </a:lnSpc>
              <a:spcBef>
                <a:spcPts val="1200"/>
              </a:spcBef>
              <a:spcAft>
                <a:spcPts val="0"/>
              </a:spcAft>
              <a:buClr>
                <a:schemeClr val="dk1"/>
              </a:buClr>
              <a:buSzPts val="1400"/>
              <a:buChar char="●"/>
            </a:pPr>
            <a:r>
              <a:rPr lang="en-US" altLang="zh-CN">
                <a:solidFill>
                  <a:srgbClr val="333333"/>
                </a:solidFill>
                <a:sym typeface="+mn-ea"/>
              </a:rPr>
              <a:t>P</a:t>
            </a:r>
            <a:r>
              <a:rPr lang="zh-CN">
                <a:solidFill>
                  <a:srgbClr val="333333"/>
                </a:solidFill>
                <a:sym typeface="+mn-ea"/>
              </a:rPr>
              <a:t>reserve semantic consistency</a:t>
            </a:r>
            <a:br>
              <a:rPr lang="zh-CN">
                <a:solidFill>
                  <a:schemeClr val="dk1"/>
                </a:solidFill>
              </a:rPr>
            </a:b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en-US" altLang="zh-CN">
                <a:solidFill>
                  <a:schemeClr val="dk1"/>
                </a:solidFill>
              </a:rPr>
              <a:t>Encourage focusing on deep, relevant features while ignoring shallow and irrelevant ones.</a:t>
            </a:r>
            <a:endParaRPr lang="en-US" altLang="zh-CN">
              <a:solidFill>
                <a:schemeClr val="dk1"/>
              </a:solidFill>
            </a:endParaRPr>
          </a:p>
        </p:txBody>
      </p:sp>
      <p:sp>
        <p:nvSpPr>
          <p:cNvPr id="22" name="文本框 21"/>
          <p:cNvSpPr txBox="1"/>
          <p:nvPr/>
        </p:nvSpPr>
        <p:spPr>
          <a:xfrm>
            <a:off x="8890" y="3759835"/>
            <a:ext cx="6146165" cy="1383665"/>
          </a:xfrm>
          <a:prstGeom prst="rect">
            <a:avLst/>
          </a:prstGeom>
          <a:noFill/>
        </p:spPr>
        <p:txBody>
          <a:bodyPr wrap="square" rtlCol="0">
            <a:spAutoFit/>
          </a:bodyPr>
          <a:p>
            <a:r>
              <a:rPr lang="en-US" altLang="zh-CN" sz="1200">
                <a:latin typeface="Times New Roman" panose="02020603050405020304" pitchFamily="18" charset="0"/>
                <a:cs typeface="Times New Roman" panose="02020603050405020304" pitchFamily="18" charset="0"/>
              </a:rPr>
              <a:t>Overview of our shortcut learning mitigation framework. The left side illustrates how LLMs are used to augment data by rewriting text from different attribute perspectives, while preserving the user’s label-related semantics. The right part demonstrates the mitigation process at three levels: balancing the semantic content of individual users’ texts at the user level, balancing feature distributions across classes at the dataset level, and enhancing the feature extractor's ability to capture causal information across different shortcut shifts at the language model embedding level by employing contrastive learning.</a:t>
            </a:r>
            <a:endParaRPr lang="en-US" altLang="zh-CN" sz="1200">
              <a:latin typeface="Times New Roman" panose="02020603050405020304" pitchFamily="18" charset="0"/>
              <a:cs typeface="Times New Roman" panose="02020603050405020304" pitchFamily="18" charset="0"/>
            </a:endParaRPr>
          </a:p>
        </p:txBody>
      </p:sp>
      <p:sp>
        <p:nvSpPr>
          <p:cNvPr id="10"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Mitigation</a:t>
            </a:r>
            <a:endParaRPr sz="2200" b="1" dirty="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1" name="Google Shape;271;p37"/>
          <p:cNvPicPr preferRelativeResize="0"/>
          <p:nvPr/>
        </p:nvPicPr>
        <p:blipFill>
          <a:blip r:embed="rId1"/>
          <a:stretch>
            <a:fillRect/>
          </a:stretch>
        </p:blipFill>
        <p:spPr>
          <a:xfrm>
            <a:off x="129525" y="718125"/>
            <a:ext cx="6387850" cy="4230299"/>
          </a:xfrm>
          <a:prstGeom prst="rect">
            <a:avLst/>
          </a:prstGeom>
          <a:noFill/>
          <a:ln>
            <a:noFill/>
          </a:ln>
        </p:spPr>
      </p:pic>
      <p:sp>
        <p:nvSpPr>
          <p:cNvPr id="272" name="Google Shape;272;p37"/>
          <p:cNvSpPr txBox="1"/>
          <p:nvPr/>
        </p:nvSpPr>
        <p:spPr>
          <a:xfrm>
            <a:off x="6517375" y="718125"/>
            <a:ext cx="2626500" cy="1974215"/>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0"/>
              </a:spcAft>
              <a:buNone/>
            </a:pPr>
            <a:r>
              <a:rPr lang="zh-CN">
                <a:solidFill>
                  <a:schemeClr val="dk1"/>
                </a:solidFill>
              </a:rPr>
              <a:t>Performance gains</a:t>
            </a:r>
            <a:endParaRPr>
              <a:solidFill>
                <a:schemeClr val="dk1"/>
              </a:solidFill>
            </a:endParaRPr>
          </a:p>
          <a:p>
            <a:pPr marL="457200" lvl="0" indent="-317500" algn="l" rtl="0">
              <a:lnSpc>
                <a:spcPct val="115000"/>
              </a:lnSpc>
              <a:spcBef>
                <a:spcPts val="1200"/>
              </a:spcBef>
              <a:spcAft>
                <a:spcPts val="0"/>
              </a:spcAft>
              <a:buClr>
                <a:schemeClr val="dk1"/>
              </a:buClr>
              <a:buSzPts val="1400"/>
              <a:buChar char="●"/>
            </a:pPr>
            <a:r>
              <a:rPr lang="zh-CN">
                <a:solidFill>
                  <a:schemeClr val="dk1"/>
                </a:solidFill>
              </a:rPr>
              <a:t>Text models: +59% (relative average)</a:t>
            </a:r>
            <a:endParaRPr lang="zh-CN">
              <a:solidFill>
                <a:schemeClr val="dk1"/>
              </a:solidFill>
            </a:endParaRPr>
          </a:p>
          <a:p>
            <a:pPr marL="457200" lvl="0" indent="-317500" algn="l" rtl="0">
              <a:lnSpc>
                <a:spcPct val="115000"/>
              </a:lnSpc>
              <a:spcBef>
                <a:spcPts val="1200"/>
              </a:spcBef>
              <a:spcAft>
                <a:spcPts val="0"/>
              </a:spcAft>
              <a:buClr>
                <a:schemeClr val="dk1"/>
              </a:buClr>
              <a:buSzPts val="1400"/>
              <a:buChar char="●"/>
            </a:pPr>
            <a:endParaRPr>
              <a:solidFill>
                <a:schemeClr val="dk1"/>
              </a:solidFill>
            </a:endParaRPr>
          </a:p>
          <a:p>
            <a:pPr marL="457200" lvl="0" indent="-317500" algn="l" rtl="0">
              <a:lnSpc>
                <a:spcPct val="115000"/>
              </a:lnSpc>
              <a:spcBef>
                <a:spcPts val="0"/>
              </a:spcBef>
              <a:spcAft>
                <a:spcPts val="0"/>
              </a:spcAft>
              <a:buClr>
                <a:schemeClr val="dk1"/>
              </a:buClr>
              <a:buSzPts val="1400"/>
              <a:buChar char="●"/>
            </a:pPr>
            <a:r>
              <a:rPr lang="zh-CN">
                <a:solidFill>
                  <a:schemeClr val="dk1"/>
                </a:solidFill>
              </a:rPr>
              <a:t>Graph models: +53% (relative average)</a:t>
            </a:r>
            <a:endParaRPr>
              <a:solidFill>
                <a:schemeClr val="dk1"/>
              </a:solidFill>
            </a:endParaRPr>
          </a:p>
        </p:txBody>
      </p:sp>
      <p:sp>
        <p:nvSpPr>
          <p:cNvPr id="5"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Mitigation Results</a:t>
            </a:r>
            <a:endParaRPr sz="2200" b="1" dirty="0">
              <a:solidFill>
                <a:schemeClr val="dk2"/>
              </a:solidFill>
            </a:endParaRPr>
          </a:p>
        </p:txBody>
      </p:sp>
      <p:pic>
        <p:nvPicPr>
          <p:cNvPr id="2" name="图片 1" descr="arrow"/>
          <p:cNvPicPr>
            <a:picLocks noChangeAspect="1"/>
          </p:cNvPicPr>
          <p:nvPr/>
        </p:nvPicPr>
        <p:blipFill>
          <a:blip r:embed="rId2"/>
          <a:stretch>
            <a:fillRect/>
          </a:stretch>
        </p:blipFill>
        <p:spPr>
          <a:xfrm>
            <a:off x="7162165" y="3234690"/>
            <a:ext cx="1362710" cy="13627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5"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Mitigation Results</a:t>
            </a:r>
            <a:endParaRPr sz="2200" b="1" dirty="0">
              <a:solidFill>
                <a:schemeClr val="dk2"/>
              </a:solidFill>
            </a:endParaRPr>
          </a:p>
        </p:txBody>
      </p:sp>
      <p:pic>
        <p:nvPicPr>
          <p:cNvPr id="3" name="图片 2" descr="sim_01"/>
          <p:cNvPicPr>
            <a:picLocks noChangeAspect="1"/>
          </p:cNvPicPr>
          <p:nvPr/>
        </p:nvPicPr>
        <p:blipFill>
          <a:blip r:embed="rId1"/>
          <a:stretch>
            <a:fillRect/>
          </a:stretch>
        </p:blipFill>
        <p:spPr>
          <a:xfrm>
            <a:off x="3754120" y="0"/>
            <a:ext cx="5389880" cy="3912235"/>
          </a:xfrm>
          <a:prstGeom prst="rect">
            <a:avLst/>
          </a:prstGeom>
        </p:spPr>
      </p:pic>
      <p:pic>
        <p:nvPicPr>
          <p:cNvPr id="7" name="图片 6" descr="屏幕截图 2026-01-01 020901"/>
          <p:cNvPicPr>
            <a:picLocks noChangeAspect="1"/>
          </p:cNvPicPr>
          <p:nvPr/>
        </p:nvPicPr>
        <p:blipFill>
          <a:blip r:embed="rId2"/>
          <a:stretch>
            <a:fillRect/>
          </a:stretch>
        </p:blipFill>
        <p:spPr>
          <a:xfrm>
            <a:off x="68580" y="3695065"/>
            <a:ext cx="5253990" cy="1419860"/>
          </a:xfrm>
          <a:prstGeom prst="rect">
            <a:avLst/>
          </a:prstGeom>
        </p:spPr>
      </p:pic>
      <p:sp>
        <p:nvSpPr>
          <p:cNvPr id="8" name="文本框 7"/>
          <p:cNvSpPr txBox="1"/>
          <p:nvPr/>
        </p:nvSpPr>
        <p:spPr>
          <a:xfrm>
            <a:off x="8890" y="755650"/>
            <a:ext cx="2865120" cy="645160"/>
          </a:xfrm>
          <a:prstGeom prst="rect">
            <a:avLst/>
          </a:prstGeom>
          <a:noFill/>
        </p:spPr>
        <p:txBody>
          <a:bodyPr wrap="square" rtlCol="0">
            <a:spAutoFit/>
          </a:bodyPr>
          <a:p>
            <a:r>
              <a:rPr lang="en-US" altLang="zh-CN" sz="1800" b="1"/>
              <a:t>The Appropriateness of Mitigation Strategies</a:t>
            </a:r>
            <a:endParaRPr lang="en-US" altLang="zh-CN" sz="1800" b="1"/>
          </a:p>
        </p:txBody>
      </p:sp>
      <p:pic>
        <p:nvPicPr>
          <p:cNvPr id="10" name="图片 9" descr="合理的客服分配 (1)"/>
          <p:cNvPicPr>
            <a:picLocks noChangeAspect="1"/>
          </p:cNvPicPr>
          <p:nvPr/>
        </p:nvPicPr>
        <p:blipFill>
          <a:blip r:embed="rId3"/>
          <a:stretch>
            <a:fillRect/>
          </a:stretch>
        </p:blipFill>
        <p:spPr>
          <a:xfrm>
            <a:off x="625475" y="1905000"/>
            <a:ext cx="1268730" cy="12687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5" name="Google Shape;81;p15"/>
          <p:cNvSpPr txBox="1"/>
          <p:nvPr/>
        </p:nvSpPr>
        <p:spPr>
          <a:xfrm>
            <a:off x="8975" y="-2250"/>
            <a:ext cx="2814000" cy="511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zh-CN" sz="2200" b="1" dirty="0">
                <a:solidFill>
                  <a:schemeClr val="dk2"/>
                </a:solidFill>
              </a:rPr>
              <a:t>Summary</a:t>
            </a:r>
            <a:endParaRPr sz="2200" b="1" dirty="0">
              <a:solidFill>
                <a:schemeClr val="dk2"/>
              </a:solidFill>
            </a:endParaRPr>
          </a:p>
        </p:txBody>
      </p:sp>
      <p:grpSp>
        <p:nvGrpSpPr>
          <p:cNvPr id="4" name="组合 3"/>
          <p:cNvGrpSpPr/>
          <p:nvPr>
            <p:custDataLst>
              <p:tags r:id="rId1"/>
            </p:custDataLst>
          </p:nvPr>
        </p:nvGrpSpPr>
        <p:grpSpPr>
          <a:xfrm>
            <a:off x="333375" y="3474085"/>
            <a:ext cx="4329430" cy="1344295"/>
            <a:chOff x="-843" y="3693"/>
            <a:chExt cx="11009" cy="4338"/>
          </a:xfrm>
        </p:grpSpPr>
        <p:sp>
          <p:nvSpPr>
            <p:cNvPr id="3" name="矩形 2"/>
            <p:cNvSpPr/>
            <p:nvPr>
              <p:custDataLst>
                <p:tags r:id="rId2"/>
              </p:custDataLst>
            </p:nvPr>
          </p:nvSpPr>
          <p:spPr>
            <a:xfrm>
              <a:off x="-843" y="6931"/>
              <a:ext cx="3129" cy="103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        Paper</a:t>
              </a:r>
              <a:endParaRPr lang="en-US" altLang="zh-CN" sz="1200" dirty="0">
                <a:solidFill>
                  <a:schemeClr val="tx1"/>
                </a:solidFill>
              </a:endParaRPr>
            </a:p>
          </p:txBody>
        </p:sp>
        <p:sp>
          <p:nvSpPr>
            <p:cNvPr id="6" name="矩形 5"/>
            <p:cNvSpPr/>
            <p:nvPr>
              <p:custDataLst>
                <p:tags r:id="rId3"/>
              </p:custDataLst>
            </p:nvPr>
          </p:nvSpPr>
          <p:spPr>
            <a:xfrm>
              <a:off x="6896" y="6993"/>
              <a:ext cx="3269" cy="103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tx1"/>
                  </a:solidFill>
                </a:rPr>
                <a:t>        Github</a:t>
              </a:r>
              <a:endParaRPr lang="en-US" altLang="zh-CN" sz="1200" dirty="0" err="1">
                <a:solidFill>
                  <a:schemeClr val="tx1"/>
                </a:solidFill>
              </a:endParaRPr>
            </a:p>
          </p:txBody>
        </p:sp>
        <p:pic>
          <p:nvPicPr>
            <p:cNvPr id="7" name="图片 6" descr="屏幕截图 2025-11-22 165559"/>
            <p:cNvPicPr/>
            <p:nvPr>
              <p:custDataLst>
                <p:tags r:id="rId4"/>
              </p:custDataLst>
            </p:nvPr>
          </p:nvPicPr>
          <p:blipFill>
            <a:blip r:embed="rId5"/>
            <a:stretch>
              <a:fillRect/>
            </a:stretch>
          </p:blipFill>
          <p:spPr>
            <a:xfrm>
              <a:off x="-843" y="3693"/>
              <a:ext cx="3129" cy="3129"/>
            </a:xfrm>
            <a:prstGeom prst="rect">
              <a:avLst/>
            </a:prstGeom>
          </p:spPr>
        </p:pic>
        <p:pic>
          <p:nvPicPr>
            <p:cNvPr id="10" name="图片 9"/>
            <p:cNvPicPr/>
            <p:nvPr>
              <p:custDataLst>
                <p:tags r:id="rId6"/>
              </p:custDataLst>
            </p:nvPr>
          </p:nvPicPr>
          <p:blipFill>
            <a:blip r:embed="rId7"/>
            <a:stretch>
              <a:fillRect/>
            </a:stretch>
          </p:blipFill>
          <p:spPr>
            <a:xfrm>
              <a:off x="6896" y="3693"/>
              <a:ext cx="3270" cy="3270"/>
            </a:xfrm>
            <a:prstGeom prst="rect">
              <a:avLst/>
            </a:prstGeom>
          </p:spPr>
        </p:pic>
      </p:grpSp>
      <p:sp>
        <p:nvSpPr>
          <p:cNvPr id="12" name="文本框 11"/>
          <p:cNvSpPr txBox="1"/>
          <p:nvPr/>
        </p:nvSpPr>
        <p:spPr>
          <a:xfrm>
            <a:off x="0" y="680720"/>
            <a:ext cx="3557270" cy="1562735"/>
          </a:xfrm>
          <a:prstGeom prst="rect">
            <a:avLst/>
          </a:prstGeom>
          <a:noFill/>
        </p:spPr>
        <p:txBody>
          <a:bodyPr wrap="square" rtlCol="0">
            <a:noAutofit/>
          </a:bodyPr>
          <a:p>
            <a:pPr marL="0" lvl="0" indent="0" algn="l" rtl="0">
              <a:spcBef>
                <a:spcPts val="0"/>
              </a:spcBef>
              <a:spcAft>
                <a:spcPts val="0"/>
              </a:spcAft>
              <a:buNone/>
            </a:pPr>
            <a:r>
              <a:rPr lang="en-US" altLang="zh-CN" sz="1600">
                <a:sym typeface="+mn-ea"/>
              </a:rPr>
              <a:t>T</a:t>
            </a:r>
            <a:r>
              <a:rPr lang="zh-CN" sz="1600">
                <a:sym typeface="+mn-ea"/>
              </a:rPr>
              <a:t>his work identifies shortcut learning as a challenge in social bot detection and</a:t>
            </a:r>
            <a:r>
              <a:rPr lang="en-US" altLang="zh-CN" sz="1600">
                <a:sym typeface="+mn-ea"/>
              </a:rPr>
              <a:t> </a:t>
            </a:r>
            <a:r>
              <a:rPr lang="zh-CN" sz="1600">
                <a:sym typeface="+mn-ea"/>
              </a:rPr>
              <a:t>demonstrates that LLM-based counterfactual data augmentation provides a practical and effective mitigation strategy</a:t>
            </a:r>
            <a:r>
              <a:rPr lang="en-US" altLang="zh-CN" sz="1600">
                <a:sym typeface="+mn-ea"/>
              </a:rPr>
              <a:t>.</a:t>
            </a:r>
            <a:endParaRPr lang="zh-CN"/>
          </a:p>
          <a:p>
            <a:endParaRPr lang="zh-CN" altLang="en-US"/>
          </a:p>
        </p:txBody>
      </p:sp>
      <p:pic>
        <p:nvPicPr>
          <p:cNvPr id="279" name="Google Shape;279;p38"/>
          <p:cNvPicPr preferRelativeResize="0"/>
          <p:nvPr/>
        </p:nvPicPr>
        <p:blipFill>
          <a:blip r:embed="rId8"/>
          <a:stretch>
            <a:fillRect/>
          </a:stretch>
        </p:blipFill>
        <p:spPr>
          <a:xfrm>
            <a:off x="4291965" y="0"/>
            <a:ext cx="1970405" cy="2712720"/>
          </a:xfrm>
          <a:prstGeom prst="rect">
            <a:avLst/>
          </a:prstGeom>
          <a:noFill/>
          <a:ln>
            <a:noFill/>
          </a:ln>
        </p:spPr>
      </p:pic>
      <p:pic>
        <p:nvPicPr>
          <p:cNvPr id="280" name="Google Shape;280;p38"/>
          <p:cNvPicPr preferRelativeResize="0"/>
          <p:nvPr/>
        </p:nvPicPr>
        <p:blipFill>
          <a:blip r:embed="rId9"/>
          <a:stretch>
            <a:fillRect/>
          </a:stretch>
        </p:blipFill>
        <p:spPr>
          <a:xfrm>
            <a:off x="6261735" y="0"/>
            <a:ext cx="2882265" cy="3474720"/>
          </a:xfrm>
          <a:prstGeom prst="rect">
            <a:avLst/>
          </a:prstGeom>
          <a:noFill/>
          <a:ln>
            <a:noFill/>
          </a:ln>
        </p:spPr>
      </p:pic>
      <p:pic>
        <p:nvPicPr>
          <p:cNvPr id="2" name="图片 1" descr="发表论文"/>
          <p:cNvPicPr>
            <a:picLocks noChangeAspect="1"/>
          </p:cNvPicPr>
          <p:nvPr/>
        </p:nvPicPr>
        <p:blipFill>
          <a:blip r:embed="rId10"/>
          <a:stretch>
            <a:fillRect/>
          </a:stretch>
        </p:blipFill>
        <p:spPr>
          <a:xfrm>
            <a:off x="443865" y="4477385"/>
            <a:ext cx="333375" cy="333375"/>
          </a:xfrm>
          <a:prstGeom prst="rect">
            <a:avLst/>
          </a:prstGeom>
        </p:spPr>
      </p:pic>
      <p:pic>
        <p:nvPicPr>
          <p:cNvPr id="8" name="图片 7" descr="github"/>
          <p:cNvPicPr>
            <a:picLocks noChangeAspect="1"/>
          </p:cNvPicPr>
          <p:nvPr/>
        </p:nvPicPr>
        <p:blipFill>
          <a:blip r:embed="rId11"/>
          <a:stretch>
            <a:fillRect/>
          </a:stretch>
        </p:blipFill>
        <p:spPr>
          <a:xfrm>
            <a:off x="3522345" y="4513580"/>
            <a:ext cx="304800" cy="304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36900" y="744575"/>
            <a:ext cx="8826300" cy="1131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zh-CN" sz="3140" dirty="0">
                <a:latin typeface="Times New Roman" panose="02020603050405020304"/>
                <a:ea typeface="Times New Roman" panose="02020603050405020304"/>
                <a:cs typeface="Times New Roman" panose="02020603050405020304"/>
                <a:sym typeface="Times New Roman" panose="02020603050405020304"/>
              </a:rPr>
              <a:t>Bot Meets Shortcut: How </a:t>
            </a:r>
            <a:r>
              <a:rPr lang="zh-CN" sz="3140" dirty="0">
                <a:solidFill>
                  <a:srgbClr val="1F2328"/>
                </a:solidFill>
                <a:latin typeface="Times New Roman" panose="02020603050405020304"/>
                <a:ea typeface="Times New Roman" panose="02020603050405020304"/>
                <a:cs typeface="Times New Roman" panose="02020603050405020304"/>
                <a:sym typeface="Times New Roman" panose="02020603050405020304"/>
              </a:rPr>
              <a:t>Can LLMs Aid in Handling Unknown Invariance OOD Scenarios?</a:t>
            </a:r>
            <a:endParaRPr lang="zh-CN" sz="3140" dirty="0">
              <a:solidFill>
                <a:srgbClr val="1F2328"/>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5" name="Google Shape;55;p13"/>
          <p:cNvSpPr txBox="1">
            <a:spLocks noGrp="1"/>
          </p:cNvSpPr>
          <p:nvPr>
            <p:ph type="subTitle" idx="1"/>
          </p:nvPr>
        </p:nvSpPr>
        <p:spPr>
          <a:xfrm>
            <a:off x="289560" y="1915160"/>
            <a:ext cx="8520430" cy="1946275"/>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zh-CN" sz="2260" dirty="0">
                <a:latin typeface="Times New Roman" panose="02020603050405020304"/>
                <a:ea typeface="Times New Roman" panose="02020603050405020304"/>
                <a:cs typeface="Times New Roman" panose="02020603050405020304"/>
                <a:sym typeface="Times New Roman" panose="02020603050405020304"/>
              </a:rPr>
              <a:t>Shiyan Zheng, Herun Wan, Minnan Luo</a:t>
            </a:r>
            <a:r>
              <a:rPr lang="zh-CN" altLang="en-US" sz="2260" baseline="30000" dirty="0">
                <a:latin typeface="Times New Roman" panose="02020603050405020304"/>
                <a:ea typeface="Times New Roman" panose="02020603050405020304"/>
                <a:cs typeface="Times New Roman" panose="02020603050405020304"/>
                <a:sym typeface="Times New Roman" panose="02020603050405020304"/>
              </a:rPr>
              <a:t>📧</a:t>
            </a:r>
            <a:r>
              <a:rPr lang="zh-CN" sz="2260" dirty="0">
                <a:latin typeface="Times New Roman" panose="02020603050405020304"/>
                <a:ea typeface="Times New Roman" panose="02020603050405020304"/>
                <a:cs typeface="Times New Roman" panose="02020603050405020304"/>
                <a:sym typeface="Times New Roman" panose="02020603050405020304"/>
              </a:rPr>
              <a:t>, Junhang Huang</a:t>
            </a:r>
            <a:endParaRPr sz="2260" baseline="300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endParaRPr lang="en-US" sz="36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None/>
            </a:pPr>
            <a:r>
              <a:rPr lang="en-US" sz="2400" dirty="0">
                <a:latin typeface="Times New Roman" panose="02020603050405020304"/>
                <a:ea typeface="Times New Roman" panose="02020603050405020304"/>
                <a:cs typeface="Times New Roman" panose="02020603050405020304"/>
                <a:sym typeface="Times New Roman" panose="02020603050405020304"/>
              </a:rPr>
              <a:t>Thank you for </a:t>
            </a:r>
            <a:r>
              <a:rPr lang="en-US" sz="2400" dirty="0">
                <a:latin typeface="Times New Roman" panose="02020603050405020304"/>
                <a:ea typeface="Times New Roman" panose="02020603050405020304"/>
                <a:cs typeface="Times New Roman" panose="02020603050405020304"/>
                <a:sym typeface="Times New Roman" panose="02020603050405020304"/>
              </a:rPr>
              <a:t>your interest!</a:t>
            </a:r>
            <a:endParaRPr lang="en-US" sz="2400" dirty="0">
              <a:latin typeface="Times New Roman" panose="02020603050405020304"/>
              <a:ea typeface="Times New Roman" panose="02020603050405020304"/>
              <a:cs typeface="Times New Roman" panose="02020603050405020304"/>
              <a:sym typeface="Times New Roman" panose="02020603050405020304"/>
            </a:endParaRPr>
          </a:p>
        </p:txBody>
      </p:sp>
      <p:pic>
        <p:nvPicPr>
          <p:cNvPr id="62" name="Google Shape;62;p13"/>
          <p:cNvPicPr preferRelativeResize="0"/>
          <p:nvPr/>
        </p:nvPicPr>
        <p:blipFill>
          <a:blip r:embed="rId1"/>
          <a:stretch>
            <a:fillRect/>
          </a:stretch>
        </p:blipFill>
        <p:spPr>
          <a:xfrm>
            <a:off x="342694" y="3902616"/>
            <a:ext cx="8458611" cy="912770"/>
          </a:xfrm>
          <a:prstGeom prst="rect">
            <a:avLst/>
          </a:prstGeom>
          <a:noFill/>
          <a:ln>
            <a:noFill/>
          </a:ln>
        </p:spPr>
      </p:pic>
      <p:pic>
        <p:nvPicPr>
          <p:cNvPr id="3" name="图片 2"/>
          <p:cNvPicPr>
            <a:picLocks noChangeAspect="1"/>
          </p:cNvPicPr>
          <p:nvPr/>
        </p:nvPicPr>
        <p:blipFill>
          <a:blip r:embed="rId2"/>
          <a:stretch>
            <a:fillRect/>
          </a:stretch>
        </p:blipFill>
        <p:spPr>
          <a:xfrm>
            <a:off x="0" y="0"/>
            <a:ext cx="1202901" cy="763842"/>
          </a:xfrm>
          <a:prstGeom prst="rect">
            <a:avLst/>
          </a:prstGeom>
        </p:spPr>
      </p:pic>
      <p:grpSp>
        <p:nvGrpSpPr>
          <p:cNvPr id="4" name="组合 3"/>
          <p:cNvGrpSpPr/>
          <p:nvPr>
            <p:custDataLst>
              <p:tags r:id="rId3"/>
            </p:custDataLst>
          </p:nvPr>
        </p:nvGrpSpPr>
        <p:grpSpPr>
          <a:xfrm>
            <a:off x="1598216" y="2654300"/>
            <a:ext cx="5902404" cy="1097280"/>
            <a:chOff x="-9874" y="3693"/>
            <a:chExt cx="20040" cy="4338"/>
          </a:xfrm>
        </p:grpSpPr>
        <p:sp>
          <p:nvSpPr>
            <p:cNvPr id="8" name="矩形 7"/>
            <p:cNvSpPr/>
            <p:nvPr>
              <p:custDataLst>
                <p:tags r:id="rId4"/>
              </p:custDataLst>
            </p:nvPr>
          </p:nvSpPr>
          <p:spPr>
            <a:xfrm>
              <a:off x="-9874" y="6931"/>
              <a:ext cx="3129" cy="103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      Paper</a:t>
              </a:r>
              <a:endParaRPr lang="en-US" altLang="zh-CN" sz="1200" dirty="0">
                <a:solidFill>
                  <a:schemeClr val="tx1"/>
                </a:solidFill>
              </a:endParaRPr>
            </a:p>
          </p:txBody>
        </p:sp>
        <p:sp>
          <p:nvSpPr>
            <p:cNvPr id="9" name="矩形 8"/>
            <p:cNvSpPr/>
            <p:nvPr>
              <p:custDataLst>
                <p:tags r:id="rId5"/>
              </p:custDataLst>
            </p:nvPr>
          </p:nvSpPr>
          <p:spPr>
            <a:xfrm>
              <a:off x="6896" y="6993"/>
              <a:ext cx="3269" cy="103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err="1">
                  <a:solidFill>
                    <a:schemeClr val="tx1"/>
                  </a:solidFill>
                </a:rPr>
                <a:t>       Github</a:t>
              </a:r>
              <a:endParaRPr lang="en-US" altLang="zh-CN" sz="1200" dirty="0" err="1">
                <a:solidFill>
                  <a:schemeClr val="tx1"/>
                </a:solidFill>
              </a:endParaRPr>
            </a:p>
          </p:txBody>
        </p:sp>
        <p:pic>
          <p:nvPicPr>
            <p:cNvPr id="71" name="图片 70" descr="屏幕截图 2025-11-22 165559"/>
            <p:cNvPicPr/>
            <p:nvPr>
              <p:custDataLst>
                <p:tags r:id="rId6"/>
              </p:custDataLst>
            </p:nvPr>
          </p:nvPicPr>
          <p:blipFill>
            <a:blip r:embed="rId7"/>
            <a:stretch>
              <a:fillRect/>
            </a:stretch>
          </p:blipFill>
          <p:spPr>
            <a:xfrm>
              <a:off x="-9874" y="3693"/>
              <a:ext cx="3129" cy="3129"/>
            </a:xfrm>
            <a:prstGeom prst="rect">
              <a:avLst/>
            </a:prstGeom>
          </p:spPr>
        </p:pic>
        <p:pic>
          <p:nvPicPr>
            <p:cNvPr id="11" name="图片 10"/>
            <p:cNvPicPr/>
            <p:nvPr>
              <p:custDataLst>
                <p:tags r:id="rId8"/>
              </p:custDataLst>
            </p:nvPr>
          </p:nvPicPr>
          <p:blipFill>
            <a:blip r:embed="rId9"/>
            <a:stretch>
              <a:fillRect/>
            </a:stretch>
          </p:blipFill>
          <p:spPr>
            <a:xfrm>
              <a:off x="6896" y="3693"/>
              <a:ext cx="3270" cy="3270"/>
            </a:xfrm>
            <a:prstGeom prst="rect">
              <a:avLst/>
            </a:prstGeom>
          </p:spPr>
        </p:pic>
      </p:grpSp>
      <p:pic>
        <p:nvPicPr>
          <p:cNvPr id="2" name="图片 1" descr="github"/>
          <p:cNvPicPr>
            <a:picLocks noChangeAspect="1"/>
          </p:cNvPicPr>
          <p:nvPr/>
        </p:nvPicPr>
        <p:blipFill>
          <a:blip r:embed="rId10"/>
          <a:stretch>
            <a:fillRect/>
          </a:stretch>
        </p:blipFill>
        <p:spPr>
          <a:xfrm>
            <a:off x="6581140" y="3473450"/>
            <a:ext cx="304800" cy="304800"/>
          </a:xfrm>
          <a:prstGeom prst="rect">
            <a:avLst/>
          </a:prstGeom>
        </p:spPr>
      </p:pic>
      <p:pic>
        <p:nvPicPr>
          <p:cNvPr id="5" name="图片 4" descr="发表论文"/>
          <p:cNvPicPr>
            <a:picLocks noChangeAspect="1"/>
          </p:cNvPicPr>
          <p:nvPr/>
        </p:nvPicPr>
        <p:blipFill>
          <a:blip r:embed="rId11"/>
          <a:stretch>
            <a:fillRect/>
          </a:stretch>
        </p:blipFill>
        <p:spPr>
          <a:xfrm>
            <a:off x="1598295" y="3444875"/>
            <a:ext cx="333375" cy="33337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19.65,&quot;left&quot;:26.25,&quot;top&quot;:181.9,&quot;width&quot;:556.3}"/>
</p:tagLst>
</file>

<file path=ppt/tags/tag2.xml><?xml version="1.0" encoding="utf-8"?>
<p:tagLst xmlns:p="http://schemas.openxmlformats.org/presentationml/2006/main">
  <p:tag name="KSO_WM_DIAGRAM_VIRTUALLY_FRAME" val="{&quot;height&quot;:219.65,&quot;left&quot;:26.25,&quot;top&quot;:181.9,&quot;width&quot;:556.3}"/>
</p:tagLst>
</file>

<file path=ppt/tags/tag3.xml><?xml version="1.0" encoding="utf-8"?>
<p:tagLst xmlns:p="http://schemas.openxmlformats.org/presentationml/2006/main">
  <p:tag name="KSO_WM_DIAGRAM_VIRTUALLY_FRAME" val="{&quot;height&quot;:219.65,&quot;left&quot;:26.25,&quot;top&quot;:181.9,&quot;width&quot;:556.3}"/>
</p:tagLst>
</file>

<file path=ppt/tags/tag4.xml><?xml version="1.0" encoding="utf-8"?>
<p:tagLst xmlns:p="http://schemas.openxmlformats.org/presentationml/2006/main">
  <p:tag name="KSO_WM_DIAGRAM_VIRTUALLY_FRAME" val="{&quot;height&quot;:219.65,&quot;left&quot;:26.25,&quot;top&quot;:181.9,&quot;width&quot;:556.3}"/>
</p:tagLst>
</file>

<file path=ppt/tags/tag5.xml><?xml version="1.0" encoding="utf-8"?>
<p:tagLst xmlns:p="http://schemas.openxmlformats.org/presentationml/2006/main">
  <p:tag name="KSO_WM_DIAGRAM_VIRTUALLY_FRAME" val="{&quot;height&quot;:219.65,&quot;left&quot;:26.25,&quot;top&quot;:181.9,&quot;width&quot;:556.3}"/>
</p:tagLst>
</file>

<file path=ppt/tags/tag6.xml><?xml version="1.0" encoding="utf-8"?>
<p:tagLst xmlns:p="http://schemas.openxmlformats.org/presentationml/2006/main">
  <p:tag name="KSO_WM_DIAGRAM_VIRTUALLY_FRAME" val="{&quot;height&quot;:216.9,&quot;left&quot;:95.44378801042663,&quot;top&quot;:184.65,&quot;width&quot;:501.50621198957396}"/>
</p:tagLst>
</file>

<file path=ppt/tags/tag7.xml><?xml version="1.0" encoding="utf-8"?>
<p:tagLst xmlns:p="http://schemas.openxmlformats.org/presentationml/2006/main">
  <p:tag name="KSO_WM_DIAGRAM_VIRTUALLY_FRAME" val="{&quot;height&quot;:216.9,&quot;left&quot;:95.44378801042663,&quot;top&quot;:184.65,&quot;width&quot;:501.50621198957396}"/>
</p:tagLst>
</file>

<file path=ppt/tags/tag8.xml><?xml version="1.0" encoding="utf-8"?>
<p:tagLst xmlns:p="http://schemas.openxmlformats.org/presentationml/2006/main">
  <p:tag name="KSO_WM_DIAGRAM_VIRTUALLY_FRAME" val="{&quot;height&quot;:216.9,&quot;left&quot;:95.44378801042663,&quot;top&quot;:184.65,&quot;width&quot;:501.50621198957396}"/>
</p:tagLst>
</file>

<file path=ppt/tags/tag9.xml><?xml version="1.0" encoding="utf-8"?>
<p:tagLst xmlns:p="http://schemas.openxmlformats.org/presentationml/2006/main">
  <p:tag name="KSO_WM_DIAGRAM_VIRTUALLY_FRAME" val="{&quot;height&quot;:216.9,&quot;left&quot;:95.44378801042663,&quot;top&quot;:184.65,&quot;width&quot;:501.50621198957396}"/>
</p:tagLst>
</file>

<file path=ppt/tags/tag10.xml><?xml version="1.0" encoding="utf-8"?>
<p:tagLst xmlns:p="http://schemas.openxmlformats.org/presentationml/2006/main">
  <p:tag name="KSO_WM_DIAGRAM_VIRTUALLY_FRAME" val="{&quot;height&quot;:216.9,&quot;left&quot;:95.44378801042663,&quot;top&quot;:184.65,&quot;width&quot;:501.50621198957396}"/>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7824</Words>
  <Application>WPS 演示</Application>
  <PresentationFormat>全屏显示(16:9)</PresentationFormat>
  <Paragraphs>262</Paragraphs>
  <Slides>23</Slides>
  <Notes>17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23</vt:i4>
      </vt:variant>
    </vt:vector>
  </HeadingPairs>
  <TitlesOfParts>
    <vt:vector size="35" baseType="lpstr">
      <vt:lpstr>Arial</vt:lpstr>
      <vt:lpstr>宋体</vt:lpstr>
      <vt:lpstr>Wingdings</vt:lpstr>
      <vt:lpstr>Arial</vt:lpstr>
      <vt:lpstr>Times New Roman</vt:lpstr>
      <vt:lpstr>Times New Roman</vt:lpstr>
      <vt:lpstr>Open Sans</vt:lpstr>
      <vt:lpstr>Segoe Print</vt:lpstr>
      <vt:lpstr>微软雅黑</vt:lpstr>
      <vt:lpstr>Arial Unicode MS</vt:lpstr>
      <vt:lpstr>Cambria Math</vt:lpstr>
      <vt:lpstr>Simple Light</vt:lpstr>
      <vt:lpstr>Bot Meets Shortcut: How Can LLMs Aid in Handling Unknown Invariance OOD Scenarios?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Bot Meets Shortcut: How Can LLMs Aid in Handling Unknown Invariance OOD Scenarios?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Bot Meets Shortcut: How Can LLMs Aid in Handling Unknown Invariance OOD Scenarios?</dc:title>
  <dc:creator>万和润</dc:creator>
  <cp:lastModifiedBy>WPS_1656573681</cp:lastModifiedBy>
  <cp:revision>387</cp:revision>
  <dcterms:created xsi:type="dcterms:W3CDTF">2025-12-29T12:01:00Z</dcterms:created>
  <dcterms:modified xsi:type="dcterms:W3CDTF">2026-10-27T03:00:31Z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99ED3A8B3DEA4769B538247027F4DA2C_13</vt:lpwstr>
  </property>
</Properties>
</file>